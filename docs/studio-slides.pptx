
<file path=[Content_Types].xml><?xml version="1.0" encoding="utf-8"?>
<Types xmlns="http://schemas.openxmlformats.org/package/2006/content-types">
  <Default Extension="emf" ContentType="image/x-emf"/>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26.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16" r:id="rId4"/>
    <p:sldMasterId id="2147483839" r:id="rId5"/>
  </p:sldMasterIdLst>
  <p:notesMasterIdLst>
    <p:notesMasterId r:id="rId19"/>
  </p:notesMasterIdLst>
  <p:handoutMasterIdLst>
    <p:handoutMasterId r:id="rId20"/>
  </p:handout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Anova Bold" panose="020B0604020202020204" charset="0"/>
      <p:regular r:id="rId21"/>
      <p:bold r:id="rId22"/>
      <p:italic r:id="rId23"/>
      <p:boldItalic r:id="rId24"/>
    </p:embeddedFont>
    <p:embeddedFont>
      <p:font typeface="Anova Light" panose="020B0604020202020204" charset="0"/>
      <p:regular r:id="rId25"/>
      <p:bold r:id="rId26"/>
      <p:italic r:id="rId27"/>
      <p:boldItalic r:id="rId28"/>
    </p:embeddedFont>
    <p:embeddedFont>
      <p:font typeface="Consolas" panose="020B0609020204030204" pitchFamily="49" charset="0"/>
      <p:regular r:id="rId29"/>
      <p:bold r:id="rId30"/>
      <p:italic r:id="rId31"/>
      <p:boldItalic r:id="rId32"/>
    </p:embeddedFont>
  </p:embeddedFontLst>
  <p:custDataLst>
    <p:tags r:id="rId33"/>
  </p:custDataLst>
  <p:defaultTextStyle>
    <a:defPPr>
      <a:defRPr lang="en-US"/>
    </a:defPPr>
    <a:lvl1pPr marL="0" algn="l" defTabSz="914400" rtl="0" eaLnBrk="1" latinLnBrk="0" hangingPunct="1">
      <a:defRPr sz="3600" kern="1200">
        <a:solidFill>
          <a:schemeClr val="tx1"/>
        </a:solidFill>
        <a:latin typeface="+mn-lt"/>
        <a:ea typeface="+mn-ea"/>
        <a:cs typeface="+mn-cs"/>
      </a:defRPr>
    </a:lvl1pPr>
    <a:lvl2pPr marL="914400" algn="l" defTabSz="914400" rtl="0" eaLnBrk="1" latinLnBrk="0" hangingPunct="1">
      <a:defRPr sz="3600" kern="1200">
        <a:solidFill>
          <a:schemeClr val="tx1"/>
        </a:solidFill>
        <a:latin typeface="+mn-lt"/>
        <a:ea typeface="+mn-ea"/>
        <a:cs typeface="+mn-cs"/>
      </a:defRPr>
    </a:lvl2pPr>
    <a:lvl3pPr marL="1828800" algn="l" defTabSz="914400" rtl="0" eaLnBrk="1" latinLnBrk="0" hangingPunct="1">
      <a:defRPr sz="3600" kern="1200">
        <a:solidFill>
          <a:schemeClr val="tx1"/>
        </a:solidFill>
        <a:latin typeface="+mn-lt"/>
        <a:ea typeface="+mn-ea"/>
        <a:cs typeface="+mn-cs"/>
      </a:defRPr>
    </a:lvl3pPr>
    <a:lvl4pPr marL="2743200" algn="l" defTabSz="914400" rtl="0" eaLnBrk="1" latinLnBrk="0" hangingPunct="1">
      <a:defRPr sz="3600" kern="1200">
        <a:solidFill>
          <a:schemeClr val="tx1"/>
        </a:solidFill>
        <a:latin typeface="+mn-lt"/>
        <a:ea typeface="+mn-ea"/>
        <a:cs typeface="+mn-cs"/>
      </a:defRPr>
    </a:lvl4pPr>
    <a:lvl5pPr marL="3657600" algn="l" defTabSz="914400" rtl="0" eaLnBrk="1" latinLnBrk="0" hangingPunct="1">
      <a:defRPr sz="3600" kern="1200">
        <a:solidFill>
          <a:schemeClr val="tx1"/>
        </a:solidFill>
        <a:latin typeface="+mn-lt"/>
        <a:ea typeface="+mn-ea"/>
        <a:cs typeface="+mn-cs"/>
      </a:defRPr>
    </a:lvl5pPr>
    <a:lvl6pPr marL="4572000" algn="l" defTabSz="914400" rtl="0" eaLnBrk="1" latinLnBrk="0" hangingPunct="1">
      <a:defRPr sz="3600" kern="1200">
        <a:solidFill>
          <a:schemeClr val="tx1"/>
        </a:solidFill>
        <a:latin typeface="+mn-lt"/>
        <a:ea typeface="+mn-ea"/>
        <a:cs typeface="+mn-cs"/>
      </a:defRPr>
    </a:lvl6pPr>
    <a:lvl7pPr marL="5486400" algn="l" defTabSz="914400" rtl="0" eaLnBrk="1" latinLnBrk="0" hangingPunct="1">
      <a:defRPr sz="3600" kern="1200">
        <a:solidFill>
          <a:schemeClr val="tx1"/>
        </a:solidFill>
        <a:latin typeface="+mn-lt"/>
        <a:ea typeface="+mn-ea"/>
        <a:cs typeface="+mn-cs"/>
      </a:defRPr>
    </a:lvl7pPr>
    <a:lvl8pPr marL="6400800" algn="l" defTabSz="914400" rtl="0" eaLnBrk="1" latinLnBrk="0" hangingPunct="1">
      <a:defRPr sz="3600" kern="1200">
        <a:solidFill>
          <a:schemeClr val="tx1"/>
        </a:solidFill>
        <a:latin typeface="+mn-lt"/>
        <a:ea typeface="+mn-ea"/>
        <a:cs typeface="+mn-cs"/>
      </a:defRPr>
    </a:lvl8pPr>
    <a:lvl9pPr marL="7315200" algn="l" defTabSz="914400"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Usage Instructions" id="{23B92DC1-C143-40B4-B271-9B765ADE1D33}">
          <p14:sldIdLst>
            <p14:sldId id="256"/>
            <p14:sldId id="257"/>
            <p14:sldId id="258"/>
            <p14:sldId id="259"/>
            <p14:sldId id="260"/>
            <p14:sldId id="261"/>
            <p14:sldId id="262"/>
            <p14:sldId id="263"/>
            <p14:sldId id="264"/>
            <p14:sldId id="265"/>
            <p14:sldId id="266"/>
            <p14:sldId id="267"/>
            <p14:sldId id="268"/>
          </p14:sldIdLst>
        </p14:section>
        <p14:section name="Default Section" id="{E9C3829F-2C56-4915-AA34-5F93EE35922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708D14-BD54-920F-18BB-8395E60AE589}" name="Alice McClure" initials="AM" userId="S::alice.mcclure@sas.com::6210c489-566a-4639-8da1-84bcfd842f43" providerId="AD"/>
  <p188:author id="{6DFEA739-C4EE-3CDE-94E6-A95954A908DE}" name="Tine Haaber" initials="TH" userId="S::Tine.Haaber@SAS.COM::b28dffea-6139-4081-9090-e82e8f8437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247" autoAdjust="0"/>
  </p:normalViewPr>
  <p:slideViewPr>
    <p:cSldViewPr snapToGrid="0">
      <p:cViewPr varScale="1">
        <p:scale>
          <a:sx n="74" d="100"/>
          <a:sy n="74" d="100"/>
        </p:scale>
        <p:origin x="570" y="8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1" d="100"/>
          <a:sy n="81" d="100"/>
        </p:scale>
        <p:origin x="2784"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5.fntdata"/><Relationship Id="rId33" Type="http://schemas.openxmlformats.org/officeDocument/2006/relationships/tags" Target="tags/tag1.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handoutMaster" Target="handoutMasters/handoutMaster1.xml"/><Relationship Id="rId29"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notesMaster" Target="notesMasters/notesMaster1.xml"/><Relationship Id="rId31"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tags" Target="../tags/tag26.xml"/><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01A56FA-0DF4-15B7-A216-DB01CF5CEB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CE34E3-7E5C-436A-9E6D-2FFC8FFCFCBF}" type="datetimeFigureOut">
              <a:rPr lang="en-US" smtClean="0">
                <a:latin typeface="Anova Light" panose="020B0403020203020204" pitchFamily="34" charset="0"/>
              </a:rPr>
              <a:t>10/24/2026</a:t>
            </a:fld>
            <a:endParaRPr lang="en-US" dirty="0">
              <a:latin typeface="Anova Light" panose="020B0403020203020204" pitchFamily="34" charset="0"/>
            </a:endParaRPr>
          </a:p>
        </p:txBody>
      </p:sp>
      <p:sp>
        <p:nvSpPr>
          <p:cNvPr id="5" name="Slide Number Placeholder 4">
            <a:extLst>
              <a:ext uri="{FF2B5EF4-FFF2-40B4-BE49-F238E27FC236}">
                <a16:creationId xmlns:a16="http://schemas.microsoft.com/office/drawing/2014/main" id="{BA52EC1A-046B-DC8F-4AAC-4BB03667CCC0}"/>
              </a:ext>
            </a:extLst>
          </p:cNvPr>
          <p:cNvSpPr>
            <a:spLocks noGrp="1"/>
          </p:cNvSpPr>
          <p:nvPr>
            <p:ph type="sldNum" sz="quarter" idx="3"/>
          </p:nvPr>
        </p:nvSpPr>
        <p:spPr>
          <a:xfrm>
            <a:off x="0" y="0"/>
            <a:ext cx="2971800" cy="458787"/>
          </a:xfrm>
          <a:prstGeom prst="rect">
            <a:avLst/>
          </a:prstGeom>
        </p:spPr>
        <p:txBody>
          <a:bodyPr vert="horz" lIns="91440" tIns="45720" rIns="91440" bIns="45720" rtlCol="0" anchor="b"/>
          <a:lstStyle>
            <a:lvl1pPr algn="r">
              <a:defRPr sz="1200"/>
            </a:lvl1pPr>
          </a:lstStyle>
          <a:p>
            <a:pPr algn="l"/>
            <a:fld id="{C4EF46A2-9381-4C51-8277-3C7F2938E9F9}" type="slidenum">
              <a:rPr lang="en-US" smtClean="0">
                <a:latin typeface="Anova Light" panose="020B0403020203020204" pitchFamily="34" charset="0"/>
              </a:rPr>
              <a:pPr algn="l"/>
              <a:t>‹#›</a:t>
            </a:fld>
            <a:endParaRPr lang="en-US" dirty="0">
              <a:latin typeface="Anova Light" panose="020B0403020203020204" pitchFamily="34" charset="0"/>
            </a:endParaRPr>
          </a:p>
        </p:txBody>
      </p:sp>
      <p:sp>
        <p:nvSpPr>
          <p:cNvPr id="2" name="TextBox 4">
            <a:extLst>
              <a:ext uri="{FF2B5EF4-FFF2-40B4-BE49-F238E27FC236}">
                <a16:creationId xmlns:a16="http://schemas.microsoft.com/office/drawing/2014/main" id="{7A8A3785-BF0E-6C8B-8B7B-0521D7696A29}"/>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dirty="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4" name="Picture 6">
            <a:extLst>
              <a:ext uri="{FF2B5EF4-FFF2-40B4-BE49-F238E27FC236}">
                <a16:creationId xmlns:a16="http://schemas.microsoft.com/office/drawing/2014/main" id="{3F6C63C1-B02C-0586-DDA1-7B0EB003F6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DEF6B2A-6211-F846-C47F-DC10CAA8C891}"/>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dirty="0">
                <a:solidFill>
                  <a:schemeClr val="accent4"/>
                </a:solidFill>
                <a:latin typeface="Anova Light" panose="020B0403020203020204" pitchFamily="34" charset="0"/>
              </a:rPr>
              <a:t>sas.com</a:t>
            </a:r>
          </a:p>
        </p:txBody>
      </p:sp>
    </p:spTree>
    <p:custDataLst>
      <p:tags r:id="rId2"/>
    </p:custDataLst>
    <p:extLst>
      <p:ext uri="{BB962C8B-B14F-4D97-AF65-F5344CB8AC3E}">
        <p14:creationId xmlns:p14="http://schemas.microsoft.com/office/powerpoint/2010/main" val="262689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solidFill>
                  <a:schemeClr val="tx1"/>
                </a:solidFill>
                <a:latin typeface="Anova Light" panose="020B0403020203020204" pitchFamily="34" charset="0"/>
              </a:defRPr>
            </a:lvl1pPr>
          </a:lstStyle>
          <a:p>
            <a:fld id="{D46682E9-A1D3-F04F-A14F-ABAA4D2618F2}" type="datetimeFigureOut">
              <a:rPr lang="en-US" smtClean="0"/>
              <a:pPr/>
              <a:t>10/24/2026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Box 4">
            <a:extLst>
              <a:ext uri="{FF2B5EF4-FFF2-40B4-BE49-F238E27FC236}">
                <a16:creationId xmlns:a16="http://schemas.microsoft.com/office/drawing/2014/main" id="{CFAEC8D7-15A6-6F9F-E0B7-CB248431A52A}"/>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dirty="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10" name="Slide Number Placeholder 4">
            <a:extLst>
              <a:ext uri="{FF2B5EF4-FFF2-40B4-BE49-F238E27FC236}">
                <a16:creationId xmlns:a16="http://schemas.microsoft.com/office/drawing/2014/main" id="{9DE3AD8C-AE96-943C-8DAF-3D5594863A36}"/>
              </a:ext>
            </a:extLst>
          </p:cNvPr>
          <p:cNvSpPr>
            <a:spLocks noGrp="1"/>
          </p:cNvSpPr>
          <p:nvPr>
            <p:ph type="sldNum" sz="quarter" idx="5"/>
          </p:nvPr>
        </p:nvSpPr>
        <p:spPr>
          <a:xfrm>
            <a:off x="0" y="0"/>
            <a:ext cx="2971800" cy="458787"/>
          </a:xfrm>
          <a:prstGeom prst="rect">
            <a:avLst/>
          </a:prstGeom>
        </p:spPr>
        <p:txBody>
          <a:bodyPr vert="horz" lIns="91440" tIns="45720" rIns="91440" bIns="45720" rtlCol="0" anchor="b"/>
          <a:lstStyle>
            <a:lvl1pPr algn="r">
              <a:defRPr sz="1200" b="0" i="0">
                <a:solidFill>
                  <a:schemeClr val="tx1"/>
                </a:solidFill>
                <a:latin typeface="Anova Light" panose="020B0403020203020204" pitchFamily="34" charset="0"/>
              </a:defRPr>
            </a:lvl1pPr>
          </a:lstStyle>
          <a:p>
            <a:pPr algn="l"/>
            <a:fld id="{C4EF46A2-9381-4C51-8277-3C7F2938E9F9}" type="slidenum">
              <a:rPr lang="en-US" smtClean="0"/>
              <a:pPr algn="l"/>
              <a:t>‹#›</a:t>
            </a:fld>
            <a:endParaRPr lang="en-US" dirty="0"/>
          </a:p>
        </p:txBody>
      </p:sp>
      <p:pic>
        <p:nvPicPr>
          <p:cNvPr id="2" name="Picture 6">
            <a:extLst>
              <a:ext uri="{FF2B5EF4-FFF2-40B4-BE49-F238E27FC236}">
                <a16:creationId xmlns:a16="http://schemas.microsoft.com/office/drawing/2014/main" id="{D7A2D390-EEAD-C632-F276-85D15BA57F0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607DE50-086C-7432-5C71-ADF401D86D53}"/>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dirty="0">
                <a:solidFill>
                  <a:schemeClr val="tx1"/>
                </a:solidFill>
                <a:latin typeface="Anova Light" panose="020B0403020203020204" pitchFamily="34" charset="0"/>
              </a:rPr>
              <a:t>sas.com</a:t>
            </a:r>
          </a:p>
        </p:txBody>
      </p:sp>
    </p:spTree>
    <p:extLst>
      <p:ext uri="{BB962C8B-B14F-4D97-AF65-F5344CB8AC3E}">
        <p14:creationId xmlns:p14="http://schemas.microsoft.com/office/powerpoint/2010/main" val="3625376775"/>
      </p:ext>
    </p:extLst>
  </p:cSld>
  <p:clrMap bg1="lt1" tx1="dk1" bg2="lt2" tx2="dk2" accent1="accent1" accent2="accent2" accent3="accent3" accent4="accent4" accent5="accent5" accent6="accent6" hlink="hlink" folHlink="folHlink"/>
  <p:notesStyle>
    <a:lvl1pPr marL="3429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12573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21717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30861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40005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with the one sentence: everything you need to work with SAS SpeedyStore is in one window, and the assistant sits inside it instead of in a separate chat.</a:t>
            </a:r>
          </a:p>
        </p:txBody>
      </p:sp>
      <p:sp>
        <p:nvSpPr>
          <p:cNvPr id="4" name="Slide Number Placeholder 3"/>
          <p:cNvSpPr>
            <a:spLocks noGrp="1"/>
          </p:cNvSpPr>
          <p:nvPr>
            <p:ph type="sldNum" sz="quarter" idx="5"/>
          </p:nvPr>
        </p:nvSpPr>
        <p:spPr/>
        <p:txBody>
          <a:bodyPr/>
          <a:lstStyle/>
          <a:p>
            <a:pPr algn="l"/>
            <a:fld id="{C4EF46A2-9381-4C51-8277-3C7F2938E9F9}" type="slidenum">
              <a:rPr lang="en-US" smtClean="0"/>
              <a:pPr algn="l"/>
              <a:t>1</a:t>
            </a:fld>
            <a:endParaRPr lang="en-US" dirty="0"/>
          </a:p>
        </p:txBody>
      </p:sp>
    </p:spTree>
    <p:extLst>
      <p:ext uri="{BB962C8B-B14F-4D97-AF65-F5344CB8AC3E}">
        <p14:creationId xmlns:p14="http://schemas.microsoft.com/office/powerpoint/2010/main" val="1289976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Ask the room how many windows they have open for a normal day with SpeedyStore and Viya. Five is a conservative count.</a:t>
            </a:r>
          </a:p>
        </p:txBody>
      </p:sp>
      <p:sp>
        <p:nvSpPr>
          <p:cNvPr id="4" name="Slide Number Placeholder 3"/>
          <p:cNvSpPr>
            <a:spLocks noGrp="1"/>
          </p:cNvSpPr>
          <p:nvPr>
            <p:ph type="sldNum" sz="quarter" idx="5"/>
          </p:nvPr>
        </p:nvSpPr>
        <p:spPr/>
        <p:txBody>
          <a:bodyPr/>
          <a:lstStyle/>
          <a:p>
            <a:pPr algn="l"/>
            <a:fld id="{C4EF46A2-9381-4C51-8277-3C7F2938E9F9}" type="slidenum">
              <a:rPr lang="en-US" smtClean="0"/>
              <a:pPr algn="l"/>
              <a:t>2</a:t>
            </a:fld>
            <a:endParaRPr lang="en-US" dirty="0"/>
          </a:p>
        </p:txBody>
      </p:sp>
    </p:spTree>
    <p:extLst>
      <p:ext uri="{BB962C8B-B14F-4D97-AF65-F5344CB8AC3E}">
        <p14:creationId xmlns:p14="http://schemas.microsoft.com/office/powerpoint/2010/main" val="17175805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Three things to point at: the rail on the left, the assistant panel inside the window, and the two systems on the right. MCP is how one assistant reaches both, with tools that are read-only by default.</a:t>
            </a:r>
          </a:p>
        </p:txBody>
      </p:sp>
      <p:sp>
        <p:nvSpPr>
          <p:cNvPr id="4" name="Slide Number Placeholder 3"/>
          <p:cNvSpPr>
            <a:spLocks noGrp="1"/>
          </p:cNvSpPr>
          <p:nvPr>
            <p:ph type="sldNum" sz="quarter" idx="5"/>
          </p:nvPr>
        </p:nvSpPr>
        <p:spPr/>
        <p:txBody>
          <a:bodyPr/>
          <a:lstStyle/>
          <a:p>
            <a:pPr algn="l"/>
            <a:fld id="{C4EF46A2-9381-4C51-8277-3C7F2938E9F9}" type="slidenum">
              <a:rPr lang="en-US" smtClean="0"/>
              <a:pPr algn="l"/>
              <a:t>3</a:t>
            </a:fld>
            <a:endParaRPr lang="en-US" dirty="0"/>
          </a:p>
        </p:txBody>
      </p:sp>
    </p:spTree>
    <p:extLst>
      <p:ext uri="{BB962C8B-B14F-4D97-AF65-F5344CB8AC3E}">
        <p14:creationId xmlns:p14="http://schemas.microsoft.com/office/powerpoint/2010/main" val="2582096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pushdown tab is the demo moment for SAS people: they see which part of their PROC SQL SingleStore executed.</a:t>
            </a:r>
          </a:p>
        </p:txBody>
      </p:sp>
      <p:sp>
        <p:nvSpPr>
          <p:cNvPr id="4" name="Slide Number Placeholder 3"/>
          <p:cNvSpPr>
            <a:spLocks noGrp="1"/>
          </p:cNvSpPr>
          <p:nvPr>
            <p:ph type="sldNum" sz="quarter" idx="5"/>
          </p:nvPr>
        </p:nvSpPr>
        <p:spPr/>
        <p:txBody>
          <a:bodyPr/>
          <a:lstStyle/>
          <a:p>
            <a:pPr algn="l"/>
            <a:fld id="{C4EF46A2-9381-4C51-8277-3C7F2938E9F9}" type="slidenum">
              <a:rPr lang="en-US" smtClean="0"/>
              <a:pPr algn="l"/>
              <a:t>4</a:t>
            </a:fld>
            <a:endParaRPr lang="en-US" dirty="0"/>
          </a:p>
        </p:txBody>
      </p:sp>
    </p:spTree>
    <p:extLst>
      <p:ext uri="{BB962C8B-B14F-4D97-AF65-F5344CB8AC3E}">
        <p14:creationId xmlns:p14="http://schemas.microsoft.com/office/powerpoint/2010/main" val="4170378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point for SAS Viya: the data never leaves the database for a local copy. SAS reads SingleStore itself through the S2 library, and CAS pushes queries down.</a:t>
            </a:r>
          </a:p>
        </p:txBody>
      </p:sp>
      <p:sp>
        <p:nvSpPr>
          <p:cNvPr id="4" name="Slide Number Placeholder 3"/>
          <p:cNvSpPr>
            <a:spLocks noGrp="1"/>
          </p:cNvSpPr>
          <p:nvPr>
            <p:ph type="sldNum" sz="quarter" idx="5"/>
          </p:nvPr>
        </p:nvSpPr>
        <p:spPr/>
        <p:txBody>
          <a:bodyPr/>
          <a:lstStyle/>
          <a:p>
            <a:pPr algn="l"/>
            <a:fld id="{C4EF46A2-9381-4C51-8277-3C7F2938E9F9}" type="slidenum">
              <a:rPr lang="en-US" smtClean="0"/>
              <a:pPr algn="l"/>
              <a:t>5</a:t>
            </a:fld>
            <a:endParaRPr lang="en-US" dirty="0"/>
          </a:p>
        </p:txBody>
      </p:sp>
    </p:spTree>
    <p:extLst>
      <p:ext uri="{BB962C8B-B14F-4D97-AF65-F5344CB8AC3E}">
        <p14:creationId xmlns:p14="http://schemas.microsoft.com/office/powerpoint/2010/main" val="598755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takeaway slide for 'AI belongs where you work'. The assistant runs through your own Claude login, with no API key, and it is read-only by design.</a:t>
            </a:r>
          </a:p>
        </p:txBody>
      </p:sp>
      <p:sp>
        <p:nvSpPr>
          <p:cNvPr id="4" name="Slide Number Placeholder 3"/>
          <p:cNvSpPr>
            <a:spLocks noGrp="1"/>
          </p:cNvSpPr>
          <p:nvPr>
            <p:ph type="sldNum" sz="quarter" idx="5"/>
          </p:nvPr>
        </p:nvSpPr>
        <p:spPr/>
        <p:txBody>
          <a:bodyPr/>
          <a:lstStyle/>
          <a:p>
            <a:pPr algn="l"/>
            <a:fld id="{C4EF46A2-9381-4C51-8277-3C7F2938E9F9}" type="slidenum">
              <a:rPr lang="en-US" smtClean="0"/>
              <a:pPr algn="l"/>
              <a:t>6</a:t>
            </a:fld>
            <a:endParaRPr lang="en-US" dirty="0"/>
          </a:p>
        </p:txBody>
      </p:sp>
    </p:spTree>
    <p:extLst>
      <p:ext uri="{BB962C8B-B14F-4D97-AF65-F5344CB8AC3E}">
        <p14:creationId xmlns:p14="http://schemas.microsoft.com/office/powerpoint/2010/main" val="27519938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Don't read the table. Pick two rows for the audience in the room: Schema and Pipelines for engineers, History and Security for DBAs.</a:t>
            </a:r>
          </a:p>
        </p:txBody>
      </p:sp>
      <p:sp>
        <p:nvSpPr>
          <p:cNvPr id="4" name="Slide Number Placeholder 3"/>
          <p:cNvSpPr>
            <a:spLocks noGrp="1"/>
          </p:cNvSpPr>
          <p:nvPr>
            <p:ph type="sldNum" sz="quarter" idx="5"/>
          </p:nvPr>
        </p:nvSpPr>
        <p:spPr/>
        <p:txBody>
          <a:bodyPr/>
          <a:lstStyle/>
          <a:p>
            <a:pPr algn="l"/>
            <a:fld id="{C4EF46A2-9381-4C51-8277-3C7F2938E9F9}" type="slidenum">
              <a:rPr lang="en-US" smtClean="0"/>
              <a:pPr algn="l"/>
              <a:t>7</a:t>
            </a:fld>
            <a:endParaRPr lang="en-US" dirty="0"/>
          </a:p>
        </p:txBody>
      </p:sp>
    </p:spTree>
    <p:extLst>
      <p:ext uri="{BB962C8B-B14F-4D97-AF65-F5344CB8AC3E}">
        <p14:creationId xmlns:p14="http://schemas.microsoft.com/office/powerpoint/2010/main" val="3683069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badges on caslibs are a good teaching moment: SS means CAS pushes the query down to SingleStore live; S2 means the standard connector copies the table into memory.</a:t>
            </a:r>
          </a:p>
        </p:txBody>
      </p:sp>
      <p:sp>
        <p:nvSpPr>
          <p:cNvPr id="4" name="Slide Number Placeholder 3"/>
          <p:cNvSpPr>
            <a:spLocks noGrp="1"/>
          </p:cNvSpPr>
          <p:nvPr>
            <p:ph type="sldNum" sz="quarter" idx="5"/>
          </p:nvPr>
        </p:nvSpPr>
        <p:spPr/>
        <p:txBody>
          <a:bodyPr/>
          <a:lstStyle/>
          <a:p>
            <a:pPr algn="l"/>
            <a:fld id="{C4EF46A2-9381-4C51-8277-3C7F2938E9F9}" type="slidenum">
              <a:rPr lang="en-US" smtClean="0"/>
              <a:pPr algn="l"/>
              <a:t>8</a:t>
            </a:fld>
            <a:endParaRPr lang="en-US" dirty="0"/>
          </a:p>
        </p:txBody>
      </p:sp>
    </p:spTree>
    <p:extLst>
      <p:ext uri="{BB962C8B-B14F-4D97-AF65-F5344CB8AC3E}">
        <p14:creationId xmlns:p14="http://schemas.microsoft.com/office/powerpoint/2010/main" val="10936169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Tie back to the three takeaways: the assistant where you work, everything for SpeedyStore in one place, and you can start right away.</a:t>
            </a:r>
          </a:p>
        </p:txBody>
      </p:sp>
      <p:sp>
        <p:nvSpPr>
          <p:cNvPr id="4" name="Slide Number Placeholder 3"/>
          <p:cNvSpPr>
            <a:spLocks noGrp="1"/>
          </p:cNvSpPr>
          <p:nvPr>
            <p:ph type="sldNum" sz="quarter" idx="5"/>
          </p:nvPr>
        </p:nvSpPr>
        <p:spPr/>
        <p:txBody>
          <a:bodyPr/>
          <a:lstStyle/>
          <a:p>
            <a:pPr algn="l"/>
            <a:fld id="{C4EF46A2-9381-4C51-8277-3C7F2938E9F9}" type="slidenum">
              <a:rPr lang="en-US" smtClean="0"/>
              <a:pPr algn="l"/>
              <a:t>9</a:t>
            </a:fld>
            <a:endParaRPr lang="en-US" dirty="0"/>
          </a:p>
        </p:txBody>
      </p:sp>
    </p:spTree>
    <p:extLst>
      <p:ext uri="{BB962C8B-B14F-4D97-AF65-F5344CB8AC3E}">
        <p14:creationId xmlns:p14="http://schemas.microsoft.com/office/powerpoint/2010/main" val="24578234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Say plainly that this is a pre-sales build on an open-source server, not a SAS product. Then show the shortcut: double-click, the Studio opens.</a:t>
            </a:r>
          </a:p>
        </p:txBody>
      </p:sp>
      <p:sp>
        <p:nvSpPr>
          <p:cNvPr id="4" name="Slide Number Placeholder 3"/>
          <p:cNvSpPr>
            <a:spLocks noGrp="1"/>
          </p:cNvSpPr>
          <p:nvPr>
            <p:ph type="sldNum" sz="quarter" idx="5"/>
          </p:nvPr>
        </p:nvSpPr>
        <p:spPr/>
        <p:txBody>
          <a:bodyPr/>
          <a:lstStyle/>
          <a:p>
            <a:pPr algn="l"/>
            <a:fld id="{C4EF46A2-9381-4C51-8277-3C7F2938E9F9}" type="slidenum">
              <a:rPr lang="en-US" smtClean="0"/>
              <a:pPr algn="l"/>
              <a:t>10</a:t>
            </a:fld>
            <a:endParaRPr lang="en-US" dirty="0"/>
          </a:p>
        </p:txBody>
      </p:sp>
    </p:spTree>
    <p:extLst>
      <p:ext uri="{BB962C8B-B14F-4D97-AF65-F5344CB8AC3E}">
        <p14:creationId xmlns:p14="http://schemas.microsoft.com/office/powerpoint/2010/main" val="927328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Keep the demo to ten minutes. If anything fails live, the fallback is the recorded run; the four steps are the script either way.</a:t>
            </a:r>
          </a:p>
        </p:txBody>
      </p:sp>
      <p:sp>
        <p:nvSpPr>
          <p:cNvPr id="4" name="Slide Number Placeholder 3"/>
          <p:cNvSpPr>
            <a:spLocks noGrp="1"/>
          </p:cNvSpPr>
          <p:nvPr>
            <p:ph type="sldNum" sz="quarter" idx="5"/>
          </p:nvPr>
        </p:nvSpPr>
        <p:spPr/>
        <p:txBody>
          <a:bodyPr/>
          <a:lstStyle/>
          <a:p>
            <a:pPr algn="l"/>
            <a:fld id="{C4EF46A2-9381-4C51-8277-3C7F2938E9F9}" type="slidenum">
              <a:rPr lang="en-US" smtClean="0"/>
              <a:pPr algn="l"/>
              <a:t>11</a:t>
            </a:fld>
            <a:endParaRPr lang="en-US" dirty="0"/>
          </a:p>
        </p:txBody>
      </p:sp>
    </p:spTree>
    <p:extLst>
      <p:ext uri="{BB962C8B-B14F-4D97-AF65-F5344CB8AC3E}">
        <p14:creationId xmlns:p14="http://schemas.microsoft.com/office/powerpoint/2010/main" val="2816753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the three takeaways from the session abstract, word for word, so the audience leaves with what they were promised.</a:t>
            </a:r>
          </a:p>
        </p:txBody>
      </p:sp>
      <p:sp>
        <p:nvSpPr>
          <p:cNvPr id="4" name="Slide Number Placeholder 3"/>
          <p:cNvSpPr>
            <a:spLocks noGrp="1"/>
          </p:cNvSpPr>
          <p:nvPr>
            <p:ph type="sldNum" sz="quarter" idx="5"/>
          </p:nvPr>
        </p:nvSpPr>
        <p:spPr/>
        <p:txBody>
          <a:bodyPr/>
          <a:lstStyle/>
          <a:p>
            <a:pPr algn="l"/>
            <a:fld id="{C4EF46A2-9381-4C51-8277-3C7F2938E9F9}" type="slidenum">
              <a:rPr lang="en-US" smtClean="0"/>
              <a:pPr algn="l"/>
              <a:t>12</a:t>
            </a:fld>
            <a:endParaRPr lang="en-US" dirty="0"/>
          </a:p>
        </p:txBody>
      </p:sp>
    </p:spTree>
    <p:extLst>
      <p:ext uri="{BB962C8B-B14F-4D97-AF65-F5344CB8AC3E}">
        <p14:creationId xmlns:p14="http://schemas.microsoft.com/office/powerpoint/2010/main" val="31323665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Questions. Offer the repository link and the architecture document for the people who want the detail.</a:t>
            </a:r>
          </a:p>
        </p:txBody>
      </p:sp>
      <p:sp>
        <p:nvSpPr>
          <p:cNvPr id="4" name="Slide Number Placeholder 3"/>
          <p:cNvSpPr>
            <a:spLocks noGrp="1"/>
          </p:cNvSpPr>
          <p:nvPr>
            <p:ph type="sldNum" sz="quarter" idx="5"/>
          </p:nvPr>
        </p:nvSpPr>
        <p:spPr/>
        <p:txBody>
          <a:bodyPr/>
          <a:lstStyle/>
          <a:p>
            <a:pPr algn="l"/>
            <a:fld id="{C4EF46A2-9381-4C51-8277-3C7F2938E9F9}" type="slidenum">
              <a:rPr lang="en-US" smtClean="0"/>
              <a:pPr algn="l"/>
              <a:t>13</a:t>
            </a:fld>
            <a:endParaRPr lang="en-US" dirty="0"/>
          </a:p>
        </p:txBody>
      </p:sp>
    </p:spTree>
    <p:extLst>
      <p:ext uri="{BB962C8B-B14F-4D97-AF65-F5344CB8AC3E}">
        <p14:creationId xmlns:p14="http://schemas.microsoft.com/office/powerpoint/2010/main" val="17482249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2.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slideMaster" Target="../slideMasters/slideMaster2.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7.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8.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9.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0.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1.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2.xml"/><Relationship Id="rId1" Type="http://schemas.openxmlformats.org/officeDocument/2006/relationships/tags" Target="../tags/tag23.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4.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AS -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F1FD6A3-53F9-5AA7-7099-CFD8CF29E43C}"/>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1" y="2927508"/>
            <a:ext cx="15778269"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dirty="0"/>
              <a:t>Click to Add Slideshow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1" y="4220170"/>
            <a:ext cx="15778269" cy="923330"/>
          </a:xfrm>
        </p:spPr>
        <p:txBody>
          <a:bodyPr wrap="square">
            <a:noAutofit/>
          </a:bodyPr>
          <a:lstStyle>
            <a:lvl1pPr marL="0" indent="0">
              <a:lnSpc>
                <a:spcPct val="100000"/>
              </a:lnSpc>
              <a:spcBef>
                <a:spcPts val="600"/>
              </a:spcBef>
              <a:buNone/>
              <a:defRPr sz="4800">
                <a:solidFill>
                  <a:schemeClr val="accent3"/>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dirty="0"/>
              <a:t>Click to Add Slideshow Subtitle</a:t>
            </a:r>
          </a:p>
        </p:txBody>
      </p:sp>
      <p:sp>
        <p:nvSpPr>
          <p:cNvPr id="16" name="Text Placeholder 15">
            <a:extLst>
              <a:ext uri="{FF2B5EF4-FFF2-40B4-BE49-F238E27FC236}">
                <a16:creationId xmlns:a16="http://schemas.microsoft.com/office/drawing/2014/main" id="{30273A50-3E84-0E24-0D4A-64F939D590FA}"/>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dirty="0"/>
              <a:t>Click to Add Presenter Info</a:t>
            </a:r>
          </a:p>
        </p:txBody>
      </p:sp>
      <p:sp>
        <p:nvSpPr>
          <p:cNvPr id="2" name="TextBox 4">
            <a:extLst>
              <a:ext uri="{FF2B5EF4-FFF2-40B4-BE49-F238E27FC236}">
                <a16:creationId xmlns:a16="http://schemas.microsoft.com/office/drawing/2014/main" id="{7F487846-7C90-09E0-AF50-CA2DB82BFEFD}"/>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284189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AS - Section">
    <p:bg>
      <p:bgPr>
        <a:solidFill>
          <a:schemeClr val="accent5"/>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3850838"/>
            <a:ext cx="12123722"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dirty="0"/>
              <a:t>Click to Add Section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2" y="5342753"/>
            <a:ext cx="12123722" cy="923330"/>
          </a:xfrm>
        </p:spPr>
        <p:txBody>
          <a:bodyPr wrap="square" anchor="t" anchorCtr="0">
            <a:noAutofit/>
          </a:bodyPr>
          <a:lstStyle>
            <a:lvl1pPr marL="0" indent="0">
              <a:lnSpc>
                <a:spcPct val="100000"/>
              </a:lnSpc>
              <a:spcBef>
                <a:spcPts val="600"/>
              </a:spcBef>
              <a:buNone/>
              <a:defRPr sz="4800">
                <a:solidFill>
                  <a:schemeClr val="bg1"/>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dirty="0"/>
              <a:t>Click to Add Section Subtitle</a:t>
            </a:r>
          </a:p>
        </p:txBody>
      </p:sp>
      <p:sp>
        <p:nvSpPr>
          <p:cNvPr id="2" name="TextBox 4">
            <a:extLst>
              <a:ext uri="{FF2B5EF4-FFF2-40B4-BE49-F238E27FC236}">
                <a16:creationId xmlns:a16="http://schemas.microsoft.com/office/drawing/2014/main" id="{BBE5A171-53B6-5D64-1680-262B90DACFE5}"/>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5">
                    <a:lumMod val="20000"/>
                    <a:lumOff val="8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3" name="Picture 6">
            <a:extLst>
              <a:ext uri="{FF2B5EF4-FFF2-40B4-BE49-F238E27FC236}">
                <a16:creationId xmlns:a16="http://schemas.microsoft.com/office/drawing/2014/main" id="{27780B26-6E86-E2AF-35C7-7B8BF24892A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Tree>
    <p:custDataLst>
      <p:tags r:id="rId1"/>
    </p:custDataLst>
    <p:extLst>
      <p:ext uri="{BB962C8B-B14F-4D97-AF65-F5344CB8AC3E}">
        <p14:creationId xmlns:p14="http://schemas.microsoft.com/office/powerpoint/2010/main" val="935216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AS - Title Only">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6F060396-EEE3-A20F-EF3B-666AF65526C8}"/>
              </a:ext>
            </a:extLst>
          </p:cNvPr>
          <p:cNvSpPr>
            <a:spLocks noGrp="1"/>
          </p:cNvSpPr>
          <p:nvPr>
            <p:ph type="title" hasCustomPrompt="1"/>
          </p:nvPr>
        </p:nvSpPr>
        <p:spPr>
          <a:xfrm>
            <a:off x="1257300" y="710304"/>
            <a:ext cx="15773400" cy="775596"/>
          </a:xfrm>
          <a:prstGeom prst="rect">
            <a:avLst/>
          </a:prstGeom>
        </p:spPr>
        <p:txBody>
          <a:bodyPr vert="horz" lIns="0" tIns="0" rIns="0" bIns="0" rtlCol="0" anchor="ctr">
            <a:spAutoFit/>
          </a:bodyPr>
          <a:lstStyle/>
          <a:p>
            <a:r>
              <a:rPr lang="en-US" dirty="0"/>
              <a:t>Click to Add Slide Title</a:t>
            </a:r>
          </a:p>
        </p:txBody>
      </p:sp>
    </p:spTree>
    <p:custDataLst>
      <p:tags r:id="rId1"/>
    </p:custDataLst>
    <p:extLst>
      <p:ext uri="{BB962C8B-B14F-4D97-AF65-F5344CB8AC3E}">
        <p14:creationId xmlns:p14="http://schemas.microsoft.com/office/powerpoint/2010/main" val="986120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AS - Title &amp;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l">
              <a:defRPr>
                <a:solidFill>
                  <a:schemeClr val="accent5"/>
                </a:solidFill>
              </a:defRPr>
            </a:lvl1pPr>
          </a:lstStyle>
          <a:p>
            <a:r>
              <a:rPr lang="en-US" dirty="0"/>
              <a:t>Click to Add Slide Title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1898903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AS -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dirty="0"/>
              <a:t>Click to Add Slide Title</a:t>
            </a:r>
          </a:p>
        </p:txBody>
      </p:sp>
      <p:sp>
        <p:nvSpPr>
          <p:cNvPr id="4" name="Text Placeholder 2">
            <a:extLst>
              <a:ext uri="{FF2B5EF4-FFF2-40B4-BE49-F238E27FC236}">
                <a16:creationId xmlns:a16="http://schemas.microsoft.com/office/drawing/2014/main" id="{94E85CBA-188F-58DF-65B2-BD90C57AB500}"/>
              </a:ext>
            </a:extLst>
          </p:cNvPr>
          <p:cNvSpPr>
            <a:spLocks noGrp="1"/>
          </p:cNvSpPr>
          <p:nvPr>
            <p:ph idx="1"/>
          </p:nvPr>
        </p:nvSpPr>
        <p:spPr>
          <a:xfrm>
            <a:off x="1257300" y="2400300"/>
            <a:ext cx="15773400" cy="6865146"/>
          </a:xfrm>
          <a:prstGeom prst="rect">
            <a:avLst/>
          </a:prstGeom>
        </p:spPr>
        <p:txBody>
          <a:bodyPr vert="horz" lIns="0" tIns="0" rIns="0" bIns="0" rtlCol="0">
            <a:normAutofit/>
          </a:bodyPr>
          <a:lstStyle>
            <a:lvl1pPr>
              <a:defRPr sz="3600"/>
            </a:lvl1pPr>
            <a:lvl2pPr>
              <a:defRPr sz="2800"/>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9A71ABFD-7D9E-8B81-8F10-AD3B259CD532}"/>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290233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AS - 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dirty="0"/>
              <a:t>Click to Add Slide Title</a:t>
            </a:r>
          </a:p>
        </p:txBody>
      </p:sp>
      <p:sp>
        <p:nvSpPr>
          <p:cNvPr id="5" name="Text Placeholder 2">
            <a:extLst>
              <a:ext uri="{FF2B5EF4-FFF2-40B4-BE49-F238E27FC236}">
                <a16:creationId xmlns:a16="http://schemas.microsoft.com/office/drawing/2014/main" id="{B37A3D09-8DDB-0D78-49A3-63D553286BAA}"/>
              </a:ext>
            </a:extLst>
          </p:cNvPr>
          <p:cNvSpPr>
            <a:spLocks noGrp="1"/>
          </p:cNvSpPr>
          <p:nvPr>
            <p:ph idx="1"/>
          </p:nvPr>
        </p:nvSpPr>
        <p:spPr>
          <a:xfrm>
            <a:off x="1257299" y="2400300"/>
            <a:ext cx="7741846" cy="6865145"/>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9EB0C531-8D77-DB91-D733-89B75593C437}"/>
              </a:ext>
            </a:extLst>
          </p:cNvPr>
          <p:cNvSpPr>
            <a:spLocks noGrp="1"/>
          </p:cNvSpPr>
          <p:nvPr>
            <p:ph idx="11"/>
          </p:nvPr>
        </p:nvSpPr>
        <p:spPr>
          <a:xfrm>
            <a:off x="9288856" y="2400300"/>
            <a:ext cx="7741848" cy="6865145"/>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9" name="Text Placeholder 4">
            <a:extLst>
              <a:ext uri="{FF2B5EF4-FFF2-40B4-BE49-F238E27FC236}">
                <a16:creationId xmlns:a16="http://schemas.microsoft.com/office/drawing/2014/main" id="{528E5A1D-0F7C-C89E-926C-359A1E6C4B96}"/>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3041057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AS - Title Only Righ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932B69-D114-4F04-8825-FD80DE780B3F}"/>
              </a:ext>
            </a:extLst>
          </p:cNvPr>
          <p:cNvSpPr>
            <a:spLocks noGrp="1"/>
          </p:cNvSpPr>
          <p:nvPr>
            <p:ph type="title" hasCustomPrompt="1"/>
          </p:nvPr>
        </p:nvSpPr>
        <p:spPr>
          <a:xfrm>
            <a:off x="1257300" y="4367905"/>
            <a:ext cx="4428276" cy="1551194"/>
          </a:xfrm>
          <a:prstGeom prst="rect">
            <a:avLst/>
          </a:prstGeom>
        </p:spPr>
        <p:txBody>
          <a:bodyPr vert="horz" wrap="square" lIns="0" tIns="0" rIns="0" bIns="0" rtlCol="0" anchor="ctr">
            <a:spAutoFit/>
          </a:bodyPr>
          <a:lstStyle/>
          <a:p>
            <a:r>
              <a:rPr lang="en-US" dirty="0"/>
              <a:t>Click to Add Slide Title</a:t>
            </a:r>
          </a:p>
        </p:txBody>
      </p:sp>
    </p:spTree>
    <p:custDataLst>
      <p:tags r:id="rId1"/>
    </p:custDataLst>
    <p:extLst>
      <p:ext uri="{BB962C8B-B14F-4D97-AF65-F5344CB8AC3E}">
        <p14:creationId xmlns:p14="http://schemas.microsoft.com/office/powerpoint/2010/main" val="412170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AS - Title &amp; Subtitle Right">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CB0DC36-25B4-46CA-542D-A6308DDA0A46}"/>
              </a:ext>
            </a:extLst>
          </p:cNvPr>
          <p:cNvSpPr>
            <a:spLocks noGrp="1"/>
          </p:cNvSpPr>
          <p:nvPr>
            <p:ph type="body" sz="quarter" idx="10" hasCustomPrompt="1"/>
          </p:nvPr>
        </p:nvSpPr>
        <p:spPr>
          <a:xfrm>
            <a:off x="1257299" y="5920995"/>
            <a:ext cx="5004350" cy="549382"/>
          </a:xfrm>
          <a:prstGeom prst="rect">
            <a:avLst/>
          </a:prstGeom>
        </p:spPr>
        <p:txBody>
          <a:bodyPr wrap="square" anchor="t">
            <a:no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
        <p:nvSpPr>
          <p:cNvPr id="3" name="Title 2">
            <a:extLst>
              <a:ext uri="{FF2B5EF4-FFF2-40B4-BE49-F238E27FC236}">
                <a16:creationId xmlns:a16="http://schemas.microsoft.com/office/drawing/2014/main" id="{E84AF2B1-1A71-31A3-C679-D3E1148BD910}"/>
              </a:ext>
            </a:extLst>
          </p:cNvPr>
          <p:cNvSpPr>
            <a:spLocks noGrp="1"/>
          </p:cNvSpPr>
          <p:nvPr>
            <p:ph type="title" hasCustomPrompt="1"/>
          </p:nvPr>
        </p:nvSpPr>
        <p:spPr>
          <a:xfrm>
            <a:off x="1252432" y="4150330"/>
            <a:ext cx="5001768" cy="1554480"/>
          </a:xfrm>
        </p:spPr>
        <p:txBody>
          <a:bodyPr vert="horz" wrap="square" lIns="0" tIns="0" rIns="0" bIns="0" rtlCol="0" anchor="b" anchorCtr="0">
            <a:spAutoFit/>
          </a:bodyPr>
          <a:lstStyle>
            <a:lvl1pPr>
              <a:defRPr lang="en-US"/>
            </a:lvl1pPr>
          </a:lstStyle>
          <a:p>
            <a:pPr marL="0" lvl="0">
              <a:lnSpc>
                <a:spcPct val="90000"/>
              </a:lnSpc>
              <a:spcBef>
                <a:spcPct val="0"/>
              </a:spcBef>
              <a:buNone/>
            </a:pPr>
            <a:r>
              <a:rPr lang="en-US" dirty="0"/>
              <a:t>Click to Add Slide Title</a:t>
            </a:r>
          </a:p>
        </p:txBody>
      </p:sp>
    </p:spTree>
    <p:custDataLst>
      <p:tags r:id="rId1"/>
    </p:custDataLst>
    <p:extLst>
      <p:ext uri="{BB962C8B-B14F-4D97-AF65-F5344CB8AC3E}">
        <p14:creationId xmlns:p14="http://schemas.microsoft.com/office/powerpoint/2010/main" val="3812179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AS - Closing">
    <p:bg>
      <p:bgPr>
        <a:solidFill>
          <a:schemeClr val="bg2"/>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4497169"/>
            <a:ext cx="13063133" cy="1292662"/>
          </a:xfrm>
          <a:prstGeom prst="rect">
            <a:avLst/>
          </a:prstGeom>
        </p:spPr>
        <p:txBody>
          <a:bodyPr vert="horz" wrap="square" lIns="0" tIns="0" rIns="0" bIns="182880" rtlCol="0" anchor="ctr" anchorCtr="0">
            <a:spAutoFit/>
          </a:bodyPr>
          <a:lstStyle>
            <a:lvl1pPr>
              <a:lnSpc>
                <a:spcPct val="100000"/>
              </a:lnSpc>
              <a:spcBef>
                <a:spcPts val="600"/>
              </a:spcBef>
              <a:defRPr sz="7200">
                <a:solidFill>
                  <a:schemeClr val="bg1"/>
                </a:solidFill>
              </a:defRPr>
            </a:lvl1pPr>
          </a:lstStyle>
          <a:p>
            <a:r>
              <a:rPr lang="en-US" dirty="0"/>
              <a:t>Click to Add Slideshow Closing</a:t>
            </a:r>
          </a:p>
        </p:txBody>
      </p:sp>
      <p:pic>
        <p:nvPicPr>
          <p:cNvPr id="9" name="Picture 8">
            <a:extLst>
              <a:ext uri="{FF2B5EF4-FFF2-40B4-BE49-F238E27FC236}">
                <a16:creationId xmlns:a16="http://schemas.microsoft.com/office/drawing/2014/main" id="{F6D7352C-47D5-1179-1891-95A57F7DA1B0}"/>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2" name="Text Placeholder 15">
            <a:extLst>
              <a:ext uri="{FF2B5EF4-FFF2-40B4-BE49-F238E27FC236}">
                <a16:creationId xmlns:a16="http://schemas.microsoft.com/office/drawing/2014/main" id="{514B8423-CFFD-1921-7480-8BEC78F05FFD}"/>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dirty="0"/>
              <a:t>Click to add a website or email</a:t>
            </a:r>
          </a:p>
        </p:txBody>
      </p:sp>
      <p:sp>
        <p:nvSpPr>
          <p:cNvPr id="3" name="TextBox 4">
            <a:extLst>
              <a:ext uri="{FF2B5EF4-FFF2-40B4-BE49-F238E27FC236}">
                <a16:creationId xmlns:a16="http://schemas.microsoft.com/office/drawing/2014/main" id="{50615BBA-3709-50D7-A61C-9CF9B79E7B6F}"/>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30268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AS - Blank - Whit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48427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AS - Video Only">
    <p:bg>
      <p:bgPr>
        <a:solidFill>
          <a:schemeClr val="tx1"/>
        </a:solidFill>
        <a:effectLst/>
      </p:bgPr>
    </p:bg>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D68E8285-3BE2-9990-FA54-E6AF741CC812}"/>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2" name="Picture 6">
            <a:extLst>
              <a:ext uri="{FF2B5EF4-FFF2-40B4-BE49-F238E27FC236}">
                <a16:creationId xmlns:a16="http://schemas.microsoft.com/office/drawing/2014/main" id="{9DCBE7B6-1449-C2E2-1508-3F2B78AA27F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Tree>
    <p:custDataLst>
      <p:tags r:id="rId1"/>
    </p:custDataLst>
    <p:extLst>
      <p:ext uri="{BB962C8B-B14F-4D97-AF65-F5344CB8AC3E}">
        <p14:creationId xmlns:p14="http://schemas.microsoft.com/office/powerpoint/2010/main" val="421662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AS -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F1FD6A3-53F9-5AA7-7099-CFD8CF29E43C}"/>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2927508"/>
            <a:ext cx="15782544"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dirty="0"/>
              <a:t>Click to Add Slideshow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2" y="4220170"/>
            <a:ext cx="15782544" cy="923330"/>
          </a:xfrm>
        </p:spPr>
        <p:txBody>
          <a:bodyPr wrap="square">
            <a:noAutofit/>
          </a:bodyPr>
          <a:lstStyle>
            <a:lvl1pPr marL="0" indent="0">
              <a:lnSpc>
                <a:spcPct val="100000"/>
              </a:lnSpc>
              <a:spcBef>
                <a:spcPts val="600"/>
              </a:spcBef>
              <a:buNone/>
              <a:defRPr sz="4800">
                <a:solidFill>
                  <a:schemeClr val="accent3"/>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dirty="0"/>
              <a:t>Click to Add Slideshow Subtitle</a:t>
            </a:r>
          </a:p>
        </p:txBody>
      </p:sp>
      <p:sp>
        <p:nvSpPr>
          <p:cNvPr id="16" name="Text Placeholder 15">
            <a:extLst>
              <a:ext uri="{FF2B5EF4-FFF2-40B4-BE49-F238E27FC236}">
                <a16:creationId xmlns:a16="http://schemas.microsoft.com/office/drawing/2014/main" id="{30273A50-3E84-0E24-0D4A-64F939D590FA}"/>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dirty="0"/>
              <a:t>Click to Add Presenter Info</a:t>
            </a:r>
          </a:p>
        </p:txBody>
      </p:sp>
      <p:sp>
        <p:nvSpPr>
          <p:cNvPr id="2" name="TextBox 4">
            <a:extLst>
              <a:ext uri="{FF2B5EF4-FFF2-40B4-BE49-F238E27FC236}">
                <a16:creationId xmlns:a16="http://schemas.microsoft.com/office/drawing/2014/main" id="{B30C0FC0-2C2C-10CE-0594-84811DEFE33B}"/>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073428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AS - Section">
    <p:bg>
      <p:bgPr>
        <a:solidFill>
          <a:schemeClr val="accent5"/>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3850838"/>
            <a:ext cx="12123722"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dirty="0"/>
              <a:t>Click to Add Section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2" y="5342753"/>
            <a:ext cx="12123722" cy="923330"/>
          </a:xfrm>
        </p:spPr>
        <p:txBody>
          <a:bodyPr wrap="square" anchor="t" anchorCtr="0">
            <a:noAutofit/>
          </a:bodyPr>
          <a:lstStyle>
            <a:lvl1pPr marL="0" indent="0">
              <a:lnSpc>
                <a:spcPct val="100000"/>
              </a:lnSpc>
              <a:spcBef>
                <a:spcPts val="600"/>
              </a:spcBef>
              <a:buNone/>
              <a:defRPr sz="4800">
                <a:solidFill>
                  <a:schemeClr val="bg1"/>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dirty="0"/>
              <a:t>Click to Add Section Subtitle</a:t>
            </a:r>
          </a:p>
        </p:txBody>
      </p:sp>
      <p:sp>
        <p:nvSpPr>
          <p:cNvPr id="2" name="TextBox 4">
            <a:extLst>
              <a:ext uri="{FF2B5EF4-FFF2-40B4-BE49-F238E27FC236}">
                <a16:creationId xmlns:a16="http://schemas.microsoft.com/office/drawing/2014/main" id="{D4FEAADD-6A43-A3AD-C613-62CE351F3456}"/>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5">
                    <a:lumMod val="20000"/>
                    <a:lumOff val="8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3" name="Picture 6">
            <a:extLst>
              <a:ext uri="{FF2B5EF4-FFF2-40B4-BE49-F238E27FC236}">
                <a16:creationId xmlns:a16="http://schemas.microsoft.com/office/drawing/2014/main" id="{D65EAAE1-A5CA-D245-874C-7FB6F8D56FAA}"/>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6826158" y="9516543"/>
            <a:ext cx="1112812" cy="461922"/>
          </a:xfrm>
          <a:prstGeom prst="rect">
            <a:avLst/>
          </a:prstGeom>
        </p:spPr>
      </p:pic>
    </p:spTree>
    <p:custDataLst>
      <p:tags r:id="rId1"/>
    </p:custDataLst>
    <p:extLst>
      <p:ext uri="{BB962C8B-B14F-4D97-AF65-F5344CB8AC3E}">
        <p14:creationId xmlns:p14="http://schemas.microsoft.com/office/powerpoint/2010/main" val="33978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AS - Title Only">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6F060396-EEE3-A20F-EF3B-666AF65526C8}"/>
              </a:ext>
            </a:extLst>
          </p:cNvPr>
          <p:cNvSpPr>
            <a:spLocks noGrp="1"/>
          </p:cNvSpPr>
          <p:nvPr>
            <p:ph type="title" hasCustomPrompt="1"/>
          </p:nvPr>
        </p:nvSpPr>
        <p:spPr>
          <a:xfrm>
            <a:off x="1257300" y="710304"/>
            <a:ext cx="15773400" cy="775596"/>
          </a:xfrm>
          <a:prstGeom prst="rect">
            <a:avLst/>
          </a:prstGeom>
        </p:spPr>
        <p:txBody>
          <a:bodyPr vert="horz" lIns="0" tIns="0" rIns="0" bIns="0" rtlCol="0" anchor="ctr">
            <a:spAutoFit/>
          </a:bodyPr>
          <a:lstStyle/>
          <a:p>
            <a:r>
              <a:rPr lang="en-US" dirty="0"/>
              <a:t>Click to Add Slide Title</a:t>
            </a:r>
          </a:p>
        </p:txBody>
      </p:sp>
    </p:spTree>
    <p:custDataLst>
      <p:tags r:id="rId1"/>
    </p:custDataLst>
    <p:extLst>
      <p:ext uri="{BB962C8B-B14F-4D97-AF65-F5344CB8AC3E}">
        <p14:creationId xmlns:p14="http://schemas.microsoft.com/office/powerpoint/2010/main" val="3920883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AS - Title &amp;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l">
              <a:defRPr>
                <a:solidFill>
                  <a:schemeClr val="accent5"/>
                </a:solidFill>
              </a:defRPr>
            </a:lvl1pPr>
          </a:lstStyle>
          <a:p>
            <a:r>
              <a:rPr lang="en-US" dirty="0"/>
              <a:t>Click to Add Slide Title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2735123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AS -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dirty="0"/>
              <a:t>Click to Add Slide Title</a:t>
            </a:r>
          </a:p>
        </p:txBody>
      </p:sp>
      <p:sp>
        <p:nvSpPr>
          <p:cNvPr id="4" name="Text Placeholder 2">
            <a:extLst>
              <a:ext uri="{FF2B5EF4-FFF2-40B4-BE49-F238E27FC236}">
                <a16:creationId xmlns:a16="http://schemas.microsoft.com/office/drawing/2014/main" id="{94E85CBA-188F-58DF-65B2-BD90C57AB500}"/>
              </a:ext>
            </a:extLst>
          </p:cNvPr>
          <p:cNvSpPr>
            <a:spLocks noGrp="1"/>
          </p:cNvSpPr>
          <p:nvPr>
            <p:ph idx="1"/>
          </p:nvPr>
        </p:nvSpPr>
        <p:spPr>
          <a:xfrm>
            <a:off x="1257300" y="2400300"/>
            <a:ext cx="15773400" cy="6444273"/>
          </a:xfrm>
          <a:prstGeom prst="rect">
            <a:avLst/>
          </a:prstGeom>
        </p:spPr>
        <p:txBody>
          <a:bodyPr vert="horz" lIns="0" tIns="0" rIns="0" bIns="0" rtlCol="0">
            <a:normAutofit/>
          </a:bodyPr>
          <a:lstStyle>
            <a:lvl1pPr>
              <a:defRPr sz="3600"/>
            </a:lvl1pPr>
            <a:lvl2pPr>
              <a:defRPr sz="2800"/>
            </a:lvl2pPr>
            <a:lvl3pPr>
              <a:defRPr sz="2400">
                <a:latin typeface="+mn-lt"/>
              </a:defRPr>
            </a:lvl3pPr>
          </a:lstStyle>
          <a:p>
            <a:pPr lvl="0"/>
            <a:r>
              <a:rPr lang="en-US" dirty="0"/>
              <a:t>Click to edit Master text styles</a:t>
            </a:r>
          </a:p>
          <a:p>
            <a:pPr lvl="1"/>
            <a:r>
              <a:rPr lang="en-US" dirty="0"/>
              <a:t>Second level</a:t>
            </a:r>
          </a:p>
          <a:p>
            <a:pPr lvl="2"/>
            <a:r>
              <a:rPr lang="en-US" dirty="0"/>
              <a:t>Third level</a:t>
            </a:r>
          </a:p>
        </p:txBody>
      </p:sp>
      <p:sp>
        <p:nvSpPr>
          <p:cNvPr id="8" name="Text Placeholder 4">
            <a:extLst>
              <a:ext uri="{FF2B5EF4-FFF2-40B4-BE49-F238E27FC236}">
                <a16:creationId xmlns:a16="http://schemas.microsoft.com/office/drawing/2014/main" id="{9A71ABFD-7D9E-8B81-8F10-AD3B259CD532}"/>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accent1"/>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4215817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AS - 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dirty="0"/>
              <a:t>Click to Add Slide Title</a:t>
            </a:r>
          </a:p>
        </p:txBody>
      </p:sp>
      <p:sp>
        <p:nvSpPr>
          <p:cNvPr id="5" name="Text Placeholder 2">
            <a:extLst>
              <a:ext uri="{FF2B5EF4-FFF2-40B4-BE49-F238E27FC236}">
                <a16:creationId xmlns:a16="http://schemas.microsoft.com/office/drawing/2014/main" id="{B37A3D09-8DDB-0D78-49A3-63D553286BAA}"/>
              </a:ext>
            </a:extLst>
          </p:cNvPr>
          <p:cNvSpPr>
            <a:spLocks noGrp="1"/>
          </p:cNvSpPr>
          <p:nvPr>
            <p:ph idx="1"/>
          </p:nvPr>
        </p:nvSpPr>
        <p:spPr>
          <a:xfrm>
            <a:off x="1257299" y="2400300"/>
            <a:ext cx="7741846" cy="6444273"/>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dirty="0"/>
              <a:t>Click to edit Master text styles</a:t>
            </a:r>
          </a:p>
          <a:p>
            <a:pPr lvl="1"/>
            <a:r>
              <a:rPr lang="en-US" dirty="0"/>
              <a:t>Second level</a:t>
            </a:r>
          </a:p>
          <a:p>
            <a:pPr lvl="2"/>
            <a:r>
              <a:rPr lang="en-US" dirty="0"/>
              <a:t>Third level</a:t>
            </a:r>
          </a:p>
        </p:txBody>
      </p:sp>
      <p:sp>
        <p:nvSpPr>
          <p:cNvPr id="7" name="Text Placeholder 2">
            <a:extLst>
              <a:ext uri="{FF2B5EF4-FFF2-40B4-BE49-F238E27FC236}">
                <a16:creationId xmlns:a16="http://schemas.microsoft.com/office/drawing/2014/main" id="{9EB0C531-8D77-DB91-D733-89B75593C437}"/>
              </a:ext>
            </a:extLst>
          </p:cNvPr>
          <p:cNvSpPr>
            <a:spLocks noGrp="1"/>
          </p:cNvSpPr>
          <p:nvPr>
            <p:ph idx="11"/>
          </p:nvPr>
        </p:nvSpPr>
        <p:spPr>
          <a:xfrm>
            <a:off x="9288856" y="2400300"/>
            <a:ext cx="7741848" cy="6444273"/>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dirty="0"/>
              <a:t>Click to edit Master text styles</a:t>
            </a:r>
          </a:p>
          <a:p>
            <a:pPr lvl="1"/>
            <a:r>
              <a:rPr lang="en-US" dirty="0"/>
              <a:t>Second level</a:t>
            </a:r>
          </a:p>
          <a:p>
            <a:pPr lvl="2"/>
            <a:r>
              <a:rPr lang="en-US" dirty="0"/>
              <a:t>Third level</a:t>
            </a:r>
          </a:p>
        </p:txBody>
      </p:sp>
      <p:sp>
        <p:nvSpPr>
          <p:cNvPr id="9" name="Text Placeholder 4">
            <a:extLst>
              <a:ext uri="{FF2B5EF4-FFF2-40B4-BE49-F238E27FC236}">
                <a16:creationId xmlns:a16="http://schemas.microsoft.com/office/drawing/2014/main" id="{528E5A1D-0F7C-C89E-926C-359A1E6C4B96}"/>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Tree>
    <p:custDataLst>
      <p:tags r:id="rId1"/>
    </p:custDataLst>
    <p:extLst>
      <p:ext uri="{BB962C8B-B14F-4D97-AF65-F5344CB8AC3E}">
        <p14:creationId xmlns:p14="http://schemas.microsoft.com/office/powerpoint/2010/main" val="2574253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AS - Title Only Righ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932B69-D114-4F04-8825-FD80DE780B3F}"/>
              </a:ext>
            </a:extLst>
          </p:cNvPr>
          <p:cNvSpPr>
            <a:spLocks noGrp="1"/>
          </p:cNvSpPr>
          <p:nvPr>
            <p:ph type="title" hasCustomPrompt="1"/>
          </p:nvPr>
        </p:nvSpPr>
        <p:spPr>
          <a:xfrm>
            <a:off x="1257300" y="4367905"/>
            <a:ext cx="4428276" cy="1551194"/>
          </a:xfrm>
          <a:prstGeom prst="rect">
            <a:avLst/>
          </a:prstGeom>
        </p:spPr>
        <p:txBody>
          <a:bodyPr vert="horz" wrap="square" lIns="0" tIns="0" rIns="0" bIns="0" rtlCol="0" anchor="ctr">
            <a:spAutoFit/>
          </a:bodyPr>
          <a:lstStyle/>
          <a:p>
            <a:r>
              <a:rPr lang="en-US" dirty="0"/>
              <a:t>Click to Add Slide Title</a:t>
            </a:r>
          </a:p>
        </p:txBody>
      </p:sp>
    </p:spTree>
    <p:custDataLst>
      <p:tags r:id="rId1"/>
    </p:custDataLst>
    <p:extLst>
      <p:ext uri="{BB962C8B-B14F-4D97-AF65-F5344CB8AC3E}">
        <p14:creationId xmlns:p14="http://schemas.microsoft.com/office/powerpoint/2010/main" val="3069187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AS - Title &amp; Subtitle Right">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CB0DC36-25B4-46CA-542D-A6308DDA0A46}"/>
              </a:ext>
            </a:extLst>
          </p:cNvPr>
          <p:cNvSpPr>
            <a:spLocks noGrp="1"/>
          </p:cNvSpPr>
          <p:nvPr>
            <p:ph type="body" sz="quarter" idx="10" hasCustomPrompt="1"/>
          </p:nvPr>
        </p:nvSpPr>
        <p:spPr>
          <a:xfrm>
            <a:off x="1257299" y="5920995"/>
            <a:ext cx="5004350" cy="549382"/>
          </a:xfrm>
          <a:prstGeom prst="rect">
            <a:avLst/>
          </a:prstGeom>
        </p:spPr>
        <p:txBody>
          <a:bodyPr wrap="square" anchor="t">
            <a:no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dirty="0"/>
              <a:t>Click to Add Subtitle</a:t>
            </a:r>
          </a:p>
        </p:txBody>
      </p:sp>
      <p:sp>
        <p:nvSpPr>
          <p:cNvPr id="3" name="Title 2">
            <a:extLst>
              <a:ext uri="{FF2B5EF4-FFF2-40B4-BE49-F238E27FC236}">
                <a16:creationId xmlns:a16="http://schemas.microsoft.com/office/drawing/2014/main" id="{7B26AFD3-845A-9D0A-335D-AE00D0ADA6A0}"/>
              </a:ext>
            </a:extLst>
          </p:cNvPr>
          <p:cNvSpPr>
            <a:spLocks noGrp="1"/>
          </p:cNvSpPr>
          <p:nvPr>
            <p:ph type="title" hasCustomPrompt="1"/>
          </p:nvPr>
        </p:nvSpPr>
        <p:spPr>
          <a:xfrm>
            <a:off x="1252432" y="4150330"/>
            <a:ext cx="5001768" cy="1554480"/>
          </a:xfrm>
        </p:spPr>
        <p:txBody>
          <a:bodyPr vert="horz" wrap="square" lIns="0" tIns="0" rIns="0" bIns="0" rtlCol="0" anchor="b" anchorCtr="0">
            <a:spAutoFit/>
          </a:bodyPr>
          <a:lstStyle>
            <a:lvl1pPr>
              <a:defRPr lang="en-US"/>
            </a:lvl1pPr>
          </a:lstStyle>
          <a:p>
            <a:pPr marL="0" lvl="0">
              <a:lnSpc>
                <a:spcPct val="90000"/>
              </a:lnSpc>
              <a:spcBef>
                <a:spcPct val="0"/>
              </a:spcBef>
              <a:buNone/>
            </a:pPr>
            <a:r>
              <a:rPr lang="en-US" dirty="0"/>
              <a:t>Click to Add Slide Title</a:t>
            </a:r>
          </a:p>
        </p:txBody>
      </p:sp>
    </p:spTree>
    <p:custDataLst>
      <p:tags r:id="rId1"/>
    </p:custDataLst>
    <p:extLst>
      <p:ext uri="{BB962C8B-B14F-4D97-AF65-F5344CB8AC3E}">
        <p14:creationId xmlns:p14="http://schemas.microsoft.com/office/powerpoint/2010/main" val="1454827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AS - Closing">
    <p:bg>
      <p:bgPr>
        <a:solidFill>
          <a:schemeClr val="bg2"/>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4497169"/>
            <a:ext cx="13063133" cy="1292662"/>
          </a:xfrm>
          <a:prstGeom prst="rect">
            <a:avLst/>
          </a:prstGeom>
        </p:spPr>
        <p:txBody>
          <a:bodyPr vert="horz" wrap="square" lIns="0" tIns="0" rIns="0" bIns="182880" rtlCol="0" anchor="ctr" anchorCtr="0">
            <a:spAutoFit/>
          </a:bodyPr>
          <a:lstStyle>
            <a:lvl1pPr>
              <a:lnSpc>
                <a:spcPct val="100000"/>
              </a:lnSpc>
              <a:spcBef>
                <a:spcPts val="600"/>
              </a:spcBef>
              <a:defRPr sz="7200">
                <a:solidFill>
                  <a:schemeClr val="bg1"/>
                </a:solidFill>
              </a:defRPr>
            </a:lvl1pPr>
          </a:lstStyle>
          <a:p>
            <a:r>
              <a:rPr lang="en-US" dirty="0"/>
              <a:t>Click to Add Slideshow Closing</a:t>
            </a:r>
          </a:p>
        </p:txBody>
      </p:sp>
      <p:pic>
        <p:nvPicPr>
          <p:cNvPr id="9" name="Picture 8">
            <a:extLst>
              <a:ext uri="{FF2B5EF4-FFF2-40B4-BE49-F238E27FC236}">
                <a16:creationId xmlns:a16="http://schemas.microsoft.com/office/drawing/2014/main" id="{F6D7352C-47D5-1179-1891-95A57F7DA1B0}"/>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2" name="Text Placeholder 15">
            <a:extLst>
              <a:ext uri="{FF2B5EF4-FFF2-40B4-BE49-F238E27FC236}">
                <a16:creationId xmlns:a16="http://schemas.microsoft.com/office/drawing/2014/main" id="{2F6DB731-09D4-08B5-8614-68F3501B51F7}"/>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dirty="0"/>
              <a:t>Click to add a website or email</a:t>
            </a:r>
          </a:p>
        </p:txBody>
      </p:sp>
      <p:sp>
        <p:nvSpPr>
          <p:cNvPr id="3" name="TextBox 4">
            <a:extLst>
              <a:ext uri="{FF2B5EF4-FFF2-40B4-BE49-F238E27FC236}">
                <a16:creationId xmlns:a16="http://schemas.microsoft.com/office/drawing/2014/main" id="{F763AC1A-EE13-FF0B-9CAB-4F6421B970D6}"/>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412131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AS - Blank - Whit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809093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AS - Video Only">
    <p:bg>
      <p:bgPr>
        <a:solidFill>
          <a:schemeClr val="tx1"/>
        </a:solidFill>
        <a:effectLst/>
      </p:bgPr>
    </p:bg>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862879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1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4.sv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5.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TextBox 4">
            <a:extLst>
              <a:ext uri="{FF2B5EF4-FFF2-40B4-BE49-F238E27FC236}">
                <a16:creationId xmlns:a16="http://schemas.microsoft.com/office/drawing/2014/main" id="{1E37FEA7-CA51-4399-92F6-AB705B7FF650}"/>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3" name="Text Placeholder 2"/>
          <p:cNvSpPr>
            <a:spLocks noGrp="1"/>
          </p:cNvSpPr>
          <p:nvPr>
            <p:ph type="body" idx="1"/>
          </p:nvPr>
        </p:nvSpPr>
        <p:spPr>
          <a:xfrm>
            <a:off x="1252432" y="2400300"/>
            <a:ext cx="15773400" cy="6865146"/>
          </a:xfrm>
          <a:prstGeom prst="rect">
            <a:avLst/>
          </a:prstGeom>
        </p:spPr>
        <p:txBody>
          <a:bodyPr vert="horz" lIns="0" tIns="0" rIns="0" bIns="0" rtlCol="0">
            <a:normAutofit/>
          </a:bodyPr>
          <a:lstStyle/>
          <a:p>
            <a:pPr lvl="0"/>
            <a:r>
              <a:rPr lang="en-US" dirty="0"/>
              <a:t>Click to Edit Text</a:t>
            </a:r>
          </a:p>
          <a:p>
            <a:pPr lvl="1"/>
            <a:r>
              <a:rPr lang="en-US" dirty="0"/>
              <a:t>Second level</a:t>
            </a:r>
          </a:p>
          <a:p>
            <a:pPr lvl="2"/>
            <a:r>
              <a:rPr lang="en-US" dirty="0"/>
              <a:t>Third level</a:t>
            </a:r>
          </a:p>
        </p:txBody>
      </p:sp>
      <p:sp>
        <p:nvSpPr>
          <p:cNvPr id="2" name="Title Placeholder 1"/>
          <p:cNvSpPr>
            <a:spLocks noGrp="1"/>
          </p:cNvSpPr>
          <p:nvPr>
            <p:ph type="title"/>
          </p:nvPr>
        </p:nvSpPr>
        <p:spPr>
          <a:xfrm>
            <a:off x="1252432" y="710304"/>
            <a:ext cx="15773400" cy="775596"/>
          </a:xfrm>
          <a:prstGeom prst="rect">
            <a:avLst/>
          </a:prstGeom>
        </p:spPr>
        <p:txBody>
          <a:bodyPr vert="horz" lIns="0" tIns="0" rIns="0" bIns="0" rtlCol="0" anchor="ctr">
            <a:normAutofit/>
          </a:bodyPr>
          <a:lstStyle/>
          <a:p>
            <a:r>
              <a:rPr lang="en-US" dirty="0"/>
              <a:t>Click to Add Slide Title</a:t>
            </a:r>
          </a:p>
        </p:txBody>
      </p:sp>
      <p:pic>
        <p:nvPicPr>
          <p:cNvPr id="5" name="Picture 6">
            <a:extLst>
              <a:ext uri="{FF2B5EF4-FFF2-40B4-BE49-F238E27FC236}">
                <a16:creationId xmlns:a16="http://schemas.microsoft.com/office/drawing/2014/main" id="{DCAC5147-3BF8-9198-FA11-9363F87D0F1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4"/>
              </a:ext>
            </a:extLst>
          </a:blip>
          <a:srcRect/>
          <a:stretch/>
        </p:blipFill>
        <p:spPr>
          <a:xfrm>
            <a:off x="16826158" y="9516543"/>
            <a:ext cx="1112812" cy="461922"/>
          </a:xfrm>
          <a:prstGeom prst="rect">
            <a:avLst/>
          </a:prstGeom>
        </p:spPr>
      </p:pic>
    </p:spTree>
    <p:custDataLst>
      <p:tags r:id="rId13"/>
    </p:custDataLst>
    <p:extLst>
      <p:ext uri="{BB962C8B-B14F-4D97-AF65-F5344CB8AC3E}">
        <p14:creationId xmlns:p14="http://schemas.microsoft.com/office/powerpoint/2010/main" val="519966091"/>
      </p:ext>
    </p:extLst>
  </p:cSld>
  <p:clrMap bg1="lt1" tx1="dk1" bg2="lt2" tx2="dk2" accent1="accent1" accent2="accent2" accent3="accent3" accent4="accent4" accent5="accent5" accent6="accent6" hlink="hlink" folHlink="folHlink"/>
  <p:sldLayoutIdLst>
    <p:sldLayoutId id="2147483836" r:id="rId1"/>
    <p:sldLayoutId id="2147483838" r:id="rId2"/>
    <p:sldLayoutId id="2147483821" r:id="rId3"/>
    <p:sldLayoutId id="2147483820" r:id="rId4"/>
    <p:sldLayoutId id="2147483819" r:id="rId5"/>
    <p:sldLayoutId id="2147483822" r:id="rId6"/>
    <p:sldLayoutId id="2147483824" r:id="rId7"/>
    <p:sldLayoutId id="2147483832" r:id="rId8"/>
    <p:sldLayoutId id="2147483837" r:id="rId9"/>
    <p:sldLayoutId id="2147483828" r:id="rId10"/>
    <p:sldLayoutId id="2147483829" r:id="rId11"/>
  </p:sldLayoutIdLst>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txStyles>
    <p:titleStyle>
      <a:lvl1pPr algn="l" defTabSz="1371600" rtl="0" eaLnBrk="1" latinLnBrk="0" hangingPunct="1">
        <a:lnSpc>
          <a:spcPct val="90000"/>
        </a:lnSpc>
        <a:spcBef>
          <a:spcPct val="0"/>
        </a:spcBef>
        <a:buNone/>
        <a:defRPr sz="5600" b="1" i="0" kern="1200">
          <a:solidFill>
            <a:schemeClr val="accent5"/>
          </a:solidFill>
          <a:latin typeface="Anova Bold" panose="020B0503020203020204" pitchFamily="34" charset="0"/>
          <a:ea typeface="+mj-ea"/>
          <a:cs typeface="+mj-cs"/>
        </a:defRPr>
      </a:lvl1pPr>
    </p:titleStyle>
    <p:bodyStyle>
      <a:lvl1pPr marL="365760" indent="-365760" algn="l" defTabSz="1371600" rtl="0" eaLnBrk="1" latinLnBrk="0" hangingPunct="1">
        <a:lnSpc>
          <a:spcPct val="85000"/>
        </a:lnSpc>
        <a:spcBef>
          <a:spcPts val="1600"/>
        </a:spcBef>
        <a:buClr>
          <a:schemeClr val="accent5"/>
        </a:buClr>
        <a:buFont typeface="Anova Light" panose="020B0403020203020204" pitchFamily="34" charset="0"/>
        <a:buChar char="•"/>
        <a:defRPr sz="3600" b="0" i="0" kern="1200">
          <a:solidFill>
            <a:schemeClr val="tx1"/>
          </a:solidFill>
          <a:latin typeface="+mn-lt"/>
          <a:ea typeface="+mn-ea"/>
          <a:cs typeface="+mn-cs"/>
        </a:defRPr>
      </a:lvl1pPr>
      <a:lvl2pPr marL="731520" indent="-365760" algn="l" defTabSz="1371600" rtl="0" eaLnBrk="1" latinLnBrk="0" hangingPunct="1">
        <a:lnSpc>
          <a:spcPct val="85000"/>
        </a:lnSpc>
        <a:spcBef>
          <a:spcPts val="1600"/>
        </a:spcBef>
        <a:buClr>
          <a:schemeClr val="accent5"/>
        </a:buClr>
        <a:buFont typeface="Anova Light" panose="020B0403020203020204" pitchFamily="34" charset="0"/>
        <a:buChar char="–"/>
        <a:defRPr sz="2800" b="0" i="0" kern="1200">
          <a:solidFill>
            <a:schemeClr val="tx1"/>
          </a:solidFill>
          <a:latin typeface="+mn-lt"/>
          <a:ea typeface="+mn-ea"/>
          <a:cs typeface="+mn-cs"/>
        </a:defRPr>
      </a:lvl2pPr>
      <a:lvl3pPr marL="1097280" indent="-365760" algn="l" defTabSz="1371600" rtl="0" eaLnBrk="1" latinLnBrk="0" hangingPunct="1">
        <a:lnSpc>
          <a:spcPct val="85000"/>
        </a:lnSpc>
        <a:spcBef>
          <a:spcPts val="1600"/>
        </a:spcBef>
        <a:buClr>
          <a:schemeClr val="accent5"/>
        </a:buClr>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4pPr>
      <a:lvl5pPr marL="30861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8DBA1A5-F11E-586C-AE20-3947111EA4AC}"/>
              </a:ext>
            </a:extLst>
          </p:cNvPr>
          <p:cNvSpPr/>
          <p:nvPr userDrawn="1"/>
        </p:nvSpPr>
        <p:spPr>
          <a:xfrm>
            <a:off x="16477128" y="9143999"/>
            <a:ext cx="1810872" cy="1143001"/>
          </a:xfrm>
          <a:prstGeom prst="rect">
            <a:avLst/>
          </a:prstGeom>
          <a:solidFill>
            <a:schemeClr val="accent5">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0C7363F-AF69-28E6-1F57-D691A99669FF}"/>
              </a:ext>
            </a:extLst>
          </p:cNvPr>
          <p:cNvPicPr>
            <a:picLocks noChangeAspect="1"/>
          </p:cNvPicPr>
          <p:nvPr userDrawn="1"/>
        </p:nvPicPr>
        <p:blipFill>
          <a:blip r:embed="rId14"/>
          <a:stretch>
            <a:fillRect/>
          </a:stretch>
        </p:blipFill>
        <p:spPr>
          <a:xfrm>
            <a:off x="0" y="9143999"/>
            <a:ext cx="16477128" cy="1143001"/>
          </a:xfrm>
          <a:prstGeom prst="rect">
            <a:avLst/>
          </a:prstGeom>
        </p:spPr>
      </p:pic>
      <p:sp>
        <p:nvSpPr>
          <p:cNvPr id="3" name="Text Placeholder 2"/>
          <p:cNvSpPr>
            <a:spLocks noGrp="1"/>
          </p:cNvSpPr>
          <p:nvPr>
            <p:ph type="body" idx="1"/>
          </p:nvPr>
        </p:nvSpPr>
        <p:spPr>
          <a:xfrm>
            <a:off x="1252432" y="2400300"/>
            <a:ext cx="15773400" cy="6444273"/>
          </a:xfrm>
          <a:prstGeom prst="rect">
            <a:avLst/>
          </a:prstGeom>
        </p:spPr>
        <p:txBody>
          <a:bodyPr vert="horz" lIns="0" tIns="0" rIns="0" bIns="0" rtlCol="0">
            <a:normAutofit/>
          </a:bodyPr>
          <a:lstStyle/>
          <a:p>
            <a:pPr lvl="0"/>
            <a:r>
              <a:rPr lang="en-US" dirty="0"/>
              <a:t>Click to Edit Text</a:t>
            </a:r>
          </a:p>
          <a:p>
            <a:pPr lvl="1"/>
            <a:r>
              <a:rPr lang="en-US" dirty="0"/>
              <a:t>Second level</a:t>
            </a:r>
          </a:p>
          <a:p>
            <a:pPr lvl="2"/>
            <a:r>
              <a:rPr lang="en-US" dirty="0"/>
              <a:t>Third level</a:t>
            </a:r>
          </a:p>
        </p:txBody>
      </p:sp>
      <p:sp>
        <p:nvSpPr>
          <p:cNvPr id="2" name="Title Placeholder 1"/>
          <p:cNvSpPr>
            <a:spLocks noGrp="1"/>
          </p:cNvSpPr>
          <p:nvPr>
            <p:ph type="title"/>
          </p:nvPr>
        </p:nvSpPr>
        <p:spPr>
          <a:xfrm>
            <a:off x="1252432" y="710304"/>
            <a:ext cx="15773400" cy="775596"/>
          </a:xfrm>
          <a:prstGeom prst="rect">
            <a:avLst/>
          </a:prstGeom>
        </p:spPr>
        <p:txBody>
          <a:bodyPr vert="horz" lIns="0" tIns="0" rIns="0" bIns="0" rtlCol="0" anchor="ctr">
            <a:normAutofit/>
          </a:bodyPr>
          <a:lstStyle/>
          <a:p>
            <a:r>
              <a:rPr lang="en-US" dirty="0"/>
              <a:t>Click to Add Slide Title</a:t>
            </a:r>
          </a:p>
        </p:txBody>
      </p:sp>
      <p:sp>
        <p:nvSpPr>
          <p:cNvPr id="8" name="TextBox 4">
            <a:extLst>
              <a:ext uri="{FF2B5EF4-FFF2-40B4-BE49-F238E27FC236}">
                <a16:creationId xmlns:a16="http://schemas.microsoft.com/office/drawing/2014/main" id="{C16FACEF-10C6-6BB8-EE57-ACF39B01B1D3}"/>
              </a:ext>
            </a:extLst>
          </p:cNvPr>
          <p:cNvSpPr txBox="1"/>
          <p:nvPr userDrawn="1"/>
        </p:nvSpPr>
        <p:spPr>
          <a:xfrm>
            <a:off x="1252432" y="9316082"/>
            <a:ext cx="8588993" cy="584775"/>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3200" b="1" i="0" u="none" strike="noStrike" kern="300" cap="none" spc="100" normalizeH="0" baseline="0" noProof="0" dirty="0">
                <a:ln>
                  <a:noFill/>
                </a:ln>
                <a:solidFill>
                  <a:schemeClr val="bg1"/>
                </a:solidFill>
                <a:effectLst/>
                <a:uLnTx/>
                <a:uFillTx/>
                <a:latin typeface="Anova Bold" panose="020B0503020203020204" pitchFamily="34" charset="0"/>
                <a:ea typeface="Anova Bold" panose="020B0703020203020204" pitchFamily="34" charset="0"/>
                <a:cs typeface="Anova Light" panose="020B0403020203020204" pitchFamily="34" charset="0"/>
              </a:rPr>
              <a:t>CONFIDENTIAL — DO NOT DISCLOSE</a:t>
            </a:r>
          </a:p>
        </p:txBody>
      </p:sp>
      <p:sp>
        <p:nvSpPr>
          <p:cNvPr id="10" name="TextBox 4">
            <a:extLst>
              <a:ext uri="{FF2B5EF4-FFF2-40B4-BE49-F238E27FC236}">
                <a16:creationId xmlns:a16="http://schemas.microsoft.com/office/drawing/2014/main" id="{73378641-98C0-74B8-EDAB-E5E4E2EEB661}"/>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dirty="0">
                <a:ln>
                  <a:noFill/>
                </a:ln>
                <a:solidFill>
                  <a:schemeClr val="bg1"/>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4" name="Picture 6">
            <a:extLst>
              <a:ext uri="{FF2B5EF4-FFF2-40B4-BE49-F238E27FC236}">
                <a16:creationId xmlns:a16="http://schemas.microsoft.com/office/drawing/2014/main" id="{A68AF4A5-1947-70D5-1EEC-327485090EC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p:blipFill>
        <p:spPr>
          <a:xfrm>
            <a:off x="16826158" y="9516543"/>
            <a:ext cx="1112812" cy="461922"/>
          </a:xfrm>
          <a:prstGeom prst="rect">
            <a:avLst/>
          </a:prstGeom>
        </p:spPr>
      </p:pic>
    </p:spTree>
    <p:custDataLst>
      <p:tags r:id="rId13"/>
    </p:custDataLst>
    <p:extLst>
      <p:ext uri="{BB962C8B-B14F-4D97-AF65-F5344CB8AC3E}">
        <p14:creationId xmlns:p14="http://schemas.microsoft.com/office/powerpoint/2010/main" val="2023423665"/>
      </p:ext>
    </p:extLst>
  </p:cSld>
  <p:clrMap bg1="lt1" tx1="dk1" bg2="lt2" tx2="dk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Lst>
  <mc:AlternateContent xmlns:mc="http://schemas.openxmlformats.org/markup-compatibility/2006" xmlns:p14="http://schemas.microsoft.com/office/powerpoint/2010/main">
    <mc:Choice Requires="p14">
      <p:transition spd="med" p14:dur="700">
        <p:fade/>
      </p:transition>
    </mc:Choice>
    <mc:Fallback xmlns="" xmlns:asvg="http://schemas.microsoft.com/office/drawing/2016/SVG/main" xmlns:a14="http://schemas.microsoft.com/office/drawing/2010/main" xmlns:a16="http://schemas.microsoft.com/office/drawing/2014/main">
      <p:transition spd="med">
        <p:fade/>
      </p:transition>
    </mc:Fallback>
  </mc:AlternateContent>
  <p:txStyles>
    <p:titleStyle>
      <a:lvl1pPr algn="l" defTabSz="1371600" rtl="0" eaLnBrk="1" latinLnBrk="0" hangingPunct="1">
        <a:lnSpc>
          <a:spcPct val="90000"/>
        </a:lnSpc>
        <a:spcBef>
          <a:spcPct val="0"/>
        </a:spcBef>
        <a:buNone/>
        <a:defRPr sz="5600" b="1" i="0" kern="1200">
          <a:solidFill>
            <a:schemeClr val="accent5"/>
          </a:solidFill>
          <a:latin typeface="Anova Bold" panose="020B0503020203020204" pitchFamily="34" charset="0"/>
          <a:ea typeface="+mj-ea"/>
          <a:cs typeface="+mj-cs"/>
        </a:defRPr>
      </a:lvl1pPr>
    </p:titleStyle>
    <p:bodyStyle>
      <a:lvl1pPr marL="365760" indent="-365760" algn="l" defTabSz="1371600" rtl="0" eaLnBrk="1" latinLnBrk="0" hangingPunct="1">
        <a:lnSpc>
          <a:spcPct val="85000"/>
        </a:lnSpc>
        <a:spcBef>
          <a:spcPts val="1600"/>
        </a:spcBef>
        <a:buClr>
          <a:schemeClr val="accent5"/>
        </a:buClr>
        <a:buFont typeface="Anova Light" panose="020B0403020203020204" pitchFamily="34" charset="0"/>
        <a:buChar char="•"/>
        <a:defRPr sz="3600" b="0" i="0" kern="1200">
          <a:solidFill>
            <a:schemeClr val="tx1"/>
          </a:solidFill>
          <a:latin typeface="+mn-lt"/>
          <a:ea typeface="+mn-ea"/>
          <a:cs typeface="+mn-cs"/>
        </a:defRPr>
      </a:lvl1pPr>
      <a:lvl2pPr marL="731520" indent="-365760" algn="l" defTabSz="1371600" rtl="0" eaLnBrk="1" latinLnBrk="0" hangingPunct="1">
        <a:lnSpc>
          <a:spcPct val="85000"/>
        </a:lnSpc>
        <a:spcBef>
          <a:spcPts val="1600"/>
        </a:spcBef>
        <a:buClr>
          <a:schemeClr val="accent5"/>
        </a:buClr>
        <a:buFont typeface="Anova Light" panose="020B0403020203020204" pitchFamily="34" charset="0"/>
        <a:buChar char="–"/>
        <a:defRPr sz="2800" b="0" i="0" kern="1200">
          <a:solidFill>
            <a:schemeClr val="tx1"/>
          </a:solidFill>
          <a:latin typeface="+mn-lt"/>
          <a:ea typeface="+mn-ea"/>
          <a:cs typeface="+mn-cs"/>
        </a:defRPr>
      </a:lvl2pPr>
      <a:lvl3pPr marL="1097280" indent="-365760" algn="l" defTabSz="1371600" rtl="0" eaLnBrk="1" latinLnBrk="0" hangingPunct="1">
        <a:lnSpc>
          <a:spcPct val="85000"/>
        </a:lnSpc>
        <a:spcBef>
          <a:spcPts val="1600"/>
        </a:spcBef>
        <a:buClr>
          <a:schemeClr val="accent5"/>
        </a:buClr>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4pPr>
      <a:lvl5pPr marL="30861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5CEDF-F0AE-17BE-B9ED-7B8C96041E60}"/>
              </a:ext>
            </a:extLst>
          </p:cNvPr>
          <p:cNvSpPr>
            <a:spLocks noGrp="1"/>
          </p:cNvSpPr>
          <p:nvPr>
            <p:ph type="title"/>
          </p:nvPr>
        </p:nvSpPr>
        <p:spPr>
          <a:xfrm>
            <a:off x="1252431" y="3019841"/>
            <a:ext cx="15778269" cy="1200329"/>
          </a:xfrm>
        </p:spPr>
        <p:txBody>
          <a:bodyPr/>
          <a:lstStyle/>
          <a:p>
            <a:r>
              <a:rPr lang="en-US" sz="6600"/>
              <a:t>SAS SpeedyStore Studio</a:t>
            </a:r>
          </a:p>
        </p:txBody>
      </p:sp>
      <p:sp>
        <p:nvSpPr>
          <p:cNvPr id="3" name="Text Placeholder 2">
            <a:extLst>
              <a:ext uri="{FF2B5EF4-FFF2-40B4-BE49-F238E27FC236}">
                <a16:creationId xmlns:a16="http://schemas.microsoft.com/office/drawing/2014/main" id="{5961F1D5-8043-555E-FAFF-353934F1ECAE}"/>
              </a:ext>
            </a:extLst>
          </p:cNvPr>
          <p:cNvSpPr>
            <a:spLocks noGrp="1"/>
          </p:cNvSpPr>
          <p:nvPr>
            <p:ph type="body" sz="quarter" idx="10"/>
          </p:nvPr>
        </p:nvSpPr>
        <p:spPr/>
        <p:txBody>
          <a:bodyPr/>
          <a:lstStyle/>
          <a:p>
            <a:r>
              <a:rPr lang="en-US"/>
              <a:t>Talk to your data platform</a:t>
            </a:r>
          </a:p>
        </p:txBody>
      </p:sp>
      <p:sp>
        <p:nvSpPr>
          <p:cNvPr id="4" name="Text Placeholder 3">
            <a:extLst>
              <a:ext uri="{FF2B5EF4-FFF2-40B4-BE49-F238E27FC236}">
                <a16:creationId xmlns:a16="http://schemas.microsoft.com/office/drawing/2014/main" id="{7FD6B331-D700-CF67-B3A3-49B96752D5A2}"/>
              </a:ext>
            </a:extLst>
          </p:cNvPr>
          <p:cNvSpPr>
            <a:spLocks noGrp="1"/>
          </p:cNvSpPr>
          <p:nvPr>
            <p:ph type="body" sz="quarter" idx="11"/>
          </p:nvPr>
        </p:nvSpPr>
        <p:spPr/>
        <p:txBody>
          <a:bodyPr/>
          <a:lstStyle/>
          <a:p>
            <a:r>
              <a:rPr lang="de-DE"/>
              <a:t>Jonas Lie-Nielsen  ·  SAS Innovate 2027</a:t>
            </a:r>
            <a:endParaRPr lang="en-US"/>
          </a:p>
        </p:txBody>
      </p:sp>
    </p:spTree>
    <p:extLst>
      <p:ext uri="{BB962C8B-B14F-4D97-AF65-F5344CB8AC3E}">
        <p14:creationId xmlns:p14="http://schemas.microsoft.com/office/powerpoint/2010/main" val="3418259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1BB98-409B-180A-156C-09ED8778936B}"/>
              </a:ext>
            </a:extLst>
          </p:cNvPr>
          <p:cNvSpPr>
            <a:spLocks noGrp="1"/>
          </p:cNvSpPr>
          <p:nvPr>
            <p:ph type="title"/>
          </p:nvPr>
        </p:nvSpPr>
        <p:spPr>
          <a:xfrm>
            <a:off x="1257300" y="821103"/>
            <a:ext cx="15773400" cy="553998"/>
          </a:xfrm>
        </p:spPr>
        <p:txBody>
          <a:bodyPr/>
          <a:lstStyle/>
          <a:p>
            <a:r>
              <a:rPr lang="en-US" sz="4000">
                <a:solidFill>
                  <a:srgbClr val="032954"/>
                </a:solidFill>
              </a:rPr>
              <a:t>Five windows for one job</a:t>
            </a:r>
          </a:p>
        </p:txBody>
      </p:sp>
      <p:sp>
        <p:nvSpPr>
          <p:cNvPr id="3" name="Rectangle: Rounded Corners 2">
            <a:extLst>
              <a:ext uri="{FF2B5EF4-FFF2-40B4-BE49-F238E27FC236}">
                <a16:creationId xmlns:a16="http://schemas.microsoft.com/office/drawing/2014/main" id="{6C77D494-93BC-6D86-2EB6-31FB55C89144}"/>
              </a:ext>
            </a:extLst>
          </p:cNvPr>
          <p:cNvSpPr/>
          <p:nvPr/>
        </p:nvSpPr>
        <p:spPr>
          <a:xfrm>
            <a:off x="1257300" y="2400300"/>
            <a:ext cx="2992120" cy="2540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45817436-AAA0-CA1F-F1CB-FA941F62AE5C}"/>
              </a:ext>
            </a:extLst>
          </p:cNvPr>
          <p:cNvCxnSpPr/>
          <p:nvPr/>
        </p:nvCxnSpPr>
        <p:spPr>
          <a:xfrm>
            <a:off x="1333500" y="2413000"/>
            <a:ext cx="2839720" cy="0"/>
          </a:xfrm>
          <a:prstGeom prst="line">
            <a:avLst/>
          </a:prstGeom>
          <a:ln w="38100">
            <a:solidFill>
              <a:srgbClr val="032954"/>
            </a:solidFill>
            <a:tailEnd type="non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5B8707A-1E6F-492F-1E24-0BB1CD780A90}"/>
              </a:ext>
            </a:extLst>
          </p:cNvPr>
          <p:cNvSpPr txBox="1"/>
          <p:nvPr/>
        </p:nvSpPr>
        <p:spPr>
          <a:xfrm>
            <a:off x="1333500" y="2476500"/>
            <a:ext cx="2839720" cy="553998"/>
          </a:xfrm>
          <a:prstGeom prst="rect">
            <a:avLst/>
          </a:prstGeom>
          <a:noFill/>
        </p:spPr>
        <p:txBody>
          <a:bodyPr vert="horz" wrap="square" lIns="101600" tIns="101600" rIns="101600" bIns="101600" rtlCol="0" anchor="t">
            <a:noAutofit/>
          </a:bodyPr>
          <a:lstStyle/>
          <a:p>
            <a:pPr>
              <a:lnSpc>
                <a:spcPct val="105000"/>
              </a:lnSpc>
            </a:pPr>
            <a:r>
              <a:rPr lang="en-US" sz="1100">
                <a:solidFill>
                  <a:srgbClr val="032954"/>
                </a:solidFill>
                <a:latin typeface="Anova Bold" panose="020B0604020202020204" charset="0"/>
              </a:rPr>
              <a:t>WINDOW 1</a:t>
            </a:r>
          </a:p>
          <a:p>
            <a:pPr>
              <a:lnSpc>
                <a:spcPct val="105000"/>
              </a:lnSpc>
              <a:spcBef>
                <a:spcPts val="200"/>
              </a:spcBef>
            </a:pPr>
            <a:r>
              <a:rPr lang="en-US" sz="2000">
                <a:solidFill>
                  <a:srgbClr val="032954"/>
                </a:solidFill>
                <a:latin typeface="Anova Bold" panose="020B0604020202020204" charset="0"/>
              </a:rPr>
              <a:t>SQL client</a:t>
            </a:r>
          </a:p>
          <a:p>
            <a:pPr>
              <a:lnSpc>
                <a:spcPct val="105000"/>
              </a:lnSpc>
              <a:spcBef>
                <a:spcPts val="400"/>
              </a:spcBef>
            </a:pPr>
            <a:r>
              <a:rPr lang="en-US" sz="1700">
                <a:solidFill>
                  <a:srgbClr val="000000"/>
                </a:solidFill>
                <a:latin typeface="Anova Light" panose="020B0604020202020204" charset="0"/>
              </a:rPr>
              <a:t>Write and run SQL against SingleStore. Knows the syntax, not your schema.</a:t>
            </a:r>
            <a:endParaRPr lang="en-US" sz="1700" dirty="0">
              <a:solidFill>
                <a:srgbClr val="000000"/>
              </a:solidFill>
              <a:latin typeface="Anova Light" panose="020B0604020202020204" charset="0"/>
            </a:endParaRPr>
          </a:p>
        </p:txBody>
      </p:sp>
      <p:sp>
        <p:nvSpPr>
          <p:cNvPr id="6" name="Rectangle: Rounded Corners 5">
            <a:extLst>
              <a:ext uri="{FF2B5EF4-FFF2-40B4-BE49-F238E27FC236}">
                <a16:creationId xmlns:a16="http://schemas.microsoft.com/office/drawing/2014/main" id="{0E25F444-26AA-CECC-B0D6-03CBCF85459A}"/>
              </a:ext>
            </a:extLst>
          </p:cNvPr>
          <p:cNvSpPr/>
          <p:nvPr/>
        </p:nvSpPr>
        <p:spPr>
          <a:xfrm>
            <a:off x="4452620" y="2400300"/>
            <a:ext cx="2992120" cy="2540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9C87CC55-9124-C94C-FEEB-370E044619C8}"/>
              </a:ext>
            </a:extLst>
          </p:cNvPr>
          <p:cNvCxnSpPr/>
          <p:nvPr/>
        </p:nvCxnSpPr>
        <p:spPr>
          <a:xfrm>
            <a:off x="4528820" y="2413000"/>
            <a:ext cx="2839720" cy="0"/>
          </a:xfrm>
          <a:prstGeom prst="line">
            <a:avLst/>
          </a:prstGeom>
          <a:ln w="38100">
            <a:solidFill>
              <a:srgbClr val="032954"/>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6AE16C5-3C24-6A32-E9BB-3C60999C056B}"/>
              </a:ext>
            </a:extLst>
          </p:cNvPr>
          <p:cNvSpPr txBox="1"/>
          <p:nvPr/>
        </p:nvSpPr>
        <p:spPr>
          <a:xfrm>
            <a:off x="4528820" y="2476500"/>
            <a:ext cx="2839720" cy="553998"/>
          </a:xfrm>
          <a:prstGeom prst="rect">
            <a:avLst/>
          </a:prstGeom>
          <a:noFill/>
        </p:spPr>
        <p:txBody>
          <a:bodyPr vert="horz" wrap="square" lIns="101600" tIns="101600" rIns="101600" bIns="101600" rtlCol="0" anchor="t">
            <a:noAutofit/>
          </a:bodyPr>
          <a:lstStyle/>
          <a:p>
            <a:pPr>
              <a:lnSpc>
                <a:spcPct val="105000"/>
              </a:lnSpc>
            </a:pPr>
            <a:r>
              <a:rPr lang="en-US" sz="1100">
                <a:solidFill>
                  <a:srgbClr val="032954"/>
                </a:solidFill>
                <a:latin typeface="Anova Bold" panose="020B0604020202020204" charset="0"/>
              </a:rPr>
              <a:t>WINDOW 2</a:t>
            </a:r>
          </a:p>
          <a:p>
            <a:pPr>
              <a:lnSpc>
                <a:spcPct val="105000"/>
              </a:lnSpc>
              <a:spcBef>
                <a:spcPts val="200"/>
              </a:spcBef>
            </a:pPr>
            <a:r>
              <a:rPr lang="en-US" sz="2000">
                <a:solidFill>
                  <a:srgbClr val="032954"/>
                </a:solidFill>
                <a:latin typeface="Anova Bold" panose="020B0604020202020204" charset="0"/>
              </a:rPr>
              <a:t>Notebook</a:t>
            </a:r>
          </a:p>
          <a:p>
            <a:pPr>
              <a:lnSpc>
                <a:spcPct val="105000"/>
              </a:lnSpc>
              <a:spcBef>
                <a:spcPts val="400"/>
              </a:spcBef>
            </a:pPr>
            <a:r>
              <a:rPr lang="en-US" sz="1700">
                <a:solidFill>
                  <a:srgbClr val="000000"/>
                </a:solidFill>
                <a:latin typeface="Anova Light" panose="020B0604020202020204" charset="0"/>
              </a:rPr>
              <a:t>Python for the analysis, a copy of the data pulled across for each try.</a:t>
            </a:r>
            <a:endParaRPr lang="en-US" sz="1700" dirty="0">
              <a:solidFill>
                <a:srgbClr val="000000"/>
              </a:solidFill>
              <a:latin typeface="Anova Light" panose="020B0604020202020204" charset="0"/>
            </a:endParaRPr>
          </a:p>
        </p:txBody>
      </p:sp>
      <p:sp>
        <p:nvSpPr>
          <p:cNvPr id="9" name="Rectangle: Rounded Corners 8">
            <a:extLst>
              <a:ext uri="{FF2B5EF4-FFF2-40B4-BE49-F238E27FC236}">
                <a16:creationId xmlns:a16="http://schemas.microsoft.com/office/drawing/2014/main" id="{544FC241-FB91-4769-338D-3759C06D7649}"/>
              </a:ext>
            </a:extLst>
          </p:cNvPr>
          <p:cNvSpPr/>
          <p:nvPr/>
        </p:nvSpPr>
        <p:spPr>
          <a:xfrm>
            <a:off x="7647940" y="2400300"/>
            <a:ext cx="2992121" cy="2540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9D4CFCE4-9AF1-95C5-FD06-B5E49F09FE08}"/>
              </a:ext>
            </a:extLst>
          </p:cNvPr>
          <p:cNvCxnSpPr/>
          <p:nvPr/>
        </p:nvCxnSpPr>
        <p:spPr>
          <a:xfrm>
            <a:off x="7724140" y="2413000"/>
            <a:ext cx="2839720" cy="0"/>
          </a:xfrm>
          <a:prstGeom prst="line">
            <a:avLst/>
          </a:prstGeom>
          <a:ln w="38100">
            <a:solidFill>
              <a:srgbClr val="032954"/>
            </a:solidFill>
            <a:tailEnd type="non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619FD70A-53C3-101B-C650-1F91B077EAEC}"/>
              </a:ext>
            </a:extLst>
          </p:cNvPr>
          <p:cNvSpPr txBox="1"/>
          <p:nvPr/>
        </p:nvSpPr>
        <p:spPr>
          <a:xfrm>
            <a:off x="7724140" y="2476500"/>
            <a:ext cx="2839720" cy="553998"/>
          </a:xfrm>
          <a:prstGeom prst="rect">
            <a:avLst/>
          </a:prstGeom>
          <a:noFill/>
        </p:spPr>
        <p:txBody>
          <a:bodyPr vert="horz" wrap="square" lIns="101600" tIns="101600" rIns="101600" bIns="101600" rtlCol="0" anchor="t">
            <a:noAutofit/>
          </a:bodyPr>
          <a:lstStyle/>
          <a:p>
            <a:pPr>
              <a:lnSpc>
                <a:spcPct val="105000"/>
              </a:lnSpc>
            </a:pPr>
            <a:r>
              <a:rPr lang="en-US" sz="1100">
                <a:solidFill>
                  <a:srgbClr val="032954"/>
                </a:solidFill>
                <a:latin typeface="Anova Bold" panose="020B0604020202020204" charset="0"/>
              </a:rPr>
              <a:t>WINDOW 3</a:t>
            </a:r>
          </a:p>
          <a:p>
            <a:pPr>
              <a:lnSpc>
                <a:spcPct val="105000"/>
              </a:lnSpc>
              <a:spcBef>
                <a:spcPts val="200"/>
              </a:spcBef>
            </a:pPr>
            <a:r>
              <a:rPr lang="en-US" sz="2000">
                <a:solidFill>
                  <a:srgbClr val="032954"/>
                </a:solidFill>
                <a:latin typeface="Anova Bold" panose="020B0604020202020204" charset="0"/>
              </a:rPr>
              <a:t>Pipeline and cluster consoles</a:t>
            </a:r>
          </a:p>
          <a:p>
            <a:pPr>
              <a:lnSpc>
                <a:spcPct val="105000"/>
              </a:lnSpc>
              <a:spcBef>
                <a:spcPts val="400"/>
              </a:spcBef>
            </a:pPr>
            <a:r>
              <a:rPr lang="en-US" sz="1700">
                <a:solidFill>
                  <a:srgbClr val="000000"/>
                </a:solidFill>
                <a:latin typeface="Anova Light" panose="020B0604020202020204" charset="0"/>
              </a:rPr>
              <a:t>Loads from Kafka and S3, node health, slow queries. Each in its own tool.</a:t>
            </a:r>
            <a:endParaRPr lang="en-US" sz="1700" dirty="0">
              <a:solidFill>
                <a:srgbClr val="000000"/>
              </a:solidFill>
              <a:latin typeface="Anova Light" panose="020B0604020202020204" charset="0"/>
            </a:endParaRPr>
          </a:p>
        </p:txBody>
      </p:sp>
      <p:sp>
        <p:nvSpPr>
          <p:cNvPr id="12" name="Rectangle: Rounded Corners 11">
            <a:extLst>
              <a:ext uri="{FF2B5EF4-FFF2-40B4-BE49-F238E27FC236}">
                <a16:creationId xmlns:a16="http://schemas.microsoft.com/office/drawing/2014/main" id="{2D47192B-9210-5469-860E-77E7A648A853}"/>
              </a:ext>
            </a:extLst>
          </p:cNvPr>
          <p:cNvSpPr/>
          <p:nvPr/>
        </p:nvSpPr>
        <p:spPr>
          <a:xfrm>
            <a:off x="10843260" y="2400300"/>
            <a:ext cx="2992120" cy="2540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9F32927D-0531-CF7B-0F0A-F5D630FED408}"/>
              </a:ext>
            </a:extLst>
          </p:cNvPr>
          <p:cNvCxnSpPr/>
          <p:nvPr/>
        </p:nvCxnSpPr>
        <p:spPr>
          <a:xfrm>
            <a:off x="10919460" y="2413000"/>
            <a:ext cx="2839720" cy="0"/>
          </a:xfrm>
          <a:prstGeom prst="line">
            <a:avLst/>
          </a:prstGeom>
          <a:ln w="38100">
            <a:solidFill>
              <a:srgbClr val="4398F9"/>
            </a:solidFill>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9D48689-077A-37BD-7ED6-B17C08F47E52}"/>
              </a:ext>
            </a:extLst>
          </p:cNvPr>
          <p:cNvSpPr txBox="1"/>
          <p:nvPr/>
        </p:nvSpPr>
        <p:spPr>
          <a:xfrm>
            <a:off x="10919460" y="2476500"/>
            <a:ext cx="2839720" cy="553998"/>
          </a:xfrm>
          <a:prstGeom prst="rect">
            <a:avLst/>
          </a:prstGeom>
          <a:noFill/>
        </p:spPr>
        <p:txBody>
          <a:bodyPr vert="horz" wrap="square" lIns="101600" tIns="101600" rIns="101600" bIns="101600" rtlCol="0" anchor="t">
            <a:noAutofit/>
          </a:bodyPr>
          <a:lstStyle/>
          <a:p>
            <a:pPr>
              <a:lnSpc>
                <a:spcPct val="105000"/>
              </a:lnSpc>
            </a:pPr>
            <a:r>
              <a:rPr lang="en-US" sz="1100">
                <a:solidFill>
                  <a:srgbClr val="4398F9"/>
                </a:solidFill>
                <a:latin typeface="Anova Bold" panose="020B0604020202020204" charset="0"/>
              </a:rPr>
              <a:t>WINDOW 4</a:t>
            </a:r>
          </a:p>
          <a:p>
            <a:pPr>
              <a:lnSpc>
                <a:spcPct val="105000"/>
              </a:lnSpc>
              <a:spcBef>
                <a:spcPts val="200"/>
              </a:spcBef>
            </a:pPr>
            <a:r>
              <a:rPr lang="en-US" sz="2000">
                <a:solidFill>
                  <a:srgbClr val="032954"/>
                </a:solidFill>
                <a:latin typeface="Anova Bold" panose="020B0604020202020204" charset="0"/>
              </a:rPr>
              <a:t>SAS Studio</a:t>
            </a:r>
          </a:p>
          <a:p>
            <a:pPr>
              <a:lnSpc>
                <a:spcPct val="105000"/>
              </a:lnSpc>
              <a:spcBef>
                <a:spcPts val="400"/>
              </a:spcBef>
            </a:pPr>
            <a:r>
              <a:rPr lang="en-US" sz="1700">
                <a:solidFill>
                  <a:srgbClr val="000000"/>
                </a:solidFill>
                <a:latin typeface="Anova Light" panose="020B0604020202020204" charset="0"/>
              </a:rPr>
              <a:t>The SAS side of the same data: libraries, caslibs, PROC SQL, FedSQL.</a:t>
            </a:r>
            <a:endParaRPr lang="en-US" sz="1700" dirty="0">
              <a:solidFill>
                <a:srgbClr val="000000"/>
              </a:solidFill>
              <a:latin typeface="Anova Light" panose="020B0604020202020204" charset="0"/>
            </a:endParaRPr>
          </a:p>
        </p:txBody>
      </p:sp>
      <p:sp>
        <p:nvSpPr>
          <p:cNvPr id="15" name="Rectangle: Rounded Corners 14">
            <a:extLst>
              <a:ext uri="{FF2B5EF4-FFF2-40B4-BE49-F238E27FC236}">
                <a16:creationId xmlns:a16="http://schemas.microsoft.com/office/drawing/2014/main" id="{C3D7C673-A74E-38B2-C51E-6B10CB896735}"/>
              </a:ext>
            </a:extLst>
          </p:cNvPr>
          <p:cNvSpPr/>
          <p:nvPr/>
        </p:nvSpPr>
        <p:spPr>
          <a:xfrm>
            <a:off x="14038580" y="2400300"/>
            <a:ext cx="2992120" cy="2540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6D0CE8E2-81FB-7F82-CD55-CF52D7CBF35C}"/>
              </a:ext>
            </a:extLst>
          </p:cNvPr>
          <p:cNvCxnSpPr/>
          <p:nvPr/>
        </p:nvCxnSpPr>
        <p:spPr>
          <a:xfrm>
            <a:off x="14114780" y="2413000"/>
            <a:ext cx="2839720" cy="0"/>
          </a:xfrm>
          <a:prstGeom prst="line">
            <a:avLst/>
          </a:prstGeom>
          <a:ln w="38100">
            <a:solidFill>
              <a:srgbClr val="0766D1"/>
            </a:solidFill>
            <a:tailEnd type="non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3A77245-2318-5748-88A8-F1743A4C05FE}"/>
              </a:ext>
            </a:extLst>
          </p:cNvPr>
          <p:cNvSpPr txBox="1"/>
          <p:nvPr/>
        </p:nvSpPr>
        <p:spPr>
          <a:xfrm>
            <a:off x="14114780" y="2476500"/>
            <a:ext cx="2839720" cy="553998"/>
          </a:xfrm>
          <a:prstGeom prst="rect">
            <a:avLst/>
          </a:prstGeom>
          <a:noFill/>
        </p:spPr>
        <p:txBody>
          <a:bodyPr vert="horz" wrap="square" lIns="101600" tIns="101600" rIns="101600" bIns="101600" rtlCol="0" anchor="t">
            <a:noAutofit/>
          </a:bodyPr>
          <a:lstStyle/>
          <a:p>
            <a:pPr>
              <a:lnSpc>
                <a:spcPct val="105000"/>
              </a:lnSpc>
            </a:pPr>
            <a:r>
              <a:rPr lang="en-US" sz="1100">
                <a:solidFill>
                  <a:srgbClr val="0766D1"/>
                </a:solidFill>
                <a:latin typeface="Anova Bold" panose="020B0604020202020204" charset="0"/>
              </a:rPr>
              <a:t>WINDOW 5</a:t>
            </a:r>
          </a:p>
          <a:p>
            <a:pPr>
              <a:lnSpc>
                <a:spcPct val="105000"/>
              </a:lnSpc>
              <a:spcBef>
                <a:spcPts val="200"/>
              </a:spcBef>
            </a:pPr>
            <a:r>
              <a:rPr lang="en-US" sz="2000">
                <a:solidFill>
                  <a:srgbClr val="032954"/>
                </a:solidFill>
                <a:latin typeface="Anova Bold" panose="020B0604020202020204" charset="0"/>
              </a:rPr>
              <a:t>The AI chat</a:t>
            </a:r>
          </a:p>
          <a:p>
            <a:pPr>
              <a:lnSpc>
                <a:spcPct val="105000"/>
              </a:lnSpc>
              <a:spcBef>
                <a:spcPts val="400"/>
              </a:spcBef>
            </a:pPr>
            <a:r>
              <a:rPr lang="en-US" sz="1700">
                <a:solidFill>
                  <a:srgbClr val="000000"/>
                </a:solidFill>
                <a:latin typeface="Anova Light" panose="020B0604020202020204" charset="0"/>
              </a:rPr>
              <a:t>Helpful, but blind: it never sees your tables, and you paste its answer somewhere else.</a:t>
            </a:r>
            <a:endParaRPr lang="en-US" sz="1700" dirty="0">
              <a:solidFill>
                <a:srgbClr val="000000"/>
              </a:solidFill>
              <a:latin typeface="Anova Light" panose="020B0604020202020204" charset="0"/>
            </a:endParaRPr>
          </a:p>
        </p:txBody>
      </p:sp>
      <p:sp>
        <p:nvSpPr>
          <p:cNvPr id="18" name="Rectangle: Rounded Corners 17">
            <a:extLst>
              <a:ext uri="{FF2B5EF4-FFF2-40B4-BE49-F238E27FC236}">
                <a16:creationId xmlns:a16="http://schemas.microsoft.com/office/drawing/2014/main" id="{F3E34D5B-797C-7A45-D5EA-E759FB13FA2B}"/>
              </a:ext>
            </a:extLst>
          </p:cNvPr>
          <p:cNvSpPr/>
          <p:nvPr/>
        </p:nvSpPr>
        <p:spPr>
          <a:xfrm>
            <a:off x="1257300" y="5194300"/>
            <a:ext cx="15773400" cy="889000"/>
          </a:xfrm>
          <a:prstGeom prst="roundRect">
            <a:avLst>
              <a:gd name="adj" fmla="val 4000"/>
            </a:avLst>
          </a:prstGeom>
          <a:solidFill>
            <a:srgbClr val="EEF4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F5A4F3B-2920-AABC-E083-079763F649BB}"/>
              </a:ext>
            </a:extLst>
          </p:cNvPr>
          <p:cNvSpPr txBox="1"/>
          <p:nvPr/>
        </p:nvSpPr>
        <p:spPr>
          <a:xfrm>
            <a:off x="1358900" y="5194300"/>
            <a:ext cx="15570200" cy="553998"/>
          </a:xfrm>
          <a:prstGeom prst="rect">
            <a:avLst/>
          </a:prstGeom>
          <a:noFill/>
        </p:spPr>
        <p:txBody>
          <a:bodyPr vert="horz" wrap="square" lIns="127000" tIns="127000" rIns="127000" bIns="127000" rtlCol="0" anchor="ctr">
            <a:noAutofit/>
          </a:bodyPr>
          <a:lstStyle/>
          <a:p>
            <a:pPr>
              <a:lnSpc>
                <a:spcPct val="105000"/>
              </a:lnSpc>
              <a:spcBef>
                <a:spcPts val="200"/>
              </a:spcBef>
            </a:pPr>
            <a:r>
              <a:rPr lang="en-US" sz="1700">
                <a:solidFill>
                  <a:srgbClr val="032954"/>
                </a:solidFill>
                <a:latin typeface="Anova Bold" panose="020B0604020202020204" charset="0"/>
              </a:rPr>
              <a:t>The cost.</a:t>
            </a:r>
            <a:r>
              <a:rPr lang="en-US" sz="1700">
                <a:solidFill>
                  <a:srgbClr val="032954"/>
                </a:solidFill>
                <a:latin typeface="Anova Light" panose="020B0604020202020204" charset="0"/>
              </a:rPr>
              <a:t> Context is lost at every switch. The assistant guesses column names, the notebook copies data that should stay in the database, and nobody sees the whole picture.</a:t>
            </a:r>
            <a:endParaRPr lang="en-US" sz="1700" dirty="0">
              <a:solidFill>
                <a:srgbClr val="032954"/>
              </a:solidFill>
              <a:latin typeface="Anova Light" panose="020B0604020202020204" charset="0"/>
            </a:endParaRPr>
          </a:p>
        </p:txBody>
      </p:sp>
    </p:spTree>
    <p:extLst>
      <p:ext uri="{BB962C8B-B14F-4D97-AF65-F5344CB8AC3E}">
        <p14:creationId xmlns:p14="http://schemas.microsoft.com/office/powerpoint/2010/main" val="198342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D4207-931B-5A0B-1E79-8E7092248AF2}"/>
              </a:ext>
            </a:extLst>
          </p:cNvPr>
          <p:cNvSpPr>
            <a:spLocks noGrp="1"/>
          </p:cNvSpPr>
          <p:nvPr>
            <p:ph type="title"/>
          </p:nvPr>
        </p:nvSpPr>
        <p:spPr>
          <a:xfrm>
            <a:off x="1257300" y="821103"/>
            <a:ext cx="15773400" cy="553998"/>
          </a:xfrm>
        </p:spPr>
        <p:txBody>
          <a:bodyPr/>
          <a:lstStyle/>
          <a:p>
            <a:r>
              <a:rPr lang="en-US" sz="4000">
                <a:solidFill>
                  <a:srgbClr val="032954"/>
                </a:solidFill>
              </a:rPr>
              <a:t>One workspace, with the assistant inside it</a:t>
            </a:r>
          </a:p>
        </p:txBody>
      </p:sp>
      <p:sp>
        <p:nvSpPr>
          <p:cNvPr id="3" name="Oval 2">
            <a:extLst>
              <a:ext uri="{FF2B5EF4-FFF2-40B4-BE49-F238E27FC236}">
                <a16:creationId xmlns:a16="http://schemas.microsoft.com/office/drawing/2014/main" id="{50BF2716-CE68-CC4A-63C1-F9C7C37D1D27}"/>
              </a:ext>
            </a:extLst>
          </p:cNvPr>
          <p:cNvSpPr/>
          <p:nvPr/>
        </p:nvSpPr>
        <p:spPr>
          <a:xfrm>
            <a:off x="2145942" y="4804446"/>
            <a:ext cx="722022" cy="722022"/>
          </a:xfrm>
          <a:prstGeom prst="ellipse">
            <a:avLst/>
          </a:prstGeom>
          <a:solidFill>
            <a:srgbClr val="EEF4FD"/>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6562E2B8-F0DF-84BA-1D86-2E5DCC182BFE}"/>
              </a:ext>
            </a:extLst>
          </p:cNvPr>
          <p:cNvSpPr/>
          <p:nvPr/>
        </p:nvSpPr>
        <p:spPr>
          <a:xfrm>
            <a:off x="1951552" y="5609778"/>
            <a:ext cx="1110803" cy="555401"/>
          </a:xfrm>
          <a:prstGeom prst="roundRect">
            <a:avLst>
              <a:gd name="adj" fmla="val 50000"/>
            </a:avLst>
          </a:prstGeom>
          <a:solidFill>
            <a:srgbClr val="EEF4FD"/>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9B97A53-845F-097B-BCEA-FE8B873A5317}"/>
              </a:ext>
            </a:extLst>
          </p:cNvPr>
          <p:cNvSpPr txBox="1"/>
          <p:nvPr/>
        </p:nvSpPr>
        <p:spPr>
          <a:xfrm>
            <a:off x="1535001" y="6415110"/>
            <a:ext cx="1943905" cy="553998"/>
          </a:xfrm>
          <a:prstGeom prst="rect">
            <a:avLst/>
          </a:prstGeom>
          <a:noFill/>
        </p:spPr>
        <p:txBody>
          <a:bodyPr vert="horz" wrap="square" lIns="76200" tIns="76200" rIns="76200" bIns="76200" rtlCol="0" anchor="t">
            <a:noAutofit/>
          </a:bodyPr>
          <a:lstStyle/>
          <a:p>
            <a:pPr algn="ctr">
              <a:lnSpc>
                <a:spcPct val="105000"/>
              </a:lnSpc>
              <a:spcBef>
                <a:spcPts val="200"/>
              </a:spcBef>
            </a:pPr>
            <a:r>
              <a:rPr lang="en-US" sz="1600">
                <a:solidFill>
                  <a:srgbClr val="032954"/>
                </a:solidFill>
                <a:latin typeface="Anova Bold" panose="020B0604020202020204" charset="0"/>
              </a:rPr>
              <a:t>You</a:t>
            </a:r>
          </a:p>
          <a:p>
            <a:pPr algn="ctr">
              <a:lnSpc>
                <a:spcPct val="105000"/>
              </a:lnSpc>
              <a:spcBef>
                <a:spcPts val="200"/>
              </a:spcBef>
            </a:pPr>
            <a:r>
              <a:rPr lang="en-US" sz="1200">
                <a:solidFill>
                  <a:srgbClr val="7E889A"/>
                </a:solidFill>
                <a:latin typeface="Anova Light" panose="020B0604020202020204" charset="0"/>
              </a:rPr>
              <a:t>analyst, engineer, DBA</a:t>
            </a:r>
            <a:endParaRPr lang="en-US" sz="1200" dirty="0">
              <a:solidFill>
                <a:srgbClr val="7E889A"/>
              </a:solidFill>
              <a:latin typeface="Anova Light" panose="020B0604020202020204" charset="0"/>
            </a:endParaRPr>
          </a:p>
        </p:txBody>
      </p:sp>
      <p:sp>
        <p:nvSpPr>
          <p:cNvPr id="6" name="Rectangle: Rounded Corners 5">
            <a:extLst>
              <a:ext uri="{FF2B5EF4-FFF2-40B4-BE49-F238E27FC236}">
                <a16:creationId xmlns:a16="http://schemas.microsoft.com/office/drawing/2014/main" id="{51AC5E3B-52CD-7C02-D90D-5310CF0C0184}"/>
              </a:ext>
            </a:extLst>
          </p:cNvPr>
          <p:cNvSpPr/>
          <p:nvPr/>
        </p:nvSpPr>
        <p:spPr>
          <a:xfrm>
            <a:off x="4034307" y="3082701"/>
            <a:ext cx="6525966" cy="4998613"/>
          </a:xfrm>
          <a:prstGeom prst="roundRect">
            <a:avLst>
              <a:gd name="adj" fmla="val 5000"/>
            </a:avLst>
          </a:prstGeom>
          <a:solidFill>
            <a:srgbClr val="FFFFFF"/>
          </a:solidFill>
          <a:ln w="25400">
            <a:solidFill>
              <a:srgbClr val="0766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C3E2B13-7680-E057-5DD4-CACD99980E13}"/>
              </a:ext>
            </a:extLst>
          </p:cNvPr>
          <p:cNvSpPr txBox="1"/>
          <p:nvPr/>
        </p:nvSpPr>
        <p:spPr>
          <a:xfrm>
            <a:off x="4200927" y="3193782"/>
            <a:ext cx="6109415" cy="553998"/>
          </a:xfrm>
          <a:prstGeom prst="rect">
            <a:avLst/>
          </a:prstGeom>
          <a:noFill/>
        </p:spPr>
        <p:txBody>
          <a:bodyPr vert="horz" wrap="square" lIns="76200" tIns="76200" rIns="76200" bIns="76200" rtlCol="0" anchor="t">
            <a:noAutofit/>
          </a:bodyPr>
          <a:lstStyle/>
          <a:p>
            <a:pPr>
              <a:lnSpc>
                <a:spcPct val="105000"/>
              </a:lnSpc>
              <a:spcBef>
                <a:spcPts val="200"/>
              </a:spcBef>
            </a:pPr>
            <a:r>
              <a:rPr lang="en-US" sz="1800">
                <a:solidFill>
                  <a:srgbClr val="032954"/>
                </a:solidFill>
                <a:latin typeface="Anova Bold" panose="020B0604020202020204" charset="0"/>
              </a:rPr>
              <a:t>SAS SpeedyStore Studio</a:t>
            </a:r>
          </a:p>
          <a:p>
            <a:pPr>
              <a:lnSpc>
                <a:spcPct val="105000"/>
              </a:lnSpc>
              <a:spcBef>
                <a:spcPts val="200"/>
              </a:spcBef>
            </a:pPr>
            <a:r>
              <a:rPr lang="en-US" sz="1200">
                <a:solidFill>
                  <a:srgbClr val="7E889A"/>
                </a:solidFill>
                <a:latin typeface="Anova Light" panose="020B0604020202020204" charset="0"/>
              </a:rPr>
              <a:t>one window, a rail of views, state kept between them</a:t>
            </a:r>
            <a:endParaRPr lang="en-US" sz="1200" dirty="0">
              <a:solidFill>
                <a:srgbClr val="7E889A"/>
              </a:solidFill>
              <a:latin typeface="Anova Light" panose="020B0604020202020204" charset="0"/>
            </a:endParaRPr>
          </a:p>
        </p:txBody>
      </p:sp>
      <p:sp>
        <p:nvSpPr>
          <p:cNvPr id="8" name="Rectangle: Rounded Corners 7">
            <a:extLst>
              <a:ext uri="{FF2B5EF4-FFF2-40B4-BE49-F238E27FC236}">
                <a16:creationId xmlns:a16="http://schemas.microsoft.com/office/drawing/2014/main" id="{EF686911-13B2-29F2-82BB-5B78DEFDFD86}"/>
              </a:ext>
            </a:extLst>
          </p:cNvPr>
          <p:cNvSpPr/>
          <p:nvPr/>
        </p:nvSpPr>
        <p:spPr>
          <a:xfrm>
            <a:off x="4367548" y="4249045"/>
            <a:ext cx="1555124" cy="2110525"/>
          </a:xfrm>
          <a:prstGeom prst="roundRect">
            <a:avLst>
              <a:gd name="adj" fmla="val 4000"/>
            </a:avLst>
          </a:prstGeom>
          <a:solidFill>
            <a:srgbClr val="EEF4FD"/>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857EA45-E3AC-44FD-F060-FE63B263F3F4}"/>
              </a:ext>
            </a:extLst>
          </p:cNvPr>
          <p:cNvSpPr txBox="1"/>
          <p:nvPr/>
        </p:nvSpPr>
        <p:spPr>
          <a:xfrm>
            <a:off x="4367548" y="4304585"/>
            <a:ext cx="1555124" cy="553998"/>
          </a:xfrm>
          <a:prstGeom prst="rect">
            <a:avLst/>
          </a:prstGeom>
          <a:noFill/>
        </p:spPr>
        <p:txBody>
          <a:bodyPr vert="horz" wrap="square" lIns="76200" tIns="76200" rIns="76200" bIns="76200" rtlCol="0" anchor="t">
            <a:noAutofit/>
          </a:bodyPr>
          <a:lstStyle/>
          <a:p>
            <a:pPr algn="ctr">
              <a:lnSpc>
                <a:spcPct val="105000"/>
              </a:lnSpc>
              <a:spcBef>
                <a:spcPts val="500"/>
              </a:spcBef>
            </a:pPr>
            <a:r>
              <a:rPr lang="en-US" sz="1300">
                <a:solidFill>
                  <a:srgbClr val="032954"/>
                </a:solidFill>
                <a:latin typeface="Anova Bold" panose="020B0604020202020204" charset="0"/>
              </a:rPr>
              <a:t>SQL</a:t>
            </a:r>
          </a:p>
          <a:p>
            <a:pPr algn="ctr">
              <a:lnSpc>
                <a:spcPct val="105000"/>
              </a:lnSpc>
              <a:spcBef>
                <a:spcPts val="500"/>
              </a:spcBef>
            </a:pPr>
            <a:r>
              <a:rPr lang="en-US" sz="1300">
                <a:solidFill>
                  <a:srgbClr val="032954"/>
                </a:solidFill>
                <a:latin typeface="Anova Bold" panose="020B0604020202020204" charset="0"/>
              </a:rPr>
              <a:t>Notebook</a:t>
            </a:r>
          </a:p>
          <a:p>
            <a:pPr algn="ctr">
              <a:lnSpc>
                <a:spcPct val="105000"/>
              </a:lnSpc>
              <a:spcBef>
                <a:spcPts val="500"/>
              </a:spcBef>
            </a:pPr>
            <a:r>
              <a:rPr lang="en-US" sz="1300">
                <a:solidFill>
                  <a:srgbClr val="032954"/>
                </a:solidFill>
                <a:latin typeface="Anova Bold" panose="020B0604020202020204" charset="0"/>
              </a:rPr>
              <a:t>Schema</a:t>
            </a:r>
          </a:p>
          <a:p>
            <a:pPr algn="ctr">
              <a:lnSpc>
                <a:spcPct val="105000"/>
              </a:lnSpc>
              <a:spcBef>
                <a:spcPts val="500"/>
              </a:spcBef>
            </a:pPr>
            <a:r>
              <a:rPr lang="en-US" sz="1300">
                <a:solidFill>
                  <a:srgbClr val="032954"/>
                </a:solidFill>
                <a:latin typeface="Anova Bold" panose="020B0604020202020204" charset="0"/>
              </a:rPr>
              <a:t>Pipelines</a:t>
            </a:r>
          </a:p>
          <a:p>
            <a:pPr algn="ctr">
              <a:lnSpc>
                <a:spcPct val="105000"/>
              </a:lnSpc>
              <a:spcBef>
                <a:spcPts val="500"/>
              </a:spcBef>
            </a:pPr>
            <a:r>
              <a:rPr lang="en-US" sz="1300">
                <a:solidFill>
                  <a:srgbClr val="032954"/>
                </a:solidFill>
                <a:latin typeface="Anova Bold" panose="020B0604020202020204" charset="0"/>
              </a:rPr>
              <a:t>Cluster</a:t>
            </a:r>
          </a:p>
          <a:p>
            <a:pPr algn="ctr">
              <a:lnSpc>
                <a:spcPct val="105000"/>
              </a:lnSpc>
              <a:spcBef>
                <a:spcPts val="500"/>
              </a:spcBef>
            </a:pPr>
            <a:r>
              <a:rPr lang="en-US" sz="1000">
                <a:solidFill>
                  <a:srgbClr val="7E889A"/>
                </a:solidFill>
                <a:latin typeface="Anova Light" panose="020B0604020202020204" charset="0"/>
              </a:rPr>
              <a:t>+ 4 more views</a:t>
            </a:r>
            <a:endParaRPr lang="en-US" sz="1000" dirty="0">
              <a:solidFill>
                <a:srgbClr val="7E889A"/>
              </a:solidFill>
              <a:latin typeface="Anova Light" panose="020B0604020202020204" charset="0"/>
            </a:endParaRPr>
          </a:p>
        </p:txBody>
      </p:sp>
      <p:sp>
        <p:nvSpPr>
          <p:cNvPr id="10" name="Rectangle: Rounded Corners 9">
            <a:extLst>
              <a:ext uri="{FF2B5EF4-FFF2-40B4-BE49-F238E27FC236}">
                <a16:creationId xmlns:a16="http://schemas.microsoft.com/office/drawing/2014/main" id="{4336EA90-5E55-9AB7-67C6-6870671A0F77}"/>
              </a:ext>
            </a:extLst>
          </p:cNvPr>
          <p:cNvSpPr/>
          <p:nvPr/>
        </p:nvSpPr>
        <p:spPr>
          <a:xfrm>
            <a:off x="6144832" y="4249045"/>
            <a:ext cx="4109971" cy="2110525"/>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B30E89A-A63C-4D17-5D53-4FE82581953A}"/>
              </a:ext>
            </a:extLst>
          </p:cNvPr>
          <p:cNvSpPr txBox="1"/>
          <p:nvPr/>
        </p:nvSpPr>
        <p:spPr>
          <a:xfrm>
            <a:off x="6228143" y="4332355"/>
            <a:ext cx="3971120" cy="553998"/>
          </a:xfrm>
          <a:prstGeom prst="rect">
            <a:avLst/>
          </a:prstGeom>
          <a:noFill/>
        </p:spPr>
        <p:txBody>
          <a:bodyPr vert="horz" wrap="square" lIns="76200" tIns="76200" rIns="76200" bIns="76200" rtlCol="0" anchor="t">
            <a:noAutofit/>
          </a:bodyPr>
          <a:lstStyle/>
          <a:p>
            <a:pPr>
              <a:lnSpc>
                <a:spcPct val="105000"/>
              </a:lnSpc>
              <a:spcBef>
                <a:spcPts val="200"/>
              </a:spcBef>
            </a:pPr>
            <a:r>
              <a:rPr lang="en-US" sz="1200">
                <a:solidFill>
                  <a:srgbClr val="032954"/>
                </a:solidFill>
                <a:latin typeface="Consolas" panose="020B0609020204030204" pitchFamily="49" charset="0"/>
              </a:rPr>
              <a:t>SELECT region, sum(amount)</a:t>
            </a:r>
          </a:p>
          <a:p>
            <a:pPr>
              <a:lnSpc>
                <a:spcPct val="105000"/>
              </a:lnSpc>
              <a:spcBef>
                <a:spcPts val="200"/>
              </a:spcBef>
            </a:pPr>
            <a:r>
              <a:rPr lang="en-US" sz="1200">
                <a:solidFill>
                  <a:srgbClr val="032954"/>
                </a:solidFill>
                <a:latin typeface="Consolas" panose="020B0609020204030204" pitchFamily="49" charset="0"/>
              </a:rPr>
              <a:t>FROM SASDP.Sales</a:t>
            </a:r>
          </a:p>
          <a:p>
            <a:pPr>
              <a:lnSpc>
                <a:spcPct val="105000"/>
              </a:lnSpc>
              <a:spcBef>
                <a:spcPts val="200"/>
              </a:spcBef>
            </a:pPr>
            <a:r>
              <a:rPr lang="en-US" sz="1200">
                <a:solidFill>
                  <a:srgbClr val="032954"/>
                </a:solidFill>
                <a:latin typeface="Consolas" panose="020B0609020204030204" pitchFamily="49" charset="0"/>
              </a:rPr>
              <a:t>GROUP BY region;</a:t>
            </a:r>
            <a:endParaRPr lang="en-US" sz="1200" dirty="0">
              <a:solidFill>
                <a:srgbClr val="032954"/>
              </a:solidFill>
              <a:latin typeface="Consolas" panose="020B0609020204030204" pitchFamily="49" charset="0"/>
            </a:endParaRPr>
          </a:p>
        </p:txBody>
      </p:sp>
      <p:sp>
        <p:nvSpPr>
          <p:cNvPr id="12" name="TextBox 11">
            <a:extLst>
              <a:ext uri="{FF2B5EF4-FFF2-40B4-BE49-F238E27FC236}">
                <a16:creationId xmlns:a16="http://schemas.microsoft.com/office/drawing/2014/main" id="{80452859-9C26-8D18-0112-10A58EC6FEA0}"/>
              </a:ext>
            </a:extLst>
          </p:cNvPr>
          <p:cNvSpPr txBox="1"/>
          <p:nvPr/>
        </p:nvSpPr>
        <p:spPr>
          <a:xfrm>
            <a:off x="6228143" y="5609778"/>
            <a:ext cx="3971120" cy="553998"/>
          </a:xfrm>
          <a:prstGeom prst="rect">
            <a:avLst/>
          </a:prstGeom>
          <a:noFill/>
        </p:spPr>
        <p:txBody>
          <a:bodyPr vert="horz" wrap="square" lIns="76200" tIns="76200" rIns="76200" bIns="76200" rtlCol="0" anchor="t">
            <a:noAutofit/>
          </a:bodyPr>
          <a:lstStyle/>
          <a:p>
            <a:pPr>
              <a:lnSpc>
                <a:spcPct val="105000"/>
              </a:lnSpc>
              <a:spcBef>
                <a:spcPts val="200"/>
              </a:spcBef>
            </a:pPr>
            <a:r>
              <a:rPr lang="en-US" sz="1100">
                <a:solidFill>
                  <a:srgbClr val="7E889A"/>
                </a:solidFill>
                <a:latin typeface="Anova Light" panose="020B0604020202020204" charset="0"/>
              </a:rPr>
              <a:t>Run as: SingleStore SQL, PROC SQL, FedSQL or FedSQL in CAS. Grid, chart, log.</a:t>
            </a:r>
            <a:endParaRPr lang="en-US" sz="1100" dirty="0">
              <a:solidFill>
                <a:srgbClr val="7E889A"/>
              </a:solidFill>
              <a:latin typeface="Anova Light" panose="020B0604020202020204" charset="0"/>
            </a:endParaRPr>
          </a:p>
        </p:txBody>
      </p:sp>
      <p:sp>
        <p:nvSpPr>
          <p:cNvPr id="13" name="Rectangle: Rounded Corners 12">
            <a:extLst>
              <a:ext uri="{FF2B5EF4-FFF2-40B4-BE49-F238E27FC236}">
                <a16:creationId xmlns:a16="http://schemas.microsoft.com/office/drawing/2014/main" id="{6B3B7E2C-FC86-40A1-2BDA-65DD258D0A45}"/>
              </a:ext>
            </a:extLst>
          </p:cNvPr>
          <p:cNvSpPr/>
          <p:nvPr/>
        </p:nvSpPr>
        <p:spPr>
          <a:xfrm>
            <a:off x="4367548" y="6553960"/>
            <a:ext cx="5887255" cy="1194114"/>
          </a:xfrm>
          <a:prstGeom prst="roundRect">
            <a:avLst>
              <a:gd name="adj" fmla="val 4000"/>
            </a:avLst>
          </a:prstGeom>
          <a:solidFill>
            <a:srgbClr val="C4DEFD"/>
          </a:solidFill>
          <a:ln w="9525">
            <a:solidFill>
              <a:srgbClr val="0766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54E98D2-3D9F-6859-9660-E48BA6946C2C}"/>
              </a:ext>
            </a:extLst>
          </p:cNvPr>
          <p:cNvSpPr txBox="1"/>
          <p:nvPr/>
        </p:nvSpPr>
        <p:spPr>
          <a:xfrm>
            <a:off x="4478628" y="6637270"/>
            <a:ext cx="5692865" cy="553998"/>
          </a:xfrm>
          <a:prstGeom prst="rect">
            <a:avLst/>
          </a:prstGeom>
          <a:noFill/>
        </p:spPr>
        <p:txBody>
          <a:bodyPr vert="horz" wrap="square" lIns="76200" tIns="76200" rIns="76200" bIns="76200" rtlCol="0" anchor="t">
            <a:noAutofit/>
          </a:bodyPr>
          <a:lstStyle/>
          <a:p>
            <a:pPr>
              <a:lnSpc>
                <a:spcPct val="105000"/>
              </a:lnSpc>
              <a:spcBef>
                <a:spcPts val="200"/>
              </a:spcBef>
            </a:pPr>
            <a:r>
              <a:rPr lang="en-US" sz="1400">
                <a:solidFill>
                  <a:srgbClr val="032954"/>
                </a:solidFill>
                <a:latin typeface="Anova Bold" panose="020B0604020202020204" charset="0"/>
              </a:rPr>
              <a:t>Claude, in the panel</a:t>
            </a:r>
          </a:p>
          <a:p>
            <a:pPr>
              <a:lnSpc>
                <a:spcPct val="105000"/>
              </a:lnSpc>
              <a:spcBef>
                <a:spcPts val="200"/>
              </a:spcBef>
            </a:pPr>
            <a:r>
              <a:rPr lang="en-US" sz="1200">
                <a:solidFill>
                  <a:srgbClr val="032954"/>
                </a:solidFill>
                <a:latin typeface="Anova Light" panose="020B0604020202020204" charset="0"/>
              </a:rPr>
              <a:t>reads the schema, runs read-only queries, and writes SQL, Python or SAS code you insert with one click</a:t>
            </a:r>
            <a:endParaRPr lang="en-US" sz="1200" dirty="0">
              <a:solidFill>
                <a:srgbClr val="032954"/>
              </a:solidFill>
              <a:latin typeface="Anova Light" panose="020B0604020202020204" charset="0"/>
            </a:endParaRPr>
          </a:p>
        </p:txBody>
      </p:sp>
      <p:cxnSp>
        <p:nvCxnSpPr>
          <p:cNvPr id="15" name="Straight Connector 14">
            <a:extLst>
              <a:ext uri="{FF2B5EF4-FFF2-40B4-BE49-F238E27FC236}">
                <a16:creationId xmlns:a16="http://schemas.microsoft.com/office/drawing/2014/main" id="{DD1B889D-A6D3-CC91-BDDD-EFB297B164CA}"/>
              </a:ext>
            </a:extLst>
          </p:cNvPr>
          <p:cNvCxnSpPr/>
          <p:nvPr/>
        </p:nvCxnSpPr>
        <p:spPr>
          <a:xfrm>
            <a:off x="3090125" y="5165457"/>
            <a:ext cx="916412" cy="0"/>
          </a:xfrm>
          <a:prstGeom prst="line">
            <a:avLst/>
          </a:prstGeom>
          <a:ln w="19050">
            <a:solidFill>
              <a:srgbClr val="7E889A"/>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5CE89F9-0316-88B8-CD87-2C55F25E7F4D}"/>
              </a:ext>
            </a:extLst>
          </p:cNvPr>
          <p:cNvCxnSpPr/>
          <p:nvPr/>
        </p:nvCxnSpPr>
        <p:spPr>
          <a:xfrm>
            <a:off x="10588044" y="4610055"/>
            <a:ext cx="2582616" cy="0"/>
          </a:xfrm>
          <a:prstGeom prst="line">
            <a:avLst/>
          </a:prstGeom>
          <a:ln w="19050">
            <a:solidFill>
              <a:srgbClr val="7E889A"/>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AE56A2F-E320-7B2D-4E0D-D54CBA75A20A}"/>
              </a:ext>
            </a:extLst>
          </p:cNvPr>
          <p:cNvCxnSpPr/>
          <p:nvPr/>
        </p:nvCxnSpPr>
        <p:spPr>
          <a:xfrm>
            <a:off x="10588044" y="6692811"/>
            <a:ext cx="2582616" cy="0"/>
          </a:xfrm>
          <a:prstGeom prst="line">
            <a:avLst/>
          </a:prstGeom>
          <a:ln w="19050">
            <a:solidFill>
              <a:srgbClr val="7E889A"/>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A127911-B7B1-B782-F2CA-AEA9EF2A656E}"/>
              </a:ext>
            </a:extLst>
          </p:cNvPr>
          <p:cNvSpPr txBox="1"/>
          <p:nvPr/>
        </p:nvSpPr>
        <p:spPr>
          <a:xfrm>
            <a:off x="10588044" y="4165734"/>
            <a:ext cx="2582617" cy="553998"/>
          </a:xfrm>
          <a:prstGeom prst="rect">
            <a:avLst/>
          </a:prstGeom>
          <a:noFill/>
        </p:spPr>
        <p:txBody>
          <a:bodyPr vert="horz" wrap="square" lIns="0" tIns="0" rIns="0" bIns="0" rtlCol="0" anchor="t">
            <a:noAutofit/>
          </a:bodyPr>
          <a:lstStyle/>
          <a:p>
            <a:pPr algn="ctr">
              <a:lnSpc>
                <a:spcPct val="105000"/>
              </a:lnSpc>
              <a:spcBef>
                <a:spcPts val="200"/>
              </a:spcBef>
            </a:pPr>
            <a:r>
              <a:rPr lang="en-US" sz="1100">
                <a:solidFill>
                  <a:srgbClr val="7E889A"/>
                </a:solidFill>
                <a:latin typeface="Anova Light" panose="020B0604020202020204" charset="0"/>
              </a:rPr>
              <a:t>SQL, pipelines, monitoring</a:t>
            </a:r>
            <a:endParaRPr lang="en-US" sz="1100" dirty="0">
              <a:solidFill>
                <a:srgbClr val="7E889A"/>
              </a:solidFill>
              <a:latin typeface="Anova Light" panose="020B0604020202020204" charset="0"/>
            </a:endParaRPr>
          </a:p>
        </p:txBody>
      </p:sp>
      <p:sp>
        <p:nvSpPr>
          <p:cNvPr id="19" name="TextBox 18">
            <a:extLst>
              <a:ext uri="{FF2B5EF4-FFF2-40B4-BE49-F238E27FC236}">
                <a16:creationId xmlns:a16="http://schemas.microsoft.com/office/drawing/2014/main" id="{C1CF8D50-4740-FA2C-E08C-92DD62A9EF26}"/>
              </a:ext>
            </a:extLst>
          </p:cNvPr>
          <p:cNvSpPr txBox="1"/>
          <p:nvPr/>
        </p:nvSpPr>
        <p:spPr>
          <a:xfrm>
            <a:off x="10588044" y="6248490"/>
            <a:ext cx="2582617" cy="553998"/>
          </a:xfrm>
          <a:prstGeom prst="rect">
            <a:avLst/>
          </a:prstGeom>
          <a:noFill/>
        </p:spPr>
        <p:txBody>
          <a:bodyPr vert="horz" wrap="square" lIns="0" tIns="0" rIns="0" bIns="0" rtlCol="0" anchor="t">
            <a:noAutofit/>
          </a:bodyPr>
          <a:lstStyle/>
          <a:p>
            <a:pPr algn="ctr">
              <a:lnSpc>
                <a:spcPct val="105000"/>
              </a:lnSpc>
              <a:spcBef>
                <a:spcPts val="200"/>
              </a:spcBef>
            </a:pPr>
            <a:r>
              <a:rPr lang="en-US" sz="1100">
                <a:solidFill>
                  <a:srgbClr val="7E889A"/>
                </a:solidFill>
                <a:latin typeface="Anova Light" panose="020B0604020202020204" charset="0"/>
              </a:rPr>
              <a:t>REST: Compute, CAS, files</a:t>
            </a:r>
            <a:endParaRPr lang="en-US" sz="1100" dirty="0">
              <a:solidFill>
                <a:srgbClr val="7E889A"/>
              </a:solidFill>
              <a:latin typeface="Anova Light" panose="020B0604020202020204" charset="0"/>
            </a:endParaRPr>
          </a:p>
        </p:txBody>
      </p:sp>
      <p:sp>
        <p:nvSpPr>
          <p:cNvPr id="20" name="TextBox 19">
            <a:extLst>
              <a:ext uri="{FF2B5EF4-FFF2-40B4-BE49-F238E27FC236}">
                <a16:creationId xmlns:a16="http://schemas.microsoft.com/office/drawing/2014/main" id="{563265FB-1B57-EF07-DF21-ABDA734D8CD7}"/>
              </a:ext>
            </a:extLst>
          </p:cNvPr>
          <p:cNvSpPr txBox="1"/>
          <p:nvPr/>
        </p:nvSpPr>
        <p:spPr>
          <a:xfrm>
            <a:off x="10421424" y="5304307"/>
            <a:ext cx="2915857" cy="553998"/>
          </a:xfrm>
          <a:prstGeom prst="rect">
            <a:avLst/>
          </a:prstGeom>
          <a:noFill/>
        </p:spPr>
        <p:txBody>
          <a:bodyPr vert="horz" wrap="square" lIns="0" tIns="0" rIns="0" bIns="0" rtlCol="0" anchor="t">
            <a:noAutofit/>
          </a:bodyPr>
          <a:lstStyle/>
          <a:p>
            <a:pPr algn="ctr">
              <a:lnSpc>
                <a:spcPct val="105000"/>
              </a:lnSpc>
              <a:spcBef>
                <a:spcPts val="200"/>
              </a:spcBef>
            </a:pPr>
            <a:r>
              <a:rPr lang="en-US" sz="1300">
                <a:solidFill>
                  <a:srgbClr val="0766D1"/>
                </a:solidFill>
                <a:latin typeface="Anova Bold" panose="020B0604020202020204" charset="0"/>
              </a:rPr>
              <a:t>Model Context Protocol</a:t>
            </a:r>
          </a:p>
          <a:p>
            <a:pPr algn="ctr">
              <a:lnSpc>
                <a:spcPct val="105000"/>
              </a:lnSpc>
              <a:spcBef>
                <a:spcPts val="200"/>
              </a:spcBef>
            </a:pPr>
            <a:r>
              <a:rPr lang="en-US" sz="1100">
                <a:solidFill>
                  <a:srgbClr val="7E889A"/>
                </a:solidFill>
                <a:latin typeface="Anova Light" panose="020B0604020202020204" charset="0"/>
              </a:rPr>
              <a:t>tools an assistant can use</a:t>
            </a:r>
            <a:endParaRPr lang="en-US" sz="1100" dirty="0">
              <a:solidFill>
                <a:srgbClr val="7E889A"/>
              </a:solidFill>
              <a:latin typeface="Anova Light" panose="020B0604020202020204" charset="0"/>
            </a:endParaRPr>
          </a:p>
        </p:txBody>
      </p:sp>
      <p:sp>
        <p:nvSpPr>
          <p:cNvPr id="21" name="Rectangle: Rounded Corners 20">
            <a:extLst>
              <a:ext uri="{FF2B5EF4-FFF2-40B4-BE49-F238E27FC236}">
                <a16:creationId xmlns:a16="http://schemas.microsoft.com/office/drawing/2014/main" id="{9F682388-BB58-F5D3-D421-9CF17C08883F}"/>
              </a:ext>
            </a:extLst>
          </p:cNvPr>
          <p:cNvSpPr/>
          <p:nvPr/>
        </p:nvSpPr>
        <p:spPr>
          <a:xfrm>
            <a:off x="13198430" y="3860263"/>
            <a:ext cx="3499028" cy="1527354"/>
          </a:xfrm>
          <a:prstGeom prst="roundRect">
            <a:avLst>
              <a:gd name="adj" fmla="val 8000"/>
            </a:avLst>
          </a:prstGeom>
          <a:solidFill>
            <a:srgbClr val="FFFFFF"/>
          </a:solidFill>
          <a:ln w="25400">
            <a:solidFill>
              <a:srgbClr val="0329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44867DD-F30B-BD51-DCD5-03C7BC294168}"/>
              </a:ext>
            </a:extLst>
          </p:cNvPr>
          <p:cNvSpPr txBox="1"/>
          <p:nvPr/>
        </p:nvSpPr>
        <p:spPr>
          <a:xfrm>
            <a:off x="13281741" y="3971344"/>
            <a:ext cx="3332409" cy="553998"/>
          </a:xfrm>
          <a:prstGeom prst="rect">
            <a:avLst/>
          </a:prstGeom>
          <a:noFill/>
        </p:spPr>
        <p:txBody>
          <a:bodyPr vert="horz" wrap="square" lIns="76200" tIns="76200" rIns="76200" bIns="76200" rtlCol="0" anchor="t">
            <a:noAutofit/>
          </a:bodyPr>
          <a:lstStyle/>
          <a:p>
            <a:pPr algn="ctr">
              <a:lnSpc>
                <a:spcPct val="105000"/>
              </a:lnSpc>
              <a:spcBef>
                <a:spcPts val="200"/>
              </a:spcBef>
            </a:pPr>
            <a:r>
              <a:rPr lang="en-US" sz="1700">
                <a:solidFill>
                  <a:srgbClr val="032954"/>
                </a:solidFill>
                <a:latin typeface="Anova Bold" panose="020B0604020202020204" charset="0"/>
              </a:rPr>
              <a:t>SAS SpeedyStore</a:t>
            </a:r>
          </a:p>
          <a:p>
            <a:pPr algn="ctr">
              <a:lnSpc>
                <a:spcPct val="105000"/>
              </a:lnSpc>
              <a:spcBef>
                <a:spcPts val="200"/>
              </a:spcBef>
            </a:pPr>
            <a:r>
              <a:rPr lang="en-US" sz="1200">
                <a:solidFill>
                  <a:srgbClr val="7E889A"/>
                </a:solidFill>
                <a:latin typeface="Anova Light" panose="020B0604020202020204" charset="0"/>
              </a:rPr>
              <a:t>SingleStore, self-managed or Helios</a:t>
            </a:r>
          </a:p>
          <a:p>
            <a:pPr algn="ctr">
              <a:lnSpc>
                <a:spcPct val="105000"/>
              </a:lnSpc>
              <a:spcBef>
                <a:spcPts val="200"/>
              </a:spcBef>
            </a:pPr>
            <a:r>
              <a:rPr lang="en-US" sz="1200">
                <a:solidFill>
                  <a:srgbClr val="7E889A"/>
                </a:solidFill>
                <a:latin typeface="Anova Light" panose="020B0604020202020204" charset="0"/>
              </a:rPr>
              <a:t>databases, pipelines, nodes</a:t>
            </a:r>
            <a:endParaRPr lang="en-US" sz="1200" dirty="0">
              <a:solidFill>
                <a:srgbClr val="7E889A"/>
              </a:solidFill>
              <a:latin typeface="Anova Light" panose="020B0604020202020204" charset="0"/>
            </a:endParaRPr>
          </a:p>
        </p:txBody>
      </p:sp>
      <p:sp>
        <p:nvSpPr>
          <p:cNvPr id="23" name="Rectangle: Rounded Corners 22">
            <a:extLst>
              <a:ext uri="{FF2B5EF4-FFF2-40B4-BE49-F238E27FC236}">
                <a16:creationId xmlns:a16="http://schemas.microsoft.com/office/drawing/2014/main" id="{856B3486-385E-BBF2-6D9D-9158F8614D3A}"/>
              </a:ext>
            </a:extLst>
          </p:cNvPr>
          <p:cNvSpPr/>
          <p:nvPr/>
        </p:nvSpPr>
        <p:spPr>
          <a:xfrm>
            <a:off x="13198430" y="5943019"/>
            <a:ext cx="3499028" cy="1527354"/>
          </a:xfrm>
          <a:prstGeom prst="roundRect">
            <a:avLst>
              <a:gd name="adj" fmla="val 8000"/>
            </a:avLst>
          </a:prstGeom>
          <a:solidFill>
            <a:srgbClr val="FFFFFF"/>
          </a:solidFill>
          <a:ln w="25400">
            <a:solidFill>
              <a:srgbClr val="4398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442FDB1A-2B2A-D51B-B598-8B5C27A8F5A7}"/>
              </a:ext>
            </a:extLst>
          </p:cNvPr>
          <p:cNvSpPr txBox="1"/>
          <p:nvPr/>
        </p:nvSpPr>
        <p:spPr>
          <a:xfrm>
            <a:off x="13281741" y="6054099"/>
            <a:ext cx="3332409" cy="553998"/>
          </a:xfrm>
          <a:prstGeom prst="rect">
            <a:avLst/>
          </a:prstGeom>
          <a:noFill/>
        </p:spPr>
        <p:txBody>
          <a:bodyPr vert="horz" wrap="square" lIns="76200" tIns="76200" rIns="76200" bIns="76200" rtlCol="0" anchor="t">
            <a:noAutofit/>
          </a:bodyPr>
          <a:lstStyle/>
          <a:p>
            <a:pPr algn="ctr">
              <a:lnSpc>
                <a:spcPct val="105000"/>
              </a:lnSpc>
              <a:spcBef>
                <a:spcPts val="200"/>
              </a:spcBef>
            </a:pPr>
            <a:r>
              <a:rPr lang="en-US" sz="1700">
                <a:solidFill>
                  <a:srgbClr val="032954"/>
                </a:solidFill>
                <a:latin typeface="Anova Bold" panose="020B0604020202020204" charset="0"/>
              </a:rPr>
              <a:t>SAS Viya</a:t>
            </a:r>
          </a:p>
          <a:p>
            <a:pPr algn="ctr">
              <a:lnSpc>
                <a:spcPct val="105000"/>
              </a:lnSpc>
              <a:spcBef>
                <a:spcPts val="200"/>
              </a:spcBef>
            </a:pPr>
            <a:r>
              <a:rPr lang="en-US" sz="1200">
                <a:solidFill>
                  <a:srgbClr val="7E889A"/>
                </a:solidFill>
                <a:latin typeface="Anova Light" panose="020B0604020202020204" charset="0"/>
              </a:rPr>
              <a:t>Compute and CAS sessions</a:t>
            </a:r>
          </a:p>
          <a:p>
            <a:pPr algn="ctr">
              <a:lnSpc>
                <a:spcPct val="105000"/>
              </a:lnSpc>
              <a:spcBef>
                <a:spcPts val="200"/>
              </a:spcBef>
            </a:pPr>
            <a:r>
              <a:rPr lang="en-US" sz="1200">
                <a:solidFill>
                  <a:srgbClr val="7E889A"/>
                </a:solidFill>
                <a:latin typeface="Anova Light" panose="020B0604020202020204" charset="0"/>
              </a:rPr>
              <a:t>SAS Content, libraries, caslibs</a:t>
            </a:r>
            <a:endParaRPr lang="en-US" sz="1200" dirty="0">
              <a:solidFill>
                <a:srgbClr val="7E889A"/>
              </a:solidFill>
              <a:latin typeface="Anova Light" panose="020B0604020202020204" charset="0"/>
            </a:endParaRPr>
          </a:p>
        </p:txBody>
      </p:sp>
      <p:cxnSp>
        <p:nvCxnSpPr>
          <p:cNvPr id="25" name="Straight Connector 24">
            <a:extLst>
              <a:ext uri="{FF2B5EF4-FFF2-40B4-BE49-F238E27FC236}">
                <a16:creationId xmlns:a16="http://schemas.microsoft.com/office/drawing/2014/main" id="{F2D21A3F-5C17-BE8E-2EB8-FF1C6F3943CF}"/>
              </a:ext>
            </a:extLst>
          </p:cNvPr>
          <p:cNvCxnSpPr/>
          <p:nvPr/>
        </p:nvCxnSpPr>
        <p:spPr>
          <a:xfrm flipV="1">
            <a:off x="14947945" y="5415387"/>
            <a:ext cx="0" cy="499862"/>
          </a:xfrm>
          <a:prstGeom prst="line">
            <a:avLst/>
          </a:prstGeom>
          <a:ln w="19050">
            <a:solidFill>
              <a:srgbClr val="4398F9"/>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3460E1DF-CC44-C297-5545-A52317D73372}"/>
              </a:ext>
            </a:extLst>
          </p:cNvPr>
          <p:cNvSpPr txBox="1"/>
          <p:nvPr/>
        </p:nvSpPr>
        <p:spPr>
          <a:xfrm>
            <a:off x="15086795" y="5470927"/>
            <a:ext cx="1666204" cy="553998"/>
          </a:xfrm>
          <a:prstGeom prst="rect">
            <a:avLst/>
          </a:prstGeom>
          <a:noFill/>
        </p:spPr>
        <p:txBody>
          <a:bodyPr vert="horz" wrap="square" lIns="0" tIns="0" rIns="0" bIns="0" rtlCol="0" anchor="t">
            <a:noAutofit/>
          </a:bodyPr>
          <a:lstStyle/>
          <a:p>
            <a:pPr>
              <a:lnSpc>
                <a:spcPct val="105000"/>
              </a:lnSpc>
              <a:spcBef>
                <a:spcPts val="200"/>
              </a:spcBef>
            </a:pPr>
            <a:r>
              <a:rPr lang="en-US" sz="1000">
                <a:solidFill>
                  <a:srgbClr val="7E889A"/>
                </a:solidFill>
                <a:latin typeface="Anova Light" panose="020B0604020202020204" charset="0"/>
              </a:rPr>
              <a:t>SAS/ACCESS, CAS pushdown</a:t>
            </a:r>
            <a:endParaRPr lang="en-US" sz="1000" dirty="0">
              <a:solidFill>
                <a:srgbClr val="7E889A"/>
              </a:solidFill>
              <a:latin typeface="Anova Light" panose="020B0604020202020204" charset="0"/>
            </a:endParaRPr>
          </a:p>
        </p:txBody>
      </p:sp>
      <p:sp>
        <p:nvSpPr>
          <p:cNvPr id="27" name="TextBox 26">
            <a:extLst>
              <a:ext uri="{FF2B5EF4-FFF2-40B4-BE49-F238E27FC236}">
                <a16:creationId xmlns:a16="http://schemas.microsoft.com/office/drawing/2014/main" id="{7213B50C-C2D8-05CD-E75B-62A893D688B7}"/>
              </a:ext>
            </a:extLst>
          </p:cNvPr>
          <p:cNvSpPr txBox="1"/>
          <p:nvPr/>
        </p:nvSpPr>
        <p:spPr>
          <a:xfrm>
            <a:off x="1257300" y="8763000"/>
            <a:ext cx="15773400" cy="553998"/>
          </a:xfrm>
          <a:prstGeom prst="rect">
            <a:avLst/>
          </a:prstGeom>
          <a:noFill/>
        </p:spPr>
        <p:txBody>
          <a:bodyPr vert="horz" wrap="square" lIns="0" tIns="0" rIns="0" bIns="0" rtlCol="0" anchor="t">
            <a:noAutofit/>
          </a:bodyPr>
          <a:lstStyle/>
          <a:p>
            <a:pPr>
              <a:lnSpc>
                <a:spcPct val="105000"/>
              </a:lnSpc>
              <a:spcBef>
                <a:spcPts val="200"/>
              </a:spcBef>
            </a:pPr>
            <a:r>
              <a:rPr lang="en-US" sz="1300">
                <a:solidFill>
                  <a:srgbClr val="7E889A"/>
                </a:solidFill>
                <a:latin typeface="Anova Light" panose="020B0604020202020204" charset="0"/>
              </a:rPr>
              <a:t>The Studio is the person's workbench. The assistant is a helper inside it, with read-only tools; you review and run what it suggests.</a:t>
            </a:r>
            <a:endParaRPr lang="en-US" sz="1300" dirty="0">
              <a:solidFill>
                <a:srgbClr val="7E889A"/>
              </a:solidFill>
              <a:latin typeface="Anova Light" panose="020B0604020202020204" charset="0"/>
            </a:endParaRPr>
          </a:p>
        </p:txBody>
      </p:sp>
    </p:spTree>
    <p:extLst>
      <p:ext uri="{BB962C8B-B14F-4D97-AF65-F5344CB8AC3E}">
        <p14:creationId xmlns:p14="http://schemas.microsoft.com/office/powerpoint/2010/main" val="1282251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84D64-8D0D-74FD-261E-E5471526DECA}"/>
              </a:ext>
            </a:extLst>
          </p:cNvPr>
          <p:cNvSpPr>
            <a:spLocks noGrp="1"/>
          </p:cNvSpPr>
          <p:nvPr>
            <p:ph type="title"/>
          </p:nvPr>
        </p:nvSpPr>
        <p:spPr>
          <a:xfrm>
            <a:off x="1257300" y="821103"/>
            <a:ext cx="15773400" cy="553998"/>
          </a:xfrm>
        </p:spPr>
        <p:txBody>
          <a:bodyPr/>
          <a:lstStyle/>
          <a:p>
            <a:r>
              <a:rPr lang="en-US" sz="4000">
                <a:solidFill>
                  <a:srgbClr val="032954"/>
                </a:solidFill>
              </a:rPr>
              <a:t>A SQL editor that knows your schema and your SAS</a:t>
            </a:r>
          </a:p>
        </p:txBody>
      </p:sp>
      <p:sp>
        <p:nvSpPr>
          <p:cNvPr id="3" name="Rectangle: Rounded Corners 2">
            <a:extLst>
              <a:ext uri="{FF2B5EF4-FFF2-40B4-BE49-F238E27FC236}">
                <a16:creationId xmlns:a16="http://schemas.microsoft.com/office/drawing/2014/main" id="{5D8B84D6-0DF5-D0B3-D235-D646ED014B40}"/>
              </a:ext>
            </a:extLst>
          </p:cNvPr>
          <p:cNvSpPr/>
          <p:nvPr/>
        </p:nvSpPr>
        <p:spPr>
          <a:xfrm>
            <a:off x="1257300" y="2400300"/>
            <a:ext cx="7785100" cy="3429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9E52BDD0-8C10-B98C-7AAF-EB6049DD5AD9}"/>
              </a:ext>
            </a:extLst>
          </p:cNvPr>
          <p:cNvCxnSpPr/>
          <p:nvPr/>
        </p:nvCxnSpPr>
        <p:spPr>
          <a:xfrm>
            <a:off x="1333500" y="2413000"/>
            <a:ext cx="7632700" cy="0"/>
          </a:xfrm>
          <a:prstGeom prst="line">
            <a:avLst/>
          </a:prstGeom>
          <a:ln w="38100">
            <a:solidFill>
              <a:srgbClr val="032954"/>
            </a:solidFill>
            <a:tailEnd type="non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313E2C2-30C6-AEC1-48A3-52E434013513}"/>
              </a:ext>
            </a:extLst>
          </p:cNvPr>
          <p:cNvSpPr txBox="1"/>
          <p:nvPr/>
        </p:nvSpPr>
        <p:spPr>
          <a:xfrm>
            <a:off x="1333500" y="2476500"/>
            <a:ext cx="7632700" cy="553998"/>
          </a:xfrm>
          <a:prstGeom prst="rect">
            <a:avLst/>
          </a:prstGeom>
          <a:noFill/>
        </p:spPr>
        <p:txBody>
          <a:bodyPr vert="horz" wrap="square" lIns="101600" tIns="101600" rIns="101600" bIns="101600" rtlCol="0" anchor="t">
            <a:noAutofit/>
          </a:bodyPr>
          <a:lstStyle/>
          <a:p>
            <a:pPr>
              <a:lnSpc>
                <a:spcPct val="105000"/>
              </a:lnSpc>
            </a:pPr>
            <a:r>
              <a:rPr lang="en-US" sz="1100">
                <a:solidFill>
                  <a:srgbClr val="032954"/>
                </a:solidFill>
                <a:latin typeface="Anova Bold" panose="020B0604020202020204" charset="0"/>
              </a:rPr>
              <a:t>SINGLESTORE</a:t>
            </a:r>
          </a:p>
          <a:p>
            <a:pPr>
              <a:lnSpc>
                <a:spcPct val="105000"/>
              </a:lnSpc>
              <a:spcBef>
                <a:spcPts val="200"/>
              </a:spcBef>
            </a:pPr>
            <a:r>
              <a:rPr lang="en-US" sz="2100">
                <a:solidFill>
                  <a:srgbClr val="032954"/>
                </a:solidFill>
                <a:latin typeface="Anova Bold" panose="020B0604020202020204" charset="0"/>
              </a:rPr>
              <a:t>SQL with the schema at hand</a:t>
            </a:r>
            <a:endParaRPr lang="en-US" sz="2100" dirty="0">
              <a:solidFill>
                <a:srgbClr val="032954"/>
              </a:solidFill>
              <a:latin typeface="Anova Bold" panose="020B0604020202020204" charset="0"/>
            </a:endParaRPr>
          </a:p>
        </p:txBody>
      </p:sp>
      <p:sp>
        <p:nvSpPr>
          <p:cNvPr id="6" name="TextBox 5">
            <a:extLst>
              <a:ext uri="{FF2B5EF4-FFF2-40B4-BE49-F238E27FC236}">
                <a16:creationId xmlns:a16="http://schemas.microsoft.com/office/drawing/2014/main" id="{D581C277-74A2-14C7-A76A-E3F6A1E49C5A}"/>
              </a:ext>
            </a:extLst>
          </p:cNvPr>
          <p:cNvSpPr txBox="1"/>
          <p:nvPr/>
        </p:nvSpPr>
        <p:spPr>
          <a:xfrm>
            <a:off x="1333500" y="3187700"/>
            <a:ext cx="7632700" cy="553998"/>
          </a:xfrm>
          <a:prstGeom prst="rect">
            <a:avLst/>
          </a:prstGeom>
          <a:noFill/>
        </p:spPr>
        <p:txBody>
          <a:bodyPr vert="horz" wrap="square" lIns="101600" tIns="101600" rIns="101600" bIns="101600" rtlCol="0" anchor="t">
            <a:noAutofit/>
          </a:bodyPr>
          <a:lstStyle/>
          <a:p>
            <a:pPr marL="177800" indent="-177800">
              <a:lnSpc>
                <a:spcPct val="105000"/>
              </a:lnSpc>
              <a:spcBef>
                <a:spcPts val="400"/>
              </a:spcBef>
              <a:buClr>
                <a:srgbClr val="0766D1"/>
              </a:buClr>
              <a:buSzPct val="90000"/>
              <a:buFont typeface="+mj-lt"/>
              <a:buChar char="•"/>
            </a:pPr>
            <a:r>
              <a:rPr lang="en-US" sz="1700">
                <a:solidFill>
                  <a:srgbClr val="000000"/>
                </a:solidFill>
                <a:latin typeface="Anova Light" panose="020B0604020202020204" charset="0"/>
              </a:rPr>
              <a:t>Autocomplete for SingleStore SQL, built-in functions with signatures, your databases, tables, columns and procedures</a:t>
            </a:r>
          </a:p>
          <a:p>
            <a:pPr marL="177800" indent="-177800">
              <a:lnSpc>
                <a:spcPct val="105000"/>
              </a:lnSpc>
              <a:spcBef>
                <a:spcPts val="400"/>
              </a:spcBef>
              <a:buClr>
                <a:srgbClr val="0766D1"/>
              </a:buClr>
              <a:buSzPct val="90000"/>
              <a:buFont typeface="+mj-lt"/>
              <a:buChar char="•"/>
            </a:pPr>
            <a:r>
              <a:rPr lang="en-US" sz="1700">
                <a:solidFill>
                  <a:srgbClr val="000000"/>
                </a:solidFill>
                <a:latin typeface="Anova Light" panose="020B0604020202020204" charset="0"/>
              </a:rPr>
              <a:t>Ctrl+Enter runs the statement under the cursor; Run all runs a whole script and gives each statement its own result tab</a:t>
            </a:r>
          </a:p>
          <a:p>
            <a:pPr marL="177800" indent="-177800">
              <a:lnSpc>
                <a:spcPct val="105000"/>
              </a:lnSpc>
              <a:spcBef>
                <a:spcPts val="400"/>
              </a:spcBef>
              <a:buClr>
                <a:srgbClr val="0766D1"/>
              </a:buClr>
              <a:buSzPct val="90000"/>
              <a:buFont typeface="+mj-lt"/>
              <a:buChar char="•"/>
            </a:pPr>
            <a:r>
              <a:rPr lang="en-US" sz="1700">
                <a:solidFill>
                  <a:srgbClr val="000000"/>
                </a:solidFill>
                <a:latin typeface="Anova Light" panose="020B0604020202020204" charset="0"/>
              </a:rPr>
              <a:t>Reads run at once; statements that change data or schema ask first</a:t>
            </a:r>
          </a:p>
          <a:p>
            <a:pPr marL="177800" indent="-177800">
              <a:lnSpc>
                <a:spcPct val="105000"/>
              </a:lnSpc>
              <a:spcBef>
                <a:spcPts val="400"/>
              </a:spcBef>
              <a:buClr>
                <a:srgbClr val="0766D1"/>
              </a:buClr>
              <a:buSzPct val="90000"/>
              <a:buFont typeface="+mj-lt"/>
              <a:buChar char="•"/>
            </a:pPr>
            <a:r>
              <a:rPr lang="en-US" sz="1700">
                <a:solidFill>
                  <a:srgbClr val="000000"/>
                </a:solidFill>
                <a:latin typeface="Anova Light" panose="020B0604020202020204" charset="0"/>
              </a:rPr>
              <a:t>Results grid, sorting and CSV export, a chart from the result, run history, tabs with their own database and file</a:t>
            </a:r>
            <a:endParaRPr lang="en-US" sz="1700" dirty="0">
              <a:solidFill>
                <a:srgbClr val="000000"/>
              </a:solidFill>
              <a:latin typeface="Anova Light" panose="020B0604020202020204" charset="0"/>
            </a:endParaRPr>
          </a:p>
        </p:txBody>
      </p:sp>
      <p:sp>
        <p:nvSpPr>
          <p:cNvPr id="7" name="Rectangle: Rounded Corners 6">
            <a:extLst>
              <a:ext uri="{FF2B5EF4-FFF2-40B4-BE49-F238E27FC236}">
                <a16:creationId xmlns:a16="http://schemas.microsoft.com/office/drawing/2014/main" id="{C8A9979F-F240-73A5-7F4D-53BB2AD0A601}"/>
              </a:ext>
            </a:extLst>
          </p:cNvPr>
          <p:cNvSpPr/>
          <p:nvPr/>
        </p:nvSpPr>
        <p:spPr>
          <a:xfrm>
            <a:off x="9245600" y="2400300"/>
            <a:ext cx="7785100" cy="3429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4C55EF7E-7814-DDCB-D321-3A824BF7E399}"/>
              </a:ext>
            </a:extLst>
          </p:cNvPr>
          <p:cNvCxnSpPr/>
          <p:nvPr/>
        </p:nvCxnSpPr>
        <p:spPr>
          <a:xfrm>
            <a:off x="9321800" y="2413000"/>
            <a:ext cx="7632700" cy="0"/>
          </a:xfrm>
          <a:prstGeom prst="line">
            <a:avLst/>
          </a:prstGeom>
          <a:ln w="38100">
            <a:solidFill>
              <a:srgbClr val="4398F9"/>
            </a:solidFill>
            <a:tailEnd type="non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95BAA36-E91A-99E6-3BBB-8FED18F1DF89}"/>
              </a:ext>
            </a:extLst>
          </p:cNvPr>
          <p:cNvSpPr txBox="1"/>
          <p:nvPr/>
        </p:nvSpPr>
        <p:spPr>
          <a:xfrm>
            <a:off x="9321800" y="2476500"/>
            <a:ext cx="7632700" cy="553998"/>
          </a:xfrm>
          <a:prstGeom prst="rect">
            <a:avLst/>
          </a:prstGeom>
          <a:noFill/>
        </p:spPr>
        <p:txBody>
          <a:bodyPr vert="horz" wrap="square" lIns="101600" tIns="101600" rIns="101600" bIns="101600" rtlCol="0" anchor="t">
            <a:noAutofit/>
          </a:bodyPr>
          <a:lstStyle/>
          <a:p>
            <a:pPr>
              <a:lnSpc>
                <a:spcPct val="105000"/>
              </a:lnSpc>
            </a:pPr>
            <a:r>
              <a:rPr lang="en-US" sz="1100">
                <a:solidFill>
                  <a:srgbClr val="4398F9"/>
                </a:solidFill>
                <a:latin typeface="Anova Bold" panose="020B0604020202020204" charset="0"/>
              </a:rPr>
              <a:t>SAS VIYA</a:t>
            </a:r>
          </a:p>
          <a:p>
            <a:pPr>
              <a:lnSpc>
                <a:spcPct val="105000"/>
              </a:lnSpc>
              <a:spcBef>
                <a:spcPts val="200"/>
              </a:spcBef>
            </a:pPr>
            <a:r>
              <a:rPr lang="en-US" sz="2100">
                <a:solidFill>
                  <a:srgbClr val="032954"/>
                </a:solidFill>
                <a:latin typeface="Anova Bold" panose="020B0604020202020204" charset="0"/>
              </a:rPr>
              <a:t>The same SQL, through SAS</a:t>
            </a:r>
            <a:endParaRPr lang="en-US" sz="2100" dirty="0">
              <a:solidFill>
                <a:srgbClr val="032954"/>
              </a:solidFill>
              <a:latin typeface="Anova Bold" panose="020B0604020202020204" charset="0"/>
            </a:endParaRPr>
          </a:p>
        </p:txBody>
      </p:sp>
      <p:sp>
        <p:nvSpPr>
          <p:cNvPr id="10" name="TextBox 9">
            <a:extLst>
              <a:ext uri="{FF2B5EF4-FFF2-40B4-BE49-F238E27FC236}">
                <a16:creationId xmlns:a16="http://schemas.microsoft.com/office/drawing/2014/main" id="{A06B1761-605F-7023-6CA9-046F08C95014}"/>
              </a:ext>
            </a:extLst>
          </p:cNvPr>
          <p:cNvSpPr txBox="1"/>
          <p:nvPr/>
        </p:nvSpPr>
        <p:spPr>
          <a:xfrm>
            <a:off x="9321800" y="3187700"/>
            <a:ext cx="7632700" cy="553998"/>
          </a:xfrm>
          <a:prstGeom prst="rect">
            <a:avLst/>
          </a:prstGeom>
          <a:noFill/>
        </p:spPr>
        <p:txBody>
          <a:bodyPr vert="horz" wrap="square" lIns="101600" tIns="101600" rIns="101600" bIns="101600" rtlCol="0" anchor="t">
            <a:noAutofit/>
          </a:bodyPr>
          <a:lstStyle/>
          <a:p>
            <a:pPr marL="177800" indent="-177800">
              <a:lnSpc>
                <a:spcPct val="105000"/>
              </a:lnSpc>
              <a:spcBef>
                <a:spcPts val="400"/>
              </a:spcBef>
              <a:buClr>
                <a:srgbClr val="0766D1"/>
              </a:buClr>
              <a:buSzPct val="90000"/>
              <a:buFont typeface="+mj-lt"/>
              <a:buChar char="•"/>
            </a:pPr>
            <a:r>
              <a:rPr lang="en-US" sz="1700">
                <a:solidFill>
                  <a:srgbClr val="000000"/>
                </a:solidFill>
                <a:latin typeface="Anova Light" panose="020B0604020202020204" charset="0"/>
              </a:rPr>
              <a:t>Run as picks the language: SingleStore SQL, PROC SQL, FedSQL or FedSQL in CAS, with the matching tree of databases, libraries or caslibs</a:t>
            </a:r>
          </a:p>
          <a:p>
            <a:pPr marL="177800" indent="-177800">
              <a:lnSpc>
                <a:spcPct val="105000"/>
              </a:lnSpc>
              <a:spcBef>
                <a:spcPts val="400"/>
              </a:spcBef>
              <a:buClr>
                <a:srgbClr val="0766D1"/>
              </a:buClr>
              <a:buSzPct val="90000"/>
              <a:buFont typeface="+mj-lt"/>
              <a:buChar char="•"/>
            </a:pPr>
            <a:r>
              <a:rPr lang="en-US" sz="1700">
                <a:solidFill>
                  <a:srgbClr val="000000"/>
                </a:solidFill>
                <a:latin typeface="Anova Light" panose="020B0604020202020204" charset="0"/>
              </a:rPr>
              <a:t>Result, the SAS log and a Pushdown tab that shows what SAS handed to SingleStore</a:t>
            </a:r>
          </a:p>
          <a:p>
            <a:pPr marL="177800" indent="-177800">
              <a:lnSpc>
                <a:spcPct val="105000"/>
              </a:lnSpc>
              <a:spcBef>
                <a:spcPts val="400"/>
              </a:spcBef>
              <a:buClr>
                <a:srgbClr val="0766D1"/>
              </a:buClr>
              <a:buSzPct val="90000"/>
              <a:buFont typeface="+mj-lt"/>
              <a:buChar char="•"/>
            </a:pPr>
            <a:r>
              <a:rPr lang="en-US" sz="1700">
                <a:solidFill>
                  <a:srgbClr val="000000"/>
                </a:solidFill>
                <a:latin typeface="Anova Light" panose="020B0604020202020204" charset="0"/>
              </a:rPr>
              <a:t>Open and save .sql and .sas files on this computer, in SAS Content or on the SAS server, with a version check so nobody's work is overwritten</a:t>
            </a:r>
          </a:p>
          <a:p>
            <a:pPr marL="177800" indent="-177800">
              <a:lnSpc>
                <a:spcPct val="105000"/>
              </a:lnSpc>
              <a:spcBef>
                <a:spcPts val="400"/>
              </a:spcBef>
              <a:buClr>
                <a:srgbClr val="0766D1"/>
              </a:buClr>
              <a:buSzPct val="90000"/>
              <a:buFont typeface="+mj-lt"/>
              <a:buChar char="•"/>
            </a:pPr>
            <a:r>
              <a:rPr lang="en-US" sz="1700">
                <a:solidFill>
                  <a:srgbClr val="000000"/>
                </a:solidFill>
                <a:latin typeface="Anova Light" panose="020B0604020202020204" charset="0"/>
              </a:rPr>
              <a:t>Long runs go to the background with a Stop button</a:t>
            </a:r>
            <a:endParaRPr lang="en-US" sz="1700" dirty="0">
              <a:solidFill>
                <a:srgbClr val="000000"/>
              </a:solidFill>
              <a:latin typeface="Anova Light" panose="020B0604020202020204" charset="0"/>
            </a:endParaRPr>
          </a:p>
        </p:txBody>
      </p:sp>
      <p:sp>
        <p:nvSpPr>
          <p:cNvPr id="11" name="Rectangle: Rounded Corners 10">
            <a:extLst>
              <a:ext uri="{FF2B5EF4-FFF2-40B4-BE49-F238E27FC236}">
                <a16:creationId xmlns:a16="http://schemas.microsoft.com/office/drawing/2014/main" id="{76283A48-1747-C8B8-7285-77A596A143F9}"/>
              </a:ext>
            </a:extLst>
          </p:cNvPr>
          <p:cNvSpPr/>
          <p:nvPr/>
        </p:nvSpPr>
        <p:spPr>
          <a:xfrm>
            <a:off x="1257300" y="6083300"/>
            <a:ext cx="15773400" cy="889000"/>
          </a:xfrm>
          <a:prstGeom prst="roundRect">
            <a:avLst>
              <a:gd name="adj" fmla="val 4000"/>
            </a:avLst>
          </a:prstGeom>
          <a:solidFill>
            <a:srgbClr val="EEF4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12B56B6-5E9F-022D-3336-29EE74E42806}"/>
              </a:ext>
            </a:extLst>
          </p:cNvPr>
          <p:cNvSpPr txBox="1"/>
          <p:nvPr/>
        </p:nvSpPr>
        <p:spPr>
          <a:xfrm>
            <a:off x="1358900" y="6083300"/>
            <a:ext cx="15570200" cy="553998"/>
          </a:xfrm>
          <a:prstGeom prst="rect">
            <a:avLst/>
          </a:prstGeom>
          <a:noFill/>
        </p:spPr>
        <p:txBody>
          <a:bodyPr vert="horz" wrap="square" lIns="127000" tIns="127000" rIns="127000" bIns="127000" rtlCol="0" anchor="ctr">
            <a:noAutofit/>
          </a:bodyPr>
          <a:lstStyle/>
          <a:p>
            <a:pPr>
              <a:lnSpc>
                <a:spcPct val="105000"/>
              </a:lnSpc>
              <a:spcBef>
                <a:spcPts val="200"/>
              </a:spcBef>
            </a:pPr>
            <a:r>
              <a:rPr lang="en-US" sz="1700">
                <a:solidFill>
                  <a:srgbClr val="032954"/>
                </a:solidFill>
                <a:latin typeface="Anova Bold" panose="020B0604020202020204" charset="0"/>
              </a:rPr>
              <a:t>Try it both ways.</a:t>
            </a:r>
            <a:r>
              <a:rPr lang="en-US" sz="1700">
                <a:solidFill>
                  <a:srgbClr val="032954"/>
                </a:solidFill>
                <a:latin typeface="Anova Light" panose="020B0604020202020204" charset="0"/>
              </a:rPr>
              <a:t> The same query native in SingleStore and through SAS side by side, with the pushdown visible. That is the SpeedyStore conversation in one tab.</a:t>
            </a:r>
            <a:endParaRPr lang="en-US" sz="1700" dirty="0">
              <a:solidFill>
                <a:srgbClr val="032954"/>
              </a:solidFill>
              <a:latin typeface="Anova Light" panose="020B0604020202020204" charset="0"/>
            </a:endParaRPr>
          </a:p>
        </p:txBody>
      </p:sp>
    </p:spTree>
    <p:extLst>
      <p:ext uri="{BB962C8B-B14F-4D97-AF65-F5344CB8AC3E}">
        <p14:creationId xmlns:p14="http://schemas.microsoft.com/office/powerpoint/2010/main" val="2393324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9EDDB-C4A6-F8BF-70BE-DAF163D8555F}"/>
              </a:ext>
            </a:extLst>
          </p:cNvPr>
          <p:cNvSpPr>
            <a:spLocks noGrp="1"/>
          </p:cNvSpPr>
          <p:nvPr>
            <p:ph type="title"/>
          </p:nvPr>
        </p:nvSpPr>
        <p:spPr>
          <a:xfrm>
            <a:off x="1257300" y="821103"/>
            <a:ext cx="15773400" cy="553998"/>
          </a:xfrm>
        </p:spPr>
        <p:txBody>
          <a:bodyPr/>
          <a:lstStyle/>
          <a:p>
            <a:r>
              <a:rPr lang="en-US" sz="4000">
                <a:solidFill>
                  <a:srgbClr val="032954"/>
                </a:solidFill>
              </a:rPr>
              <a:t>A notebook where the data stays in the database</a:t>
            </a:r>
          </a:p>
        </p:txBody>
      </p:sp>
      <p:sp>
        <p:nvSpPr>
          <p:cNvPr id="3" name="Rectangle: Rounded Corners 2">
            <a:extLst>
              <a:ext uri="{FF2B5EF4-FFF2-40B4-BE49-F238E27FC236}">
                <a16:creationId xmlns:a16="http://schemas.microsoft.com/office/drawing/2014/main" id="{4D649D71-357D-9C8C-2077-9D1A28552B21}"/>
              </a:ext>
            </a:extLst>
          </p:cNvPr>
          <p:cNvSpPr/>
          <p:nvPr/>
        </p:nvSpPr>
        <p:spPr>
          <a:xfrm>
            <a:off x="1257300" y="2400300"/>
            <a:ext cx="5122333" cy="2921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C08F8997-BDC3-B884-DF4E-49A110B84DCF}"/>
              </a:ext>
            </a:extLst>
          </p:cNvPr>
          <p:cNvCxnSpPr/>
          <p:nvPr/>
        </p:nvCxnSpPr>
        <p:spPr>
          <a:xfrm>
            <a:off x="1333500" y="2413000"/>
            <a:ext cx="4969933" cy="0"/>
          </a:xfrm>
          <a:prstGeom prst="line">
            <a:avLst/>
          </a:prstGeom>
          <a:ln w="38100">
            <a:solidFill>
              <a:srgbClr val="032954"/>
            </a:solidFill>
            <a:tailEnd type="non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17D72C5-4CDE-31CC-E031-28CF2D543B87}"/>
              </a:ext>
            </a:extLst>
          </p:cNvPr>
          <p:cNvSpPr txBox="1"/>
          <p:nvPr/>
        </p:nvSpPr>
        <p:spPr>
          <a:xfrm>
            <a:off x="1333500" y="2476500"/>
            <a:ext cx="4969933" cy="553998"/>
          </a:xfrm>
          <a:prstGeom prst="rect">
            <a:avLst/>
          </a:prstGeom>
          <a:noFill/>
        </p:spPr>
        <p:txBody>
          <a:bodyPr vert="horz" wrap="square" lIns="101600" tIns="101600" rIns="101600" bIns="101600" rtlCol="0" anchor="t">
            <a:noAutofit/>
          </a:bodyPr>
          <a:lstStyle/>
          <a:p>
            <a:pPr>
              <a:lnSpc>
                <a:spcPct val="105000"/>
              </a:lnSpc>
            </a:pPr>
            <a:r>
              <a:rPr lang="en-US" sz="1100">
                <a:solidFill>
                  <a:srgbClr val="032954"/>
                </a:solidFill>
                <a:latin typeface="Anova Bold" panose="020B0604020202020204" charset="0"/>
              </a:rPr>
              <a:t>SQL CELLS</a:t>
            </a:r>
          </a:p>
          <a:p>
            <a:pPr>
              <a:lnSpc>
                <a:spcPct val="105000"/>
              </a:lnSpc>
              <a:spcBef>
                <a:spcPts val="400"/>
              </a:spcBef>
            </a:pPr>
            <a:r>
              <a:rPr lang="en-US" sz="1800">
                <a:solidFill>
                  <a:srgbClr val="000000"/>
                </a:solidFill>
                <a:latin typeface="Anova Light" panose="020B0604020202020204" charset="0"/>
              </a:rPr>
              <a:t>Run against SingleStore; the result becomes a pandas DataFrame in the next cell. %sql and %%sql magics for the Python crowd.</a:t>
            </a:r>
            <a:endParaRPr lang="en-US" sz="1800" dirty="0">
              <a:solidFill>
                <a:srgbClr val="000000"/>
              </a:solidFill>
              <a:latin typeface="Anova Light" panose="020B0604020202020204" charset="0"/>
            </a:endParaRPr>
          </a:p>
        </p:txBody>
      </p:sp>
      <p:sp>
        <p:nvSpPr>
          <p:cNvPr id="6" name="Rectangle: Rounded Corners 5">
            <a:extLst>
              <a:ext uri="{FF2B5EF4-FFF2-40B4-BE49-F238E27FC236}">
                <a16:creationId xmlns:a16="http://schemas.microsoft.com/office/drawing/2014/main" id="{70B5DFAF-61A7-B038-822A-7A84AAB0244A}"/>
              </a:ext>
            </a:extLst>
          </p:cNvPr>
          <p:cNvSpPr/>
          <p:nvPr/>
        </p:nvSpPr>
        <p:spPr>
          <a:xfrm>
            <a:off x="6582833" y="2400300"/>
            <a:ext cx="5122333" cy="2921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2587B43B-A1F3-B32D-FBB9-B9E241E8C4C9}"/>
              </a:ext>
            </a:extLst>
          </p:cNvPr>
          <p:cNvCxnSpPr/>
          <p:nvPr/>
        </p:nvCxnSpPr>
        <p:spPr>
          <a:xfrm>
            <a:off x="6659033" y="2413000"/>
            <a:ext cx="4969934" cy="0"/>
          </a:xfrm>
          <a:prstGeom prst="line">
            <a:avLst/>
          </a:prstGeom>
          <a:ln w="38100">
            <a:solidFill>
              <a:srgbClr val="0766D1"/>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B1C07D0-BC23-A85F-6754-F07811B943DE}"/>
              </a:ext>
            </a:extLst>
          </p:cNvPr>
          <p:cNvSpPr txBox="1"/>
          <p:nvPr/>
        </p:nvSpPr>
        <p:spPr>
          <a:xfrm>
            <a:off x="6659033" y="2476500"/>
            <a:ext cx="4969933" cy="553998"/>
          </a:xfrm>
          <a:prstGeom prst="rect">
            <a:avLst/>
          </a:prstGeom>
          <a:noFill/>
        </p:spPr>
        <p:txBody>
          <a:bodyPr vert="horz" wrap="square" lIns="101600" tIns="101600" rIns="101600" bIns="101600" rtlCol="0" anchor="t">
            <a:noAutofit/>
          </a:bodyPr>
          <a:lstStyle/>
          <a:p>
            <a:pPr>
              <a:lnSpc>
                <a:spcPct val="105000"/>
              </a:lnSpc>
            </a:pPr>
            <a:r>
              <a:rPr lang="en-US" sz="1100">
                <a:solidFill>
                  <a:srgbClr val="0766D1"/>
                </a:solidFill>
                <a:latin typeface="Anova Bold" panose="020B0604020202020204" charset="0"/>
              </a:rPr>
              <a:t>PYTHON CELLS</a:t>
            </a:r>
          </a:p>
          <a:p>
            <a:pPr>
              <a:lnSpc>
                <a:spcPct val="105000"/>
              </a:lnSpc>
              <a:spcBef>
                <a:spcPts val="400"/>
              </a:spcBef>
            </a:pPr>
            <a:r>
              <a:rPr lang="en-US" sz="1800">
                <a:solidFill>
                  <a:srgbClr val="000000"/>
                </a:solidFill>
                <a:latin typeface="Anova Light" panose="020B0604020202020204" charset="0"/>
              </a:rPr>
              <a:t>A Jupyter kernel in its own environment with a Packages panel. Charts inline. The notebook file is a normal .ipynb, compatible with SingleStore Notebooks.</a:t>
            </a:r>
            <a:endParaRPr lang="en-US" sz="1800" dirty="0">
              <a:solidFill>
                <a:srgbClr val="000000"/>
              </a:solidFill>
              <a:latin typeface="Anova Light" panose="020B0604020202020204" charset="0"/>
            </a:endParaRPr>
          </a:p>
        </p:txBody>
      </p:sp>
      <p:sp>
        <p:nvSpPr>
          <p:cNvPr id="9" name="Rectangle: Rounded Corners 8">
            <a:extLst>
              <a:ext uri="{FF2B5EF4-FFF2-40B4-BE49-F238E27FC236}">
                <a16:creationId xmlns:a16="http://schemas.microsoft.com/office/drawing/2014/main" id="{A709B78F-C37B-CC0F-7AAE-8DB159F0066B}"/>
              </a:ext>
            </a:extLst>
          </p:cNvPr>
          <p:cNvSpPr/>
          <p:nvPr/>
        </p:nvSpPr>
        <p:spPr>
          <a:xfrm>
            <a:off x="11908367" y="2400300"/>
            <a:ext cx="5122333" cy="2921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E9546177-7DD9-F9C6-CD4C-84BC2389735B}"/>
              </a:ext>
            </a:extLst>
          </p:cNvPr>
          <p:cNvCxnSpPr/>
          <p:nvPr/>
        </p:nvCxnSpPr>
        <p:spPr>
          <a:xfrm>
            <a:off x="11984567" y="2413000"/>
            <a:ext cx="4969933" cy="0"/>
          </a:xfrm>
          <a:prstGeom prst="line">
            <a:avLst/>
          </a:prstGeom>
          <a:ln w="38100">
            <a:solidFill>
              <a:srgbClr val="4398F9"/>
            </a:solidFill>
            <a:tailEnd type="non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549DD5C-D33E-90B1-A431-4697C921ED40}"/>
              </a:ext>
            </a:extLst>
          </p:cNvPr>
          <p:cNvSpPr txBox="1"/>
          <p:nvPr/>
        </p:nvSpPr>
        <p:spPr>
          <a:xfrm>
            <a:off x="11984567" y="2476500"/>
            <a:ext cx="4969933" cy="553998"/>
          </a:xfrm>
          <a:prstGeom prst="rect">
            <a:avLst/>
          </a:prstGeom>
          <a:noFill/>
        </p:spPr>
        <p:txBody>
          <a:bodyPr vert="horz" wrap="square" lIns="101600" tIns="101600" rIns="101600" bIns="101600" rtlCol="0" anchor="t">
            <a:noAutofit/>
          </a:bodyPr>
          <a:lstStyle/>
          <a:p>
            <a:pPr>
              <a:lnSpc>
                <a:spcPct val="105000"/>
              </a:lnSpc>
            </a:pPr>
            <a:r>
              <a:rPr lang="en-US" sz="1100">
                <a:solidFill>
                  <a:srgbClr val="4398F9"/>
                </a:solidFill>
                <a:latin typeface="Anova Bold" panose="020B0604020202020204" charset="0"/>
              </a:rPr>
              <a:t>SAS CELLS</a:t>
            </a:r>
          </a:p>
          <a:p>
            <a:pPr>
              <a:lnSpc>
                <a:spcPct val="105000"/>
              </a:lnSpc>
              <a:spcBef>
                <a:spcPts val="400"/>
              </a:spcBef>
            </a:pPr>
            <a:r>
              <a:rPr lang="en-US" sz="1800">
                <a:solidFill>
                  <a:srgbClr val="000000"/>
                </a:solidFill>
                <a:latin typeface="Anova Light" panose="020B0604020202020204" charset="0"/>
              </a:rPr>
              <a:t>Run in a SAS Compute session on Viya. Each session gets the library S2 on the notebook's database, so a DATA step reads and writes SingleStore directly through SAS/ACCESS.</a:t>
            </a:r>
            <a:endParaRPr lang="en-US" sz="1800" dirty="0">
              <a:solidFill>
                <a:srgbClr val="000000"/>
              </a:solidFill>
              <a:latin typeface="Anova Light" panose="020B0604020202020204" charset="0"/>
            </a:endParaRPr>
          </a:p>
        </p:txBody>
      </p:sp>
      <p:sp>
        <p:nvSpPr>
          <p:cNvPr id="12" name="Rectangle: Rounded Corners 11">
            <a:extLst>
              <a:ext uri="{FF2B5EF4-FFF2-40B4-BE49-F238E27FC236}">
                <a16:creationId xmlns:a16="http://schemas.microsoft.com/office/drawing/2014/main" id="{E7781CD5-800D-1166-1C03-FB6827725479}"/>
              </a:ext>
            </a:extLst>
          </p:cNvPr>
          <p:cNvSpPr/>
          <p:nvPr/>
        </p:nvSpPr>
        <p:spPr>
          <a:xfrm>
            <a:off x="1257300" y="5575300"/>
            <a:ext cx="7785100" cy="1905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DF3270E7-0502-09AD-224B-0C6600D361FB}"/>
              </a:ext>
            </a:extLst>
          </p:cNvPr>
          <p:cNvCxnSpPr/>
          <p:nvPr/>
        </p:nvCxnSpPr>
        <p:spPr>
          <a:xfrm>
            <a:off x="1333500" y="5588000"/>
            <a:ext cx="7632700" cy="0"/>
          </a:xfrm>
          <a:prstGeom prst="line">
            <a:avLst/>
          </a:prstGeom>
          <a:ln w="38100">
            <a:solidFill>
              <a:srgbClr val="BAC0C9"/>
            </a:solidFill>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2F1E06A-97DC-1545-4C3E-096E750520F0}"/>
              </a:ext>
            </a:extLst>
          </p:cNvPr>
          <p:cNvSpPr txBox="1"/>
          <p:nvPr/>
        </p:nvSpPr>
        <p:spPr>
          <a:xfrm>
            <a:off x="1333500" y="5651500"/>
            <a:ext cx="7632700" cy="553998"/>
          </a:xfrm>
          <a:prstGeom prst="rect">
            <a:avLst/>
          </a:prstGeom>
          <a:noFill/>
        </p:spPr>
        <p:txBody>
          <a:bodyPr vert="horz" wrap="square" lIns="101600" tIns="101600" rIns="101600" bIns="101600" rtlCol="0" anchor="t">
            <a:noAutofit/>
          </a:bodyPr>
          <a:lstStyle/>
          <a:p>
            <a:pPr>
              <a:lnSpc>
                <a:spcPct val="105000"/>
              </a:lnSpc>
              <a:spcBef>
                <a:spcPts val="200"/>
              </a:spcBef>
            </a:pPr>
            <a:r>
              <a:rPr lang="en-US" sz="1900">
                <a:solidFill>
                  <a:srgbClr val="032954"/>
                </a:solidFill>
                <a:latin typeface="Anova Bold" panose="020B0604020202020204" charset="0"/>
              </a:rPr>
              <a:t>Several notebooks as tabs</a:t>
            </a:r>
          </a:p>
          <a:p>
            <a:pPr>
              <a:lnSpc>
                <a:spcPct val="105000"/>
              </a:lnSpc>
              <a:spcBef>
                <a:spcPts val="400"/>
              </a:spcBef>
            </a:pPr>
            <a:r>
              <a:rPr lang="en-US" sz="1800">
                <a:solidFill>
                  <a:srgbClr val="000000"/>
                </a:solidFill>
                <a:latin typeface="Anova Light" panose="020B0604020202020204" charset="0"/>
              </a:rPr>
              <a:t>Each with its own kernel, database and file. Save to this computer, SAS Content or the SAS server.</a:t>
            </a:r>
            <a:endParaRPr lang="en-US" sz="1800" dirty="0">
              <a:solidFill>
                <a:srgbClr val="000000"/>
              </a:solidFill>
              <a:latin typeface="Anova Light" panose="020B0604020202020204" charset="0"/>
            </a:endParaRPr>
          </a:p>
        </p:txBody>
      </p:sp>
      <p:sp>
        <p:nvSpPr>
          <p:cNvPr id="15" name="Rectangle: Rounded Corners 14">
            <a:extLst>
              <a:ext uri="{FF2B5EF4-FFF2-40B4-BE49-F238E27FC236}">
                <a16:creationId xmlns:a16="http://schemas.microsoft.com/office/drawing/2014/main" id="{3B043995-BFA5-29F4-54D8-8ADEFD4E905B}"/>
              </a:ext>
            </a:extLst>
          </p:cNvPr>
          <p:cNvSpPr/>
          <p:nvPr/>
        </p:nvSpPr>
        <p:spPr>
          <a:xfrm>
            <a:off x="9245600" y="5575300"/>
            <a:ext cx="7785100" cy="1905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8E245B53-91A3-0D79-D433-F51F6CB0DF39}"/>
              </a:ext>
            </a:extLst>
          </p:cNvPr>
          <p:cNvCxnSpPr/>
          <p:nvPr/>
        </p:nvCxnSpPr>
        <p:spPr>
          <a:xfrm>
            <a:off x="9321800" y="5588000"/>
            <a:ext cx="7632700" cy="0"/>
          </a:xfrm>
          <a:prstGeom prst="line">
            <a:avLst/>
          </a:prstGeom>
          <a:ln w="38100">
            <a:solidFill>
              <a:srgbClr val="BAC0C9"/>
            </a:solidFill>
            <a:tailEnd type="non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F87C88D-9E00-412B-D720-BD45E90AE976}"/>
              </a:ext>
            </a:extLst>
          </p:cNvPr>
          <p:cNvSpPr txBox="1"/>
          <p:nvPr/>
        </p:nvSpPr>
        <p:spPr>
          <a:xfrm>
            <a:off x="9321800" y="5651500"/>
            <a:ext cx="7632700" cy="553998"/>
          </a:xfrm>
          <a:prstGeom prst="rect">
            <a:avLst/>
          </a:prstGeom>
          <a:noFill/>
        </p:spPr>
        <p:txBody>
          <a:bodyPr vert="horz" wrap="square" lIns="101600" tIns="101600" rIns="101600" bIns="101600" rtlCol="0" anchor="t">
            <a:noAutofit/>
          </a:bodyPr>
          <a:lstStyle/>
          <a:p>
            <a:pPr>
              <a:lnSpc>
                <a:spcPct val="105000"/>
              </a:lnSpc>
              <a:spcBef>
                <a:spcPts val="200"/>
              </a:spcBef>
            </a:pPr>
            <a:r>
              <a:rPr lang="en-US" sz="1900">
                <a:solidFill>
                  <a:srgbClr val="032954"/>
                </a:solidFill>
                <a:latin typeface="Anova Bold" panose="020B0604020202020204" charset="0"/>
              </a:rPr>
              <a:t>Claude in the side panel</a:t>
            </a:r>
          </a:p>
          <a:p>
            <a:pPr>
              <a:lnSpc>
                <a:spcPct val="105000"/>
              </a:lnSpc>
              <a:spcBef>
                <a:spcPts val="400"/>
              </a:spcBef>
            </a:pPr>
            <a:r>
              <a:rPr lang="en-US" sz="1800">
                <a:solidFill>
                  <a:srgbClr val="000000"/>
                </a:solidFill>
                <a:latin typeface="Anova Light" panose="020B0604020202020204" charset="0"/>
              </a:rPr>
              <a:t>Ask for the next cell in plain words. It reads the schema, writes SQL or Python, and you insert it with one click.</a:t>
            </a:r>
            <a:endParaRPr lang="en-US" sz="1800" dirty="0">
              <a:solidFill>
                <a:srgbClr val="000000"/>
              </a:solidFill>
              <a:latin typeface="Anova Light" panose="020B0604020202020204" charset="0"/>
            </a:endParaRPr>
          </a:p>
        </p:txBody>
      </p:sp>
    </p:spTree>
    <p:extLst>
      <p:ext uri="{BB962C8B-B14F-4D97-AF65-F5344CB8AC3E}">
        <p14:creationId xmlns:p14="http://schemas.microsoft.com/office/powerpoint/2010/main" val="697769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3DBC0-A67E-82A8-431A-FC369555CCD6}"/>
              </a:ext>
            </a:extLst>
          </p:cNvPr>
          <p:cNvSpPr>
            <a:spLocks noGrp="1"/>
          </p:cNvSpPr>
          <p:nvPr>
            <p:ph type="title"/>
          </p:nvPr>
        </p:nvSpPr>
        <p:spPr>
          <a:xfrm>
            <a:off x="1257300" y="821103"/>
            <a:ext cx="15773400" cy="553998"/>
          </a:xfrm>
        </p:spPr>
        <p:txBody>
          <a:bodyPr/>
          <a:lstStyle/>
          <a:p>
            <a:r>
              <a:rPr lang="en-US" sz="4000">
                <a:solidFill>
                  <a:srgbClr val="032954"/>
                </a:solidFill>
              </a:rPr>
              <a:t>Claude helps where you work, and you stay in control</a:t>
            </a:r>
          </a:p>
        </p:txBody>
      </p:sp>
      <p:sp>
        <p:nvSpPr>
          <p:cNvPr id="3" name="Rectangle: Rounded Corners 2">
            <a:extLst>
              <a:ext uri="{FF2B5EF4-FFF2-40B4-BE49-F238E27FC236}">
                <a16:creationId xmlns:a16="http://schemas.microsoft.com/office/drawing/2014/main" id="{314C7B0B-4DBE-30DB-B588-DB18C170EC16}"/>
              </a:ext>
            </a:extLst>
          </p:cNvPr>
          <p:cNvSpPr/>
          <p:nvPr/>
        </p:nvSpPr>
        <p:spPr>
          <a:xfrm>
            <a:off x="1257300" y="2400300"/>
            <a:ext cx="5122333" cy="3175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54D776DB-E7EE-B79E-95F5-0710CEF7B3EB}"/>
              </a:ext>
            </a:extLst>
          </p:cNvPr>
          <p:cNvCxnSpPr/>
          <p:nvPr/>
        </p:nvCxnSpPr>
        <p:spPr>
          <a:xfrm>
            <a:off x="1333500" y="2413000"/>
            <a:ext cx="4969933" cy="0"/>
          </a:xfrm>
          <a:prstGeom prst="line">
            <a:avLst/>
          </a:prstGeom>
          <a:ln w="38100">
            <a:solidFill>
              <a:srgbClr val="0766D1"/>
            </a:solidFill>
            <a:tailEnd type="non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95B1BAA-5D86-C6E8-F117-08331C1EDB73}"/>
              </a:ext>
            </a:extLst>
          </p:cNvPr>
          <p:cNvSpPr txBox="1"/>
          <p:nvPr/>
        </p:nvSpPr>
        <p:spPr>
          <a:xfrm>
            <a:off x="1333500" y="2476500"/>
            <a:ext cx="4969933" cy="553998"/>
          </a:xfrm>
          <a:prstGeom prst="rect">
            <a:avLst/>
          </a:prstGeom>
          <a:noFill/>
        </p:spPr>
        <p:txBody>
          <a:bodyPr vert="horz" wrap="square" lIns="101600" tIns="101600" rIns="101600" bIns="101600" rtlCol="0" anchor="t">
            <a:noAutofit/>
          </a:bodyPr>
          <a:lstStyle/>
          <a:p>
            <a:pPr>
              <a:lnSpc>
                <a:spcPct val="105000"/>
              </a:lnSpc>
              <a:spcBef>
                <a:spcPts val="200"/>
              </a:spcBef>
            </a:pPr>
            <a:r>
              <a:rPr lang="en-US" sz="1900">
                <a:solidFill>
                  <a:srgbClr val="032954"/>
                </a:solidFill>
                <a:latin typeface="Anova Bold" panose="020B0604020202020204" charset="0"/>
              </a:rPr>
              <a:t>It sees what you see</a:t>
            </a:r>
          </a:p>
          <a:p>
            <a:pPr>
              <a:lnSpc>
                <a:spcPct val="105000"/>
              </a:lnSpc>
              <a:spcBef>
                <a:spcPts val="400"/>
              </a:spcBef>
            </a:pPr>
            <a:r>
              <a:rPr lang="en-US" sz="1800">
                <a:solidFill>
                  <a:srgbClr val="000000"/>
                </a:solidFill>
                <a:latin typeface="Anova Light" panose="020B0604020202020204" charset="0"/>
              </a:rPr>
              <a:t>The chat panel in the SQL editor and the notebook reads the schema and runs read-only queries before it answers, so the SQL it writes uses your real table and column names.</a:t>
            </a:r>
            <a:endParaRPr lang="en-US" sz="1800" dirty="0">
              <a:solidFill>
                <a:srgbClr val="000000"/>
              </a:solidFill>
              <a:latin typeface="Anova Light" panose="020B0604020202020204" charset="0"/>
            </a:endParaRPr>
          </a:p>
        </p:txBody>
      </p:sp>
      <p:sp>
        <p:nvSpPr>
          <p:cNvPr id="6" name="Rectangle: Rounded Corners 5">
            <a:extLst>
              <a:ext uri="{FF2B5EF4-FFF2-40B4-BE49-F238E27FC236}">
                <a16:creationId xmlns:a16="http://schemas.microsoft.com/office/drawing/2014/main" id="{F5449547-8041-54D8-7CF1-E70F4B47A800}"/>
              </a:ext>
            </a:extLst>
          </p:cNvPr>
          <p:cNvSpPr/>
          <p:nvPr/>
        </p:nvSpPr>
        <p:spPr>
          <a:xfrm>
            <a:off x="6582833" y="2400300"/>
            <a:ext cx="5122333" cy="3175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577AD77E-9700-1889-D549-185F011DF428}"/>
              </a:ext>
            </a:extLst>
          </p:cNvPr>
          <p:cNvCxnSpPr/>
          <p:nvPr/>
        </p:nvCxnSpPr>
        <p:spPr>
          <a:xfrm>
            <a:off x="6659033" y="2413000"/>
            <a:ext cx="4969934" cy="0"/>
          </a:xfrm>
          <a:prstGeom prst="line">
            <a:avLst/>
          </a:prstGeom>
          <a:ln w="38100">
            <a:solidFill>
              <a:srgbClr val="0766D1"/>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1597DD8-111B-4AFB-D2E3-510DA07FFA14}"/>
              </a:ext>
            </a:extLst>
          </p:cNvPr>
          <p:cNvSpPr txBox="1"/>
          <p:nvPr/>
        </p:nvSpPr>
        <p:spPr>
          <a:xfrm>
            <a:off x="6659033" y="2476500"/>
            <a:ext cx="4969933" cy="553998"/>
          </a:xfrm>
          <a:prstGeom prst="rect">
            <a:avLst/>
          </a:prstGeom>
          <a:noFill/>
        </p:spPr>
        <p:txBody>
          <a:bodyPr vert="horz" wrap="square" lIns="101600" tIns="101600" rIns="101600" bIns="101600" rtlCol="0" anchor="t">
            <a:noAutofit/>
          </a:bodyPr>
          <a:lstStyle/>
          <a:p>
            <a:pPr>
              <a:lnSpc>
                <a:spcPct val="105000"/>
              </a:lnSpc>
              <a:spcBef>
                <a:spcPts val="200"/>
              </a:spcBef>
            </a:pPr>
            <a:r>
              <a:rPr lang="en-US" sz="1900">
                <a:solidFill>
                  <a:srgbClr val="032954"/>
                </a:solidFill>
                <a:latin typeface="Anova Bold" panose="020B0604020202020204" charset="0"/>
              </a:rPr>
              <a:t>It suggests, you run</a:t>
            </a:r>
          </a:p>
          <a:p>
            <a:pPr>
              <a:lnSpc>
                <a:spcPct val="105000"/>
              </a:lnSpc>
              <a:spcBef>
                <a:spcPts val="400"/>
              </a:spcBef>
            </a:pPr>
            <a:r>
              <a:rPr lang="en-US" sz="1800">
                <a:solidFill>
                  <a:srgbClr val="000000"/>
                </a:solidFill>
                <a:latin typeface="Anova Light" panose="020B0604020202020204" charset="0"/>
              </a:rPr>
              <a:t>Answers come as SQL, Python or SAS code with an insert button. The assistant has no write access, no shell and no files. Nothing changes in the database until you run it.</a:t>
            </a:r>
            <a:endParaRPr lang="en-US" sz="1800" dirty="0">
              <a:solidFill>
                <a:srgbClr val="000000"/>
              </a:solidFill>
              <a:latin typeface="Anova Light" panose="020B0604020202020204" charset="0"/>
            </a:endParaRPr>
          </a:p>
        </p:txBody>
      </p:sp>
      <p:sp>
        <p:nvSpPr>
          <p:cNvPr id="9" name="Rectangle: Rounded Corners 8">
            <a:extLst>
              <a:ext uri="{FF2B5EF4-FFF2-40B4-BE49-F238E27FC236}">
                <a16:creationId xmlns:a16="http://schemas.microsoft.com/office/drawing/2014/main" id="{E85C892F-E76A-63EE-047D-329E2758F890}"/>
              </a:ext>
            </a:extLst>
          </p:cNvPr>
          <p:cNvSpPr/>
          <p:nvPr/>
        </p:nvSpPr>
        <p:spPr>
          <a:xfrm>
            <a:off x="11908367" y="2400300"/>
            <a:ext cx="5122333" cy="3175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48E4ED22-8BC9-0CA7-9EB5-058484AFADD9}"/>
              </a:ext>
            </a:extLst>
          </p:cNvPr>
          <p:cNvCxnSpPr/>
          <p:nvPr/>
        </p:nvCxnSpPr>
        <p:spPr>
          <a:xfrm>
            <a:off x="11984567" y="2413000"/>
            <a:ext cx="4969933" cy="0"/>
          </a:xfrm>
          <a:prstGeom prst="line">
            <a:avLst/>
          </a:prstGeom>
          <a:ln w="38100">
            <a:solidFill>
              <a:srgbClr val="0766D1"/>
            </a:solidFill>
            <a:tailEnd type="non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C5B73C0-13D9-A72C-5496-318EFA9A984E}"/>
              </a:ext>
            </a:extLst>
          </p:cNvPr>
          <p:cNvSpPr txBox="1"/>
          <p:nvPr/>
        </p:nvSpPr>
        <p:spPr>
          <a:xfrm>
            <a:off x="11984567" y="2476500"/>
            <a:ext cx="4969933" cy="553998"/>
          </a:xfrm>
          <a:prstGeom prst="rect">
            <a:avLst/>
          </a:prstGeom>
          <a:noFill/>
        </p:spPr>
        <p:txBody>
          <a:bodyPr vert="horz" wrap="square" lIns="101600" tIns="101600" rIns="101600" bIns="101600" rtlCol="0" anchor="t">
            <a:noAutofit/>
          </a:bodyPr>
          <a:lstStyle/>
          <a:p>
            <a:pPr>
              <a:lnSpc>
                <a:spcPct val="105000"/>
              </a:lnSpc>
              <a:spcBef>
                <a:spcPts val="200"/>
              </a:spcBef>
            </a:pPr>
            <a:r>
              <a:rPr lang="en-US" sz="1900">
                <a:solidFill>
                  <a:srgbClr val="032954"/>
                </a:solidFill>
                <a:latin typeface="Anova Bold" panose="020B0604020202020204" charset="0"/>
              </a:rPr>
              <a:t>It knows SingleStore</a:t>
            </a:r>
          </a:p>
          <a:p>
            <a:pPr>
              <a:lnSpc>
                <a:spcPct val="105000"/>
              </a:lnSpc>
              <a:spcBef>
                <a:spcPts val="400"/>
              </a:spcBef>
            </a:pPr>
            <a:r>
              <a:rPr lang="en-US" sz="1800">
                <a:solidFill>
                  <a:srgbClr val="000000"/>
                </a:solidFill>
                <a:latin typeface="Anova Light" panose="020B0604020202020204" charset="0"/>
              </a:rPr>
              <a:t>Every question carries a SingleStore SQL skill with the pitfalls learned on real clusters: case-sensitive names, procedure syntax, shard and sort keys. You add to it as you learn.</a:t>
            </a:r>
            <a:endParaRPr lang="en-US" sz="1800" dirty="0">
              <a:solidFill>
                <a:srgbClr val="000000"/>
              </a:solidFill>
              <a:latin typeface="Anova Light" panose="020B0604020202020204" charset="0"/>
            </a:endParaRPr>
          </a:p>
        </p:txBody>
      </p:sp>
      <p:sp>
        <p:nvSpPr>
          <p:cNvPr id="12" name="Rectangle: Rounded Corners 11">
            <a:extLst>
              <a:ext uri="{FF2B5EF4-FFF2-40B4-BE49-F238E27FC236}">
                <a16:creationId xmlns:a16="http://schemas.microsoft.com/office/drawing/2014/main" id="{E4745C0A-E433-372D-FBAC-9D31491A2ECB}"/>
              </a:ext>
            </a:extLst>
          </p:cNvPr>
          <p:cNvSpPr/>
          <p:nvPr/>
        </p:nvSpPr>
        <p:spPr>
          <a:xfrm>
            <a:off x="1257300" y="5829300"/>
            <a:ext cx="7785100" cy="1905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7BC5325A-1C66-C869-3090-F263A40595BC}"/>
              </a:ext>
            </a:extLst>
          </p:cNvPr>
          <p:cNvCxnSpPr/>
          <p:nvPr/>
        </p:nvCxnSpPr>
        <p:spPr>
          <a:xfrm>
            <a:off x="1333500" y="5842000"/>
            <a:ext cx="7632700" cy="0"/>
          </a:xfrm>
          <a:prstGeom prst="line">
            <a:avLst/>
          </a:prstGeom>
          <a:ln w="38100">
            <a:solidFill>
              <a:srgbClr val="BAC0C9"/>
            </a:solidFill>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FF2C7D9-7833-6A22-D648-422D94DF3796}"/>
              </a:ext>
            </a:extLst>
          </p:cNvPr>
          <p:cNvSpPr txBox="1"/>
          <p:nvPr/>
        </p:nvSpPr>
        <p:spPr>
          <a:xfrm>
            <a:off x="1333500" y="5905500"/>
            <a:ext cx="7632700" cy="553998"/>
          </a:xfrm>
          <a:prstGeom prst="rect">
            <a:avLst/>
          </a:prstGeom>
          <a:noFill/>
        </p:spPr>
        <p:txBody>
          <a:bodyPr vert="horz" wrap="square" lIns="101600" tIns="101600" rIns="101600" bIns="101600" rtlCol="0" anchor="t">
            <a:noAutofit/>
          </a:bodyPr>
          <a:lstStyle/>
          <a:p>
            <a:pPr>
              <a:lnSpc>
                <a:spcPct val="105000"/>
              </a:lnSpc>
              <a:spcBef>
                <a:spcPts val="200"/>
              </a:spcBef>
            </a:pPr>
            <a:r>
              <a:rPr lang="en-US" sz="1900">
                <a:solidFill>
                  <a:srgbClr val="032954"/>
                </a:solidFill>
                <a:latin typeface="Anova Bold" panose="020B0604020202020204" charset="0"/>
              </a:rPr>
              <a:t>Three speeds</a:t>
            </a:r>
          </a:p>
          <a:p>
            <a:pPr>
              <a:lnSpc>
                <a:spcPct val="105000"/>
              </a:lnSpc>
              <a:spcBef>
                <a:spcPts val="400"/>
              </a:spcBef>
            </a:pPr>
            <a:r>
              <a:rPr lang="en-US" sz="1800">
                <a:solidFill>
                  <a:srgbClr val="000000"/>
                </a:solidFill>
                <a:latin typeface="Anova Light" panose="020B0604020202020204" charset="0"/>
              </a:rPr>
              <a:t>Fast, Balanced or Thorough, picked per question. Each editor keeps one assistant running, so follow-ups are quick and keep the conversation.</a:t>
            </a:r>
            <a:endParaRPr lang="en-US" sz="1800" dirty="0">
              <a:solidFill>
                <a:srgbClr val="000000"/>
              </a:solidFill>
              <a:latin typeface="Anova Light" panose="020B0604020202020204" charset="0"/>
            </a:endParaRPr>
          </a:p>
        </p:txBody>
      </p:sp>
      <p:sp>
        <p:nvSpPr>
          <p:cNvPr id="15" name="Rectangle: Rounded Corners 14">
            <a:extLst>
              <a:ext uri="{FF2B5EF4-FFF2-40B4-BE49-F238E27FC236}">
                <a16:creationId xmlns:a16="http://schemas.microsoft.com/office/drawing/2014/main" id="{445C8DDF-37E4-378E-1FE5-6B886CA7ACA7}"/>
              </a:ext>
            </a:extLst>
          </p:cNvPr>
          <p:cNvSpPr/>
          <p:nvPr/>
        </p:nvSpPr>
        <p:spPr>
          <a:xfrm>
            <a:off x="9245600" y="5829300"/>
            <a:ext cx="7785100" cy="1905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1FBF262E-798D-0584-9E6D-788D73C6E064}"/>
              </a:ext>
            </a:extLst>
          </p:cNvPr>
          <p:cNvCxnSpPr/>
          <p:nvPr/>
        </p:nvCxnSpPr>
        <p:spPr>
          <a:xfrm>
            <a:off x="9321800" y="5842000"/>
            <a:ext cx="7632700" cy="0"/>
          </a:xfrm>
          <a:prstGeom prst="line">
            <a:avLst/>
          </a:prstGeom>
          <a:ln w="38100">
            <a:solidFill>
              <a:srgbClr val="BAC0C9"/>
            </a:solidFill>
            <a:tailEnd type="non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3AC0CD9-A081-0A64-0E9E-2207456245C1}"/>
              </a:ext>
            </a:extLst>
          </p:cNvPr>
          <p:cNvSpPr txBox="1"/>
          <p:nvPr/>
        </p:nvSpPr>
        <p:spPr>
          <a:xfrm>
            <a:off x="9321800" y="5905500"/>
            <a:ext cx="7632700" cy="553998"/>
          </a:xfrm>
          <a:prstGeom prst="rect">
            <a:avLst/>
          </a:prstGeom>
          <a:noFill/>
        </p:spPr>
        <p:txBody>
          <a:bodyPr vert="horz" wrap="square" lIns="101600" tIns="101600" rIns="101600" bIns="101600" rtlCol="0" anchor="t">
            <a:noAutofit/>
          </a:bodyPr>
          <a:lstStyle/>
          <a:p>
            <a:pPr>
              <a:lnSpc>
                <a:spcPct val="105000"/>
              </a:lnSpc>
              <a:spcBef>
                <a:spcPts val="200"/>
              </a:spcBef>
            </a:pPr>
            <a:r>
              <a:rPr lang="en-US" sz="1900">
                <a:solidFill>
                  <a:srgbClr val="032954"/>
                </a:solidFill>
                <a:latin typeface="Anova Bold" panose="020B0604020202020204" charset="0"/>
              </a:rPr>
              <a:t>Ask Claude everywhere</a:t>
            </a:r>
          </a:p>
          <a:p>
            <a:pPr>
              <a:lnSpc>
                <a:spcPct val="105000"/>
              </a:lnSpc>
              <a:spcBef>
                <a:spcPts val="400"/>
              </a:spcBef>
            </a:pPr>
            <a:r>
              <a:rPr lang="en-US" sz="1800">
                <a:solidFill>
                  <a:srgbClr val="000000"/>
                </a:solidFill>
                <a:latin typeface="Anova Light" panose="020B0604020202020204" charset="0"/>
              </a:rPr>
              <a:t>The Schema Explorer and Pipeline Monitor hand a table, a skew finding or a pipeline error to the chat with the context already filled in.</a:t>
            </a:r>
            <a:endParaRPr lang="en-US" sz="1800" dirty="0">
              <a:solidFill>
                <a:srgbClr val="000000"/>
              </a:solidFill>
              <a:latin typeface="Anova Light" panose="020B0604020202020204" charset="0"/>
            </a:endParaRPr>
          </a:p>
        </p:txBody>
      </p:sp>
    </p:spTree>
    <p:extLst>
      <p:ext uri="{BB962C8B-B14F-4D97-AF65-F5344CB8AC3E}">
        <p14:creationId xmlns:p14="http://schemas.microsoft.com/office/powerpoint/2010/main" val="1324377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12FCC-A516-526F-1B37-628F3495FECA}"/>
              </a:ext>
            </a:extLst>
          </p:cNvPr>
          <p:cNvSpPr>
            <a:spLocks noGrp="1"/>
          </p:cNvSpPr>
          <p:nvPr>
            <p:ph type="title"/>
          </p:nvPr>
        </p:nvSpPr>
        <p:spPr>
          <a:xfrm>
            <a:off x="1257300" y="821103"/>
            <a:ext cx="15773400" cy="553998"/>
          </a:xfrm>
        </p:spPr>
        <p:txBody>
          <a:bodyPr/>
          <a:lstStyle/>
          <a:p>
            <a:r>
              <a:rPr lang="en-US" sz="4000">
                <a:solidFill>
                  <a:srgbClr val="032954"/>
                </a:solidFill>
              </a:rPr>
              <a:t>Operate the cluster from the same rail</a:t>
            </a:r>
          </a:p>
        </p:txBody>
      </p:sp>
      <p:graphicFrame>
        <p:nvGraphicFramePr>
          <p:cNvPr id="3" name="Table 2">
            <a:extLst>
              <a:ext uri="{FF2B5EF4-FFF2-40B4-BE49-F238E27FC236}">
                <a16:creationId xmlns:a16="http://schemas.microsoft.com/office/drawing/2014/main" id="{20036E20-23F9-E7C0-5506-2B1BAE9B926F}"/>
              </a:ext>
            </a:extLst>
          </p:cNvPr>
          <p:cNvGraphicFramePr>
            <a:graphicFrameLocks noGrp="1"/>
          </p:cNvGraphicFramePr>
          <p:nvPr>
            <p:extLst>
              <p:ext uri="{D42A27DB-BD31-4B8C-83A1-F6EECF244321}">
                <p14:modId xmlns:p14="http://schemas.microsoft.com/office/powerpoint/2010/main" val="1857926170"/>
              </p:ext>
            </p:extLst>
          </p:nvPr>
        </p:nvGraphicFramePr>
        <p:xfrm>
          <a:off x="1257300" y="2400300"/>
          <a:ext cx="15773400" cy="6096000"/>
        </p:xfrm>
        <a:graphic>
          <a:graphicData uri="http://schemas.openxmlformats.org/drawingml/2006/table">
            <a:tbl>
              <a:tblPr firstRow="1" bandRow="1">
                <a:tableStyleId>{5C22544A-7EE6-4342-B048-85BDC9FD1C3A}</a:tableStyleId>
              </a:tblPr>
              <a:tblGrid>
                <a:gridCol w="2159000">
                  <a:extLst>
                    <a:ext uri="{9D8B030D-6E8A-4147-A177-3AD203B41FA5}">
                      <a16:colId xmlns:a16="http://schemas.microsoft.com/office/drawing/2014/main" val="2168286470"/>
                    </a:ext>
                  </a:extLst>
                </a:gridCol>
                <a:gridCol w="8534400">
                  <a:extLst>
                    <a:ext uri="{9D8B030D-6E8A-4147-A177-3AD203B41FA5}">
                      <a16:colId xmlns:a16="http://schemas.microsoft.com/office/drawing/2014/main" val="3424070089"/>
                    </a:ext>
                  </a:extLst>
                </a:gridCol>
                <a:gridCol w="5080000">
                  <a:extLst>
                    <a:ext uri="{9D8B030D-6E8A-4147-A177-3AD203B41FA5}">
                      <a16:colId xmlns:a16="http://schemas.microsoft.com/office/drawing/2014/main" val="394529833"/>
                    </a:ext>
                  </a:extLst>
                </a:gridCol>
              </a:tblGrid>
              <a:tr h="381000">
                <a:tc>
                  <a:txBody>
                    <a:bodyPr/>
                    <a:lstStyle/>
                    <a:p>
                      <a:r>
                        <a:rPr lang="en-US" sz="1200">
                          <a:latin typeface="Anova Bold" panose="020B0604020202020204" charset="0"/>
                        </a:rPr>
                        <a:t>View</a:t>
                      </a:r>
                    </a:p>
                  </a:txBody>
                  <a:tcPr marT="50800" marB="50800"/>
                </a:tc>
                <a:tc>
                  <a:txBody>
                    <a:bodyPr/>
                    <a:lstStyle/>
                    <a:p>
                      <a:r>
                        <a:rPr lang="en-US" sz="1200">
                          <a:latin typeface="Anova Bold" panose="020B0604020202020204" charset="0"/>
                        </a:rPr>
                        <a:t>What it shows</a:t>
                      </a:r>
                    </a:p>
                  </a:txBody>
                  <a:tcPr marT="50800" marB="50800"/>
                </a:tc>
                <a:tc>
                  <a:txBody>
                    <a:bodyPr/>
                    <a:lstStyle/>
                    <a:p>
                      <a:r>
                        <a:rPr lang="en-US" sz="1200">
                          <a:latin typeface="Anova Bold" panose="020B0604020202020204" charset="0"/>
                        </a:rPr>
                        <a:t>What you can do</a:t>
                      </a:r>
                    </a:p>
                  </a:txBody>
                  <a:tcPr marT="50800" marB="50800"/>
                </a:tc>
                <a:extLst>
                  <a:ext uri="{0D108BD9-81ED-4DB2-BD59-A6C34878D82A}">
                    <a16:rowId xmlns:a16="http://schemas.microsoft.com/office/drawing/2014/main" val="2649859524"/>
                  </a:ext>
                </a:extLst>
              </a:tr>
              <a:tr h="762000">
                <a:tc>
                  <a:txBody>
                    <a:bodyPr/>
                    <a:lstStyle/>
                    <a:p>
                      <a:r>
                        <a:rPr lang="en-US" sz="1400">
                          <a:latin typeface="Anova Bold" panose="020B0604020202020204" charset="0"/>
                        </a:rPr>
                        <a:t>Schema</a:t>
                      </a:r>
                    </a:p>
                  </a:txBody>
                  <a:tcPr marT="50800" marB="50800"/>
                </a:tc>
                <a:tc>
                  <a:txBody>
                    <a:bodyPr/>
                    <a:lstStyle/>
                    <a:p>
                      <a:r>
                        <a:rPr lang="en-US" sz="1400">
                          <a:latin typeface="Anova Light" panose="020B0604020202020204" charset="0"/>
                        </a:rPr>
                        <a:t>Databases, tables with rows and size, columns, DDL with shard and sort keys, a row preview, data skew over partitions. SAS libraries and caslibs as sources too, badged by kind.</a:t>
                      </a:r>
                    </a:p>
                  </a:txBody>
                  <a:tcPr marT="50800" marB="50800"/>
                </a:tc>
                <a:tc>
                  <a:txBody>
                    <a:bodyPr/>
                    <a:lstStyle/>
                    <a:p>
                      <a:r>
                        <a:rPr lang="en-US" sz="1400">
                          <a:latin typeface="Anova Light" panose="020B0604020202020204" charset="0"/>
                        </a:rPr>
                        <a:t>Check skew, refresh statistics, query in grid, clean up the work tables SAS jobs leave behind.</a:t>
                      </a:r>
                    </a:p>
                  </a:txBody>
                  <a:tcPr marT="50800" marB="50800"/>
                </a:tc>
                <a:extLst>
                  <a:ext uri="{0D108BD9-81ED-4DB2-BD59-A6C34878D82A}">
                    <a16:rowId xmlns:a16="http://schemas.microsoft.com/office/drawing/2014/main" val="3424198959"/>
                  </a:ext>
                </a:extLst>
              </a:tr>
              <a:tr h="762000">
                <a:tc>
                  <a:txBody>
                    <a:bodyPr/>
                    <a:lstStyle/>
                    <a:p>
                      <a:r>
                        <a:rPr lang="en-US" sz="1400">
                          <a:latin typeface="Anova Bold" panose="020B0604020202020204" charset="0"/>
                        </a:rPr>
                        <a:t>Pipelines</a:t>
                      </a:r>
                    </a:p>
                  </a:txBody>
                  <a:tcPr marT="50800" marB="50800"/>
                </a:tc>
                <a:tc>
                  <a:txBody>
                    <a:bodyPr/>
                    <a:lstStyle/>
                    <a:p>
                      <a:r>
                        <a:rPr lang="en-US" sz="1400">
                          <a:latin typeface="Anova Light" panose="020B0604020202020204" charset="0"/>
                        </a:rPr>
                        <a:t>Every pipeline's state, source and target, progress such as files loaded or Kafka lag, latest batches and errors.</a:t>
                      </a:r>
                    </a:p>
                  </a:txBody>
                  <a:tcPr marT="50800" marB="50800"/>
                </a:tc>
                <a:tc>
                  <a:txBody>
                    <a:bodyPr/>
                    <a:lstStyle/>
                    <a:p>
                      <a:r>
                        <a:rPr lang="en-US" sz="1400">
                          <a:latin typeface="Anova Light" panose="020B0604020202020204" charset="0"/>
                        </a:rPr>
                        <a:t>Start, stop and test with confirmation; hand an error to Claude.</a:t>
                      </a:r>
                    </a:p>
                  </a:txBody>
                  <a:tcPr marT="50800" marB="50800"/>
                </a:tc>
                <a:extLst>
                  <a:ext uri="{0D108BD9-81ED-4DB2-BD59-A6C34878D82A}">
                    <a16:rowId xmlns:a16="http://schemas.microsoft.com/office/drawing/2014/main" val="729204761"/>
                  </a:ext>
                </a:extLst>
              </a:tr>
              <a:tr h="762000">
                <a:tc>
                  <a:txBody>
                    <a:bodyPr/>
                    <a:lstStyle/>
                    <a:p>
                      <a:r>
                        <a:rPr lang="en-US" sz="1400">
                          <a:latin typeface="Anova Bold" panose="020B0604020202020204" charset="0"/>
                        </a:rPr>
                        <a:t>Cluster</a:t>
                      </a:r>
                    </a:p>
                  </a:txBody>
                  <a:tcPr marT="50800" marB="50800"/>
                </a:tc>
                <a:tc>
                  <a:txBody>
                    <a:bodyPr/>
                    <a:lstStyle/>
                    <a:p>
                      <a:r>
                        <a:rPr lang="en-US" sz="1400">
                          <a:latin typeface="Anova Light" panose="020B0604020202020204" charset="0"/>
                        </a:rPr>
                        <a:t>CPU, memory and disk per node, health and events, running queries, 7-day history, backups. Refreshes every 5 s.</a:t>
                      </a:r>
                    </a:p>
                  </a:txBody>
                  <a:tcPr marT="50800" marB="50800"/>
                </a:tc>
                <a:tc>
                  <a:txBody>
                    <a:bodyPr/>
                    <a:lstStyle/>
                    <a:p>
                      <a:r>
                        <a:rPr lang="en-US" sz="1400">
                          <a:latin typeface="Anova Light" panose="020B0604020202020204" charset="0"/>
                        </a:rPr>
                        <a:t>See a problem explained before it becomes a ticket.</a:t>
                      </a:r>
                    </a:p>
                  </a:txBody>
                  <a:tcPr marT="50800" marB="50800"/>
                </a:tc>
                <a:extLst>
                  <a:ext uri="{0D108BD9-81ED-4DB2-BD59-A6C34878D82A}">
                    <a16:rowId xmlns:a16="http://schemas.microsoft.com/office/drawing/2014/main" val="2319940357"/>
                  </a:ext>
                </a:extLst>
              </a:tr>
              <a:tr h="762000">
                <a:tc>
                  <a:txBody>
                    <a:bodyPr/>
                    <a:lstStyle/>
                    <a:p>
                      <a:r>
                        <a:rPr lang="en-US" sz="1400">
                          <a:latin typeface="Anova Bold" panose="020B0604020202020204" charset="0"/>
                        </a:rPr>
                        <a:t>History</a:t>
                      </a:r>
                    </a:p>
                  </a:txBody>
                  <a:tcPr marT="50800" marB="50800"/>
                </a:tc>
                <a:tc>
                  <a:txBody>
                    <a:bodyPr/>
                    <a:lstStyle/>
                    <a:p>
                      <a:r>
                        <a:rPr lang="en-US" sz="1400">
                          <a:latin typeface="Anova Light" panose="020B0604020202020204" charset="0"/>
                        </a:rPr>
                        <a:t>Every traced query with time, user, rows and a probable source: SAS CAS, SAS in-database, or a person.</a:t>
                      </a:r>
                    </a:p>
                  </a:txBody>
                  <a:tcPr marT="50800" marB="50800"/>
                </a:tc>
                <a:tc>
                  <a:txBody>
                    <a:bodyPr/>
                    <a:lstStyle/>
                    <a:p>
                      <a:r>
                        <a:rPr lang="en-US" sz="1400">
                          <a:latin typeface="Anova Light" panose="020B0604020202020204" charset="0"/>
                        </a:rPr>
                        <a:t>Group repeats, get tuning recommendations with the plan tree.</a:t>
                      </a:r>
                    </a:p>
                  </a:txBody>
                  <a:tcPr marT="50800" marB="50800"/>
                </a:tc>
                <a:extLst>
                  <a:ext uri="{0D108BD9-81ED-4DB2-BD59-A6C34878D82A}">
                    <a16:rowId xmlns:a16="http://schemas.microsoft.com/office/drawing/2014/main" val="565757829"/>
                  </a:ext>
                </a:extLst>
              </a:tr>
              <a:tr h="762000">
                <a:tc>
                  <a:txBody>
                    <a:bodyPr/>
                    <a:lstStyle/>
                    <a:p>
                      <a:r>
                        <a:rPr lang="en-US" sz="1400">
                          <a:latin typeface="Anova Bold" panose="020B0604020202020204" charset="0"/>
                        </a:rPr>
                        <a:t>Alerts</a:t>
                      </a:r>
                    </a:p>
                  </a:txBody>
                  <a:tcPr marT="50800" marB="50800"/>
                </a:tc>
                <a:tc>
                  <a:txBody>
                    <a:bodyPr/>
                    <a:lstStyle/>
                    <a:p>
                      <a:r>
                        <a:rPr lang="en-US" sz="1400">
                          <a:latin typeface="Anova Light" panose="020B0604020202020204" charset="0"/>
                        </a:rPr>
                        <a:t>Long or failed queries, failed pipeline batches, memory and disk over a threshold, nodes not online.</a:t>
                      </a:r>
                    </a:p>
                  </a:txBody>
                  <a:tcPr marT="50800" marB="50800"/>
                </a:tc>
                <a:tc>
                  <a:txBody>
                    <a:bodyPr/>
                    <a:lstStyle/>
                    <a:p>
                      <a:r>
                        <a:rPr lang="en-US" sz="1400">
                          <a:latin typeface="Anova Light" panose="020B0604020202020204" charset="0"/>
                        </a:rPr>
                        <a:t>Edit the rules, acknowledge, clear.</a:t>
                      </a:r>
                    </a:p>
                  </a:txBody>
                  <a:tcPr marT="50800" marB="50800"/>
                </a:tc>
                <a:extLst>
                  <a:ext uri="{0D108BD9-81ED-4DB2-BD59-A6C34878D82A}">
                    <a16:rowId xmlns:a16="http://schemas.microsoft.com/office/drawing/2014/main" val="2208268126"/>
                  </a:ext>
                </a:extLst>
              </a:tr>
              <a:tr h="762000">
                <a:tc>
                  <a:txBody>
                    <a:bodyPr/>
                    <a:lstStyle/>
                    <a:p>
                      <a:r>
                        <a:rPr lang="en-US" sz="1400">
                          <a:latin typeface="Anova Bold" panose="020B0604020202020204" charset="0"/>
                        </a:rPr>
                        <a:t>Workload</a:t>
                      </a:r>
                    </a:p>
                  </a:txBody>
                  <a:tcPr marT="50800" marB="50800"/>
                </a:tc>
                <a:tc>
                  <a:txBody>
                    <a:bodyPr/>
                    <a:lstStyle/>
                    <a:p>
                      <a:r>
                        <a:rPr lang="en-US" sz="1400">
                          <a:latin typeface="Anova Light" panose="020B0604020202020204" charset="0"/>
                        </a:rPr>
                        <a:t>Saved sets of statements replayed with N connections; live throughput and latency.</a:t>
                      </a:r>
                    </a:p>
                  </a:txBody>
                  <a:tcPr marT="50800" marB="50800"/>
                </a:tc>
                <a:tc>
                  <a:txBody>
                    <a:bodyPr/>
                    <a:lstStyle/>
                    <a:p>
                      <a:r>
                        <a:rPr lang="en-US" sz="1400">
                          <a:latin typeface="Anova Light" panose="020B0604020202020204" charset="0"/>
                        </a:rPr>
                        <a:t>Compare two runs, for example before and after a new sort key.</a:t>
                      </a:r>
                    </a:p>
                  </a:txBody>
                  <a:tcPr marT="50800" marB="50800"/>
                </a:tc>
                <a:extLst>
                  <a:ext uri="{0D108BD9-81ED-4DB2-BD59-A6C34878D82A}">
                    <a16:rowId xmlns:a16="http://schemas.microsoft.com/office/drawing/2014/main" val="1357137267"/>
                  </a:ext>
                </a:extLst>
              </a:tr>
              <a:tr h="762000">
                <a:tc>
                  <a:txBody>
                    <a:bodyPr/>
                    <a:lstStyle/>
                    <a:p>
                      <a:r>
                        <a:rPr lang="en-US" sz="1400">
                          <a:latin typeface="Anova Bold" panose="020B0604020202020204" charset="0"/>
                        </a:rPr>
                        <a:t>Security</a:t>
                      </a:r>
                    </a:p>
                  </a:txBody>
                  <a:tcPr marT="50800" marB="50800"/>
                </a:tc>
                <a:tc>
                  <a:txBody>
                    <a:bodyPr/>
                    <a:lstStyle/>
                    <a:p>
                      <a:r>
                        <a:rPr lang="en-US" sz="1400">
                          <a:latin typeface="Anova Light" panose="020B0604020202020204" charset="0"/>
                        </a:rPr>
                        <a:t>Users with risk flags, effective privileges with the reason, who can access what, resource pools, audit settings.</a:t>
                      </a:r>
                    </a:p>
                  </a:txBody>
                  <a:tcPr marT="50800" marB="50800"/>
                </a:tc>
                <a:tc>
                  <a:txBody>
                    <a:bodyPr/>
                    <a:lstStyle/>
                    <a:p>
                      <a:r>
                        <a:rPr lang="en-US" sz="1400">
                          <a:latin typeface="Anova Light" panose="020B0604020202020204" charset="0"/>
                        </a:rPr>
                        <a:t>Each change previewed as SQL and confirmed, or saved as a script for the DBA.</a:t>
                      </a:r>
                    </a:p>
                  </a:txBody>
                  <a:tcPr marT="50800" marB="50800"/>
                </a:tc>
                <a:extLst>
                  <a:ext uri="{0D108BD9-81ED-4DB2-BD59-A6C34878D82A}">
                    <a16:rowId xmlns:a16="http://schemas.microsoft.com/office/drawing/2014/main" val="1081748846"/>
                  </a:ext>
                </a:extLst>
              </a:tr>
            </a:tbl>
          </a:graphicData>
        </a:graphic>
      </p:graphicFrame>
    </p:spTree>
    <p:extLst>
      <p:ext uri="{BB962C8B-B14F-4D97-AF65-F5344CB8AC3E}">
        <p14:creationId xmlns:p14="http://schemas.microsoft.com/office/powerpoint/2010/main" val="2244212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3AFB3-DCB3-45F7-0FD0-FB0B421AABD0}"/>
              </a:ext>
            </a:extLst>
          </p:cNvPr>
          <p:cNvSpPr>
            <a:spLocks noGrp="1"/>
          </p:cNvSpPr>
          <p:nvPr>
            <p:ph type="title"/>
          </p:nvPr>
        </p:nvSpPr>
        <p:spPr>
          <a:xfrm>
            <a:off x="1257300" y="821103"/>
            <a:ext cx="15773400" cy="553998"/>
          </a:xfrm>
        </p:spPr>
        <p:txBody>
          <a:bodyPr/>
          <a:lstStyle/>
          <a:p>
            <a:r>
              <a:rPr lang="en-US" sz="4000">
                <a:solidFill>
                  <a:srgbClr val="032954"/>
                </a:solidFill>
              </a:rPr>
              <a:t>SAS is a source, a language and a file system in the Studio</a:t>
            </a:r>
          </a:p>
        </p:txBody>
      </p:sp>
      <p:sp>
        <p:nvSpPr>
          <p:cNvPr id="3" name="Rectangle: Rounded Corners 2">
            <a:extLst>
              <a:ext uri="{FF2B5EF4-FFF2-40B4-BE49-F238E27FC236}">
                <a16:creationId xmlns:a16="http://schemas.microsoft.com/office/drawing/2014/main" id="{A1D2800B-3D3E-B18A-F86B-0367B7DFE242}"/>
              </a:ext>
            </a:extLst>
          </p:cNvPr>
          <p:cNvSpPr/>
          <p:nvPr/>
        </p:nvSpPr>
        <p:spPr>
          <a:xfrm>
            <a:off x="1257300" y="2400300"/>
            <a:ext cx="5122333" cy="3683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A659E19A-9145-90AB-B36F-2BE31F428E4F}"/>
              </a:ext>
            </a:extLst>
          </p:cNvPr>
          <p:cNvCxnSpPr/>
          <p:nvPr/>
        </p:nvCxnSpPr>
        <p:spPr>
          <a:xfrm>
            <a:off x="1333500" y="2413000"/>
            <a:ext cx="4969933" cy="0"/>
          </a:xfrm>
          <a:prstGeom prst="line">
            <a:avLst/>
          </a:prstGeom>
          <a:ln w="38100">
            <a:solidFill>
              <a:srgbClr val="4398F9"/>
            </a:solidFill>
            <a:tailEnd type="non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D0F2FE6-3F31-28DD-C0DA-5649F06371E6}"/>
              </a:ext>
            </a:extLst>
          </p:cNvPr>
          <p:cNvSpPr txBox="1"/>
          <p:nvPr/>
        </p:nvSpPr>
        <p:spPr>
          <a:xfrm>
            <a:off x="1333500" y="2476500"/>
            <a:ext cx="4969933" cy="553998"/>
          </a:xfrm>
          <a:prstGeom prst="rect">
            <a:avLst/>
          </a:prstGeom>
          <a:noFill/>
        </p:spPr>
        <p:txBody>
          <a:bodyPr vert="horz" wrap="square" lIns="101600" tIns="101600" rIns="101600" bIns="101600" rtlCol="0" anchor="t">
            <a:noAutofit/>
          </a:bodyPr>
          <a:lstStyle/>
          <a:p>
            <a:pPr>
              <a:lnSpc>
                <a:spcPct val="105000"/>
              </a:lnSpc>
            </a:pPr>
            <a:r>
              <a:rPr lang="en-US" sz="1100">
                <a:solidFill>
                  <a:srgbClr val="4398F9"/>
                </a:solidFill>
                <a:latin typeface="Anova Bold" panose="020B0604020202020204" charset="0"/>
              </a:rPr>
              <a:t>SOURCES</a:t>
            </a:r>
          </a:p>
          <a:p>
            <a:pPr>
              <a:lnSpc>
                <a:spcPct val="105000"/>
              </a:lnSpc>
              <a:spcBef>
                <a:spcPts val="200"/>
              </a:spcBef>
            </a:pPr>
            <a:r>
              <a:rPr lang="en-US" sz="1900">
                <a:solidFill>
                  <a:srgbClr val="032954"/>
                </a:solidFill>
                <a:latin typeface="Anova Bold" panose="020B0604020202020204" charset="0"/>
              </a:rPr>
              <a:t>SAS libraries and caslibs</a:t>
            </a:r>
          </a:p>
          <a:p>
            <a:pPr>
              <a:lnSpc>
                <a:spcPct val="105000"/>
              </a:lnSpc>
              <a:spcBef>
                <a:spcPts val="400"/>
              </a:spcBef>
            </a:pPr>
            <a:r>
              <a:rPr lang="en-US" sz="1700">
                <a:solidFill>
                  <a:srgbClr val="000000"/>
                </a:solidFill>
                <a:latin typeface="Anova Light" panose="020B0604020202020204" charset="0"/>
              </a:rPr>
              <a:t>The Schema Explorer and the SQL editor's tree list SAS libraries from the Compute session and caslibs from CAS, next to SingleStore databases. Badges tell the kind apart: a SpeedyStore caslib that pushes down live, a standard connector that loads into memory, a SAS/ACCESS libname, a SAS 9 library over SAS/CONNECT.</a:t>
            </a:r>
            <a:endParaRPr lang="en-US" sz="1700" dirty="0">
              <a:solidFill>
                <a:srgbClr val="000000"/>
              </a:solidFill>
              <a:latin typeface="Anova Light" panose="020B0604020202020204" charset="0"/>
            </a:endParaRPr>
          </a:p>
        </p:txBody>
      </p:sp>
      <p:sp>
        <p:nvSpPr>
          <p:cNvPr id="6" name="Rectangle: Rounded Corners 5">
            <a:extLst>
              <a:ext uri="{FF2B5EF4-FFF2-40B4-BE49-F238E27FC236}">
                <a16:creationId xmlns:a16="http://schemas.microsoft.com/office/drawing/2014/main" id="{040C83BD-D70B-300F-414A-D740CA2CAA27}"/>
              </a:ext>
            </a:extLst>
          </p:cNvPr>
          <p:cNvSpPr/>
          <p:nvPr/>
        </p:nvSpPr>
        <p:spPr>
          <a:xfrm>
            <a:off x="6582833" y="2400300"/>
            <a:ext cx="5122333" cy="3683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62544A27-443B-2C92-6F10-B882C9074B48}"/>
              </a:ext>
            </a:extLst>
          </p:cNvPr>
          <p:cNvCxnSpPr/>
          <p:nvPr/>
        </p:nvCxnSpPr>
        <p:spPr>
          <a:xfrm>
            <a:off x="6659033" y="2413000"/>
            <a:ext cx="4969934" cy="0"/>
          </a:xfrm>
          <a:prstGeom prst="line">
            <a:avLst/>
          </a:prstGeom>
          <a:ln w="38100">
            <a:solidFill>
              <a:srgbClr val="4398F9"/>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00AA476-304F-7C35-459C-6519A01B2FFF}"/>
              </a:ext>
            </a:extLst>
          </p:cNvPr>
          <p:cNvSpPr txBox="1"/>
          <p:nvPr/>
        </p:nvSpPr>
        <p:spPr>
          <a:xfrm>
            <a:off x="6659033" y="2476500"/>
            <a:ext cx="4969933" cy="553998"/>
          </a:xfrm>
          <a:prstGeom prst="rect">
            <a:avLst/>
          </a:prstGeom>
          <a:noFill/>
        </p:spPr>
        <p:txBody>
          <a:bodyPr vert="horz" wrap="square" lIns="101600" tIns="101600" rIns="101600" bIns="101600" rtlCol="0" anchor="t">
            <a:noAutofit/>
          </a:bodyPr>
          <a:lstStyle/>
          <a:p>
            <a:pPr>
              <a:lnSpc>
                <a:spcPct val="105000"/>
              </a:lnSpc>
            </a:pPr>
            <a:r>
              <a:rPr lang="en-US" sz="1100">
                <a:solidFill>
                  <a:srgbClr val="4398F9"/>
                </a:solidFill>
                <a:latin typeface="Anova Bold" panose="020B0604020202020204" charset="0"/>
              </a:rPr>
              <a:t>LANGUAGES</a:t>
            </a:r>
          </a:p>
          <a:p>
            <a:pPr>
              <a:lnSpc>
                <a:spcPct val="105000"/>
              </a:lnSpc>
              <a:spcBef>
                <a:spcPts val="200"/>
              </a:spcBef>
            </a:pPr>
            <a:r>
              <a:rPr lang="en-US" sz="1900">
                <a:solidFill>
                  <a:srgbClr val="032954"/>
                </a:solidFill>
                <a:latin typeface="Anova Bold" panose="020B0604020202020204" charset="0"/>
              </a:rPr>
              <a:t>PROC SQL, FedSQL, CAS</a:t>
            </a:r>
          </a:p>
          <a:p>
            <a:pPr>
              <a:lnSpc>
                <a:spcPct val="105000"/>
              </a:lnSpc>
              <a:spcBef>
                <a:spcPts val="400"/>
              </a:spcBef>
            </a:pPr>
            <a:r>
              <a:rPr lang="en-US" sz="1700">
                <a:solidFill>
                  <a:srgbClr val="000000"/>
                </a:solidFill>
                <a:latin typeface="Anova Light" panose="020B0604020202020204" charset="0"/>
              </a:rPr>
              <a:t>Run as picks the engine per tab. SAS cells in the notebook. One Compute and one CAS session per Viya connection, started in the background when the Studio opens so the first run doesn't wait.</a:t>
            </a:r>
            <a:endParaRPr lang="en-US" sz="1700" dirty="0">
              <a:solidFill>
                <a:srgbClr val="000000"/>
              </a:solidFill>
              <a:latin typeface="Anova Light" panose="020B0604020202020204" charset="0"/>
            </a:endParaRPr>
          </a:p>
        </p:txBody>
      </p:sp>
      <p:sp>
        <p:nvSpPr>
          <p:cNvPr id="9" name="Rectangle: Rounded Corners 8">
            <a:extLst>
              <a:ext uri="{FF2B5EF4-FFF2-40B4-BE49-F238E27FC236}">
                <a16:creationId xmlns:a16="http://schemas.microsoft.com/office/drawing/2014/main" id="{5BE85C16-3F65-E3AC-1F6C-3A908BDC6A78}"/>
              </a:ext>
            </a:extLst>
          </p:cNvPr>
          <p:cNvSpPr/>
          <p:nvPr/>
        </p:nvSpPr>
        <p:spPr>
          <a:xfrm>
            <a:off x="11908367" y="2400300"/>
            <a:ext cx="5122333" cy="3683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E34CAA2E-CCEC-DF1F-1FB8-87F3820DDF69}"/>
              </a:ext>
            </a:extLst>
          </p:cNvPr>
          <p:cNvCxnSpPr/>
          <p:nvPr/>
        </p:nvCxnSpPr>
        <p:spPr>
          <a:xfrm>
            <a:off x="11984567" y="2413000"/>
            <a:ext cx="4969933" cy="0"/>
          </a:xfrm>
          <a:prstGeom prst="line">
            <a:avLst/>
          </a:prstGeom>
          <a:ln w="38100">
            <a:solidFill>
              <a:srgbClr val="4398F9"/>
            </a:solidFill>
            <a:tailEnd type="non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DA2303F-47D3-10E3-799E-86422F6567E0}"/>
              </a:ext>
            </a:extLst>
          </p:cNvPr>
          <p:cNvSpPr txBox="1"/>
          <p:nvPr/>
        </p:nvSpPr>
        <p:spPr>
          <a:xfrm>
            <a:off x="11984567" y="2476500"/>
            <a:ext cx="4969933" cy="553998"/>
          </a:xfrm>
          <a:prstGeom prst="rect">
            <a:avLst/>
          </a:prstGeom>
          <a:noFill/>
        </p:spPr>
        <p:txBody>
          <a:bodyPr vert="horz" wrap="square" lIns="101600" tIns="101600" rIns="101600" bIns="101600" rtlCol="0" anchor="t">
            <a:noAutofit/>
          </a:bodyPr>
          <a:lstStyle/>
          <a:p>
            <a:pPr>
              <a:lnSpc>
                <a:spcPct val="105000"/>
              </a:lnSpc>
            </a:pPr>
            <a:r>
              <a:rPr lang="en-US" sz="1100">
                <a:solidFill>
                  <a:srgbClr val="4398F9"/>
                </a:solidFill>
                <a:latin typeface="Anova Bold" panose="020B0604020202020204" charset="0"/>
              </a:rPr>
              <a:t>FILES AND SIGN-IN</a:t>
            </a:r>
          </a:p>
          <a:p>
            <a:pPr>
              <a:lnSpc>
                <a:spcPct val="105000"/>
              </a:lnSpc>
              <a:spcBef>
                <a:spcPts val="200"/>
              </a:spcBef>
            </a:pPr>
            <a:r>
              <a:rPr lang="en-US" sz="1900">
                <a:solidFill>
                  <a:srgbClr val="032954"/>
                </a:solidFill>
                <a:latin typeface="Anova Bold" panose="020B0604020202020204" charset="0"/>
              </a:rPr>
              <a:t>SAS Content and SAS server</a:t>
            </a:r>
          </a:p>
          <a:p>
            <a:pPr>
              <a:lnSpc>
                <a:spcPct val="105000"/>
              </a:lnSpc>
              <a:spcBef>
                <a:spcPts val="400"/>
              </a:spcBef>
            </a:pPr>
            <a:r>
              <a:rPr lang="en-US" sz="1700">
                <a:solidFill>
                  <a:srgbClr val="000000"/>
                </a:solidFill>
                <a:latin typeface="Anova Light" panose="020B0604020202020204" charset="0"/>
              </a:rPr>
              <a:t>Open and save programs and notebooks where SAS Studio keeps them. Sign in with your own Viya account through SAS Logon; several saved Viya connections, one active, a tab can be pinned to another.</a:t>
            </a:r>
            <a:endParaRPr lang="en-US" sz="1700" dirty="0">
              <a:solidFill>
                <a:srgbClr val="000000"/>
              </a:solidFill>
              <a:latin typeface="Anova Light" panose="020B0604020202020204" charset="0"/>
            </a:endParaRPr>
          </a:p>
        </p:txBody>
      </p:sp>
      <p:sp>
        <p:nvSpPr>
          <p:cNvPr id="12" name="Rectangle: Rounded Corners 11">
            <a:extLst>
              <a:ext uri="{FF2B5EF4-FFF2-40B4-BE49-F238E27FC236}">
                <a16:creationId xmlns:a16="http://schemas.microsoft.com/office/drawing/2014/main" id="{AFAAFA7D-86C0-64AD-A32F-A71F0DE7F872}"/>
              </a:ext>
            </a:extLst>
          </p:cNvPr>
          <p:cNvSpPr/>
          <p:nvPr/>
        </p:nvSpPr>
        <p:spPr>
          <a:xfrm>
            <a:off x="1257300" y="6337300"/>
            <a:ext cx="15773400" cy="889000"/>
          </a:xfrm>
          <a:prstGeom prst="roundRect">
            <a:avLst>
              <a:gd name="adj" fmla="val 4000"/>
            </a:avLst>
          </a:prstGeom>
          <a:solidFill>
            <a:srgbClr val="EEF4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9CC51C9-A9E0-6C35-BFF3-0714242681B8}"/>
              </a:ext>
            </a:extLst>
          </p:cNvPr>
          <p:cNvSpPr txBox="1"/>
          <p:nvPr/>
        </p:nvSpPr>
        <p:spPr>
          <a:xfrm>
            <a:off x="1358900" y="6337300"/>
            <a:ext cx="15570200" cy="553998"/>
          </a:xfrm>
          <a:prstGeom prst="rect">
            <a:avLst/>
          </a:prstGeom>
          <a:noFill/>
        </p:spPr>
        <p:txBody>
          <a:bodyPr vert="horz" wrap="square" lIns="127000" tIns="127000" rIns="127000" bIns="127000" rtlCol="0" anchor="ctr">
            <a:noAutofit/>
          </a:bodyPr>
          <a:lstStyle/>
          <a:p>
            <a:pPr>
              <a:lnSpc>
                <a:spcPct val="105000"/>
              </a:lnSpc>
              <a:spcBef>
                <a:spcPts val="200"/>
              </a:spcBef>
            </a:pPr>
            <a:r>
              <a:rPr lang="en-US" sz="1700">
                <a:solidFill>
                  <a:srgbClr val="032954"/>
                </a:solidFill>
                <a:latin typeface="Anova Bold" panose="020B0604020202020204" charset="0"/>
              </a:rPr>
              <a:t>Why it matters.</a:t>
            </a:r>
            <a:r>
              <a:rPr lang="en-US" sz="1700">
                <a:solidFill>
                  <a:srgbClr val="032954"/>
                </a:solidFill>
                <a:latin typeface="Anova Light" panose="020B0604020202020204" charset="0"/>
              </a:rPr>
              <a:t> SAS SpeedyStore is SAS Viya and SingleStore together. The Studio shows both sides of every table and lets you choose, per query, where the work runs.</a:t>
            </a:r>
            <a:endParaRPr lang="en-US" sz="1700" dirty="0">
              <a:solidFill>
                <a:srgbClr val="032954"/>
              </a:solidFill>
              <a:latin typeface="Anova Light" panose="020B0604020202020204" charset="0"/>
            </a:endParaRPr>
          </a:p>
        </p:txBody>
      </p:sp>
    </p:spTree>
    <p:extLst>
      <p:ext uri="{BB962C8B-B14F-4D97-AF65-F5344CB8AC3E}">
        <p14:creationId xmlns:p14="http://schemas.microsoft.com/office/powerpoint/2010/main" val="321204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A7496-A39E-A37F-7F6C-21B71AFE01A8}"/>
              </a:ext>
            </a:extLst>
          </p:cNvPr>
          <p:cNvSpPr>
            <a:spLocks noGrp="1"/>
          </p:cNvSpPr>
          <p:nvPr>
            <p:ph type="title"/>
          </p:nvPr>
        </p:nvSpPr>
        <p:spPr>
          <a:xfrm>
            <a:off x="1257300" y="821103"/>
            <a:ext cx="15773400" cy="553998"/>
          </a:xfrm>
        </p:spPr>
        <p:txBody>
          <a:bodyPr/>
          <a:lstStyle/>
          <a:p>
            <a:r>
              <a:rPr lang="en-US" sz="4000">
                <a:solidFill>
                  <a:srgbClr val="032954"/>
                </a:solidFill>
              </a:rPr>
              <a:t>What changes for the people who use it</a:t>
            </a:r>
          </a:p>
        </p:txBody>
      </p:sp>
      <p:sp>
        <p:nvSpPr>
          <p:cNvPr id="3" name="Rectangle: Rounded Corners 2">
            <a:extLst>
              <a:ext uri="{FF2B5EF4-FFF2-40B4-BE49-F238E27FC236}">
                <a16:creationId xmlns:a16="http://schemas.microsoft.com/office/drawing/2014/main" id="{AE53D67A-5F42-CC98-AB4A-40F0DBA3C0F2}"/>
              </a:ext>
            </a:extLst>
          </p:cNvPr>
          <p:cNvSpPr/>
          <p:nvPr/>
        </p:nvSpPr>
        <p:spPr>
          <a:xfrm>
            <a:off x="1257300" y="2400300"/>
            <a:ext cx="5122333" cy="3175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58C2DFB8-061E-0CAD-3E09-F1D2CDEAE9AF}"/>
              </a:ext>
            </a:extLst>
          </p:cNvPr>
          <p:cNvCxnSpPr/>
          <p:nvPr/>
        </p:nvCxnSpPr>
        <p:spPr>
          <a:xfrm>
            <a:off x="1333500" y="2413000"/>
            <a:ext cx="4969933" cy="0"/>
          </a:xfrm>
          <a:prstGeom prst="line">
            <a:avLst/>
          </a:prstGeom>
          <a:ln w="38100">
            <a:solidFill>
              <a:srgbClr val="032954"/>
            </a:solidFill>
            <a:tailEnd type="non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A623B19-58A0-A16C-0C27-1D01DBEA29DA}"/>
              </a:ext>
            </a:extLst>
          </p:cNvPr>
          <p:cNvSpPr txBox="1"/>
          <p:nvPr/>
        </p:nvSpPr>
        <p:spPr>
          <a:xfrm>
            <a:off x="1333500" y="2476500"/>
            <a:ext cx="4969933" cy="553998"/>
          </a:xfrm>
          <a:prstGeom prst="rect">
            <a:avLst/>
          </a:prstGeom>
          <a:noFill/>
        </p:spPr>
        <p:txBody>
          <a:bodyPr vert="horz" wrap="square" lIns="101600" tIns="101600" rIns="101600" bIns="101600" rtlCol="0" anchor="t">
            <a:noAutofit/>
          </a:bodyPr>
          <a:lstStyle/>
          <a:p>
            <a:pPr>
              <a:lnSpc>
                <a:spcPct val="105000"/>
              </a:lnSpc>
            </a:pPr>
            <a:r>
              <a:rPr lang="en-US" sz="1100">
                <a:solidFill>
                  <a:srgbClr val="032954"/>
                </a:solidFill>
                <a:latin typeface="Anova Bold" panose="020B0604020202020204" charset="0"/>
              </a:rPr>
              <a:t>ANALYST</a:t>
            </a:r>
          </a:p>
          <a:p>
            <a:pPr>
              <a:lnSpc>
                <a:spcPct val="105000"/>
              </a:lnSpc>
              <a:spcBef>
                <a:spcPts val="200"/>
              </a:spcBef>
            </a:pPr>
            <a:r>
              <a:rPr lang="en-US" sz="2100">
                <a:solidFill>
                  <a:srgbClr val="032954"/>
                </a:solidFill>
                <a:latin typeface="Anova Bold" panose="020B0604020202020204" charset="0"/>
              </a:rPr>
              <a:t>From question to answer in one place</a:t>
            </a:r>
            <a:endParaRPr lang="en-US" sz="2100" dirty="0">
              <a:solidFill>
                <a:srgbClr val="032954"/>
              </a:solidFill>
              <a:latin typeface="Anova Bold" panose="020B0604020202020204" charset="0"/>
            </a:endParaRPr>
          </a:p>
        </p:txBody>
      </p:sp>
      <p:sp>
        <p:nvSpPr>
          <p:cNvPr id="6" name="TextBox 5">
            <a:extLst>
              <a:ext uri="{FF2B5EF4-FFF2-40B4-BE49-F238E27FC236}">
                <a16:creationId xmlns:a16="http://schemas.microsoft.com/office/drawing/2014/main" id="{6E20890E-6D5C-7A79-D7C1-261C875B6579}"/>
              </a:ext>
            </a:extLst>
          </p:cNvPr>
          <p:cNvSpPr txBox="1"/>
          <p:nvPr/>
        </p:nvSpPr>
        <p:spPr>
          <a:xfrm>
            <a:off x="1333500" y="3521075"/>
            <a:ext cx="4969933" cy="553998"/>
          </a:xfrm>
          <a:prstGeom prst="rect">
            <a:avLst/>
          </a:prstGeom>
          <a:noFill/>
        </p:spPr>
        <p:txBody>
          <a:bodyPr vert="horz" wrap="square" lIns="101600" tIns="101600" rIns="101600" bIns="101600" rtlCol="0" anchor="t">
            <a:noAutofit/>
          </a:bodyPr>
          <a:lstStyle/>
          <a:p>
            <a:pPr marL="177800" indent="-177800">
              <a:lnSpc>
                <a:spcPct val="105000"/>
              </a:lnSpc>
              <a:spcBef>
                <a:spcPts val="400"/>
              </a:spcBef>
              <a:buClr>
                <a:srgbClr val="0766D1"/>
              </a:buClr>
              <a:buSzPct val="90000"/>
              <a:buFont typeface="+mj-lt"/>
              <a:buChar char="•"/>
            </a:pPr>
            <a:r>
              <a:rPr lang="en-US" sz="1800">
                <a:solidFill>
                  <a:srgbClr val="000000"/>
                </a:solidFill>
                <a:latin typeface="Anova Light" panose="020B0604020202020204" charset="0"/>
              </a:rPr>
              <a:t>Ask in plain words, get SQL that uses the real schema, run it, chart it</a:t>
            </a:r>
          </a:p>
          <a:p>
            <a:pPr marL="177800" indent="-177800">
              <a:lnSpc>
                <a:spcPct val="105000"/>
              </a:lnSpc>
              <a:spcBef>
                <a:spcPts val="400"/>
              </a:spcBef>
              <a:buClr>
                <a:srgbClr val="0766D1"/>
              </a:buClr>
              <a:buSzPct val="90000"/>
              <a:buFont typeface="+mj-lt"/>
              <a:buChar char="•"/>
            </a:pPr>
            <a:r>
              <a:rPr lang="en-US" sz="1800">
                <a:solidFill>
                  <a:srgbClr val="000000"/>
                </a:solidFill>
                <a:latin typeface="Anova Light" panose="020B0604020202020204" charset="0"/>
              </a:rPr>
              <a:t>Notebook for the analysis, SAS cell when the method lives in SAS</a:t>
            </a:r>
          </a:p>
          <a:p>
            <a:pPr marL="177800" indent="-177800">
              <a:lnSpc>
                <a:spcPct val="105000"/>
              </a:lnSpc>
              <a:spcBef>
                <a:spcPts val="400"/>
              </a:spcBef>
              <a:buClr>
                <a:srgbClr val="0766D1"/>
              </a:buClr>
              <a:buSzPct val="90000"/>
              <a:buFont typeface="+mj-lt"/>
              <a:buChar char="•"/>
            </a:pPr>
            <a:r>
              <a:rPr lang="en-US" sz="1800">
                <a:solidFill>
                  <a:srgbClr val="000000"/>
                </a:solidFill>
                <a:latin typeface="Anova Light" panose="020B0604020202020204" charset="0"/>
              </a:rPr>
              <a:t>No copies of data on the laptop</a:t>
            </a:r>
            <a:endParaRPr lang="en-US" sz="1800" dirty="0">
              <a:solidFill>
                <a:srgbClr val="000000"/>
              </a:solidFill>
              <a:latin typeface="Anova Light" panose="020B0604020202020204" charset="0"/>
            </a:endParaRPr>
          </a:p>
        </p:txBody>
      </p:sp>
      <p:sp>
        <p:nvSpPr>
          <p:cNvPr id="7" name="Rectangle: Rounded Corners 6">
            <a:extLst>
              <a:ext uri="{FF2B5EF4-FFF2-40B4-BE49-F238E27FC236}">
                <a16:creationId xmlns:a16="http://schemas.microsoft.com/office/drawing/2014/main" id="{C9B9CC72-5EBF-4D3F-D31E-9B63364FA035}"/>
              </a:ext>
            </a:extLst>
          </p:cNvPr>
          <p:cNvSpPr/>
          <p:nvPr/>
        </p:nvSpPr>
        <p:spPr>
          <a:xfrm>
            <a:off x="6582833" y="2400300"/>
            <a:ext cx="5122333" cy="3175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73A0D7DE-BBFE-35B0-237B-29181BA981EB}"/>
              </a:ext>
            </a:extLst>
          </p:cNvPr>
          <p:cNvCxnSpPr/>
          <p:nvPr/>
        </p:nvCxnSpPr>
        <p:spPr>
          <a:xfrm>
            <a:off x="6659033" y="2413000"/>
            <a:ext cx="4969934" cy="0"/>
          </a:xfrm>
          <a:prstGeom prst="line">
            <a:avLst/>
          </a:prstGeom>
          <a:ln w="38100">
            <a:solidFill>
              <a:srgbClr val="4398F9"/>
            </a:solidFill>
            <a:tailEnd type="non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84F026B-6F45-D901-14F4-8BBC897A66EE}"/>
              </a:ext>
            </a:extLst>
          </p:cNvPr>
          <p:cNvSpPr txBox="1"/>
          <p:nvPr/>
        </p:nvSpPr>
        <p:spPr>
          <a:xfrm>
            <a:off x="6659033" y="2476500"/>
            <a:ext cx="4969933" cy="553998"/>
          </a:xfrm>
          <a:prstGeom prst="rect">
            <a:avLst/>
          </a:prstGeom>
          <a:noFill/>
        </p:spPr>
        <p:txBody>
          <a:bodyPr vert="horz" wrap="square" lIns="101600" tIns="101600" rIns="101600" bIns="101600" rtlCol="0" anchor="t">
            <a:noAutofit/>
          </a:bodyPr>
          <a:lstStyle/>
          <a:p>
            <a:pPr>
              <a:lnSpc>
                <a:spcPct val="105000"/>
              </a:lnSpc>
            </a:pPr>
            <a:r>
              <a:rPr lang="en-US" sz="1100">
                <a:solidFill>
                  <a:srgbClr val="4398F9"/>
                </a:solidFill>
                <a:latin typeface="Anova Bold" panose="020B0604020202020204" charset="0"/>
              </a:rPr>
              <a:t>DATA ENGINEER</a:t>
            </a:r>
          </a:p>
          <a:p>
            <a:pPr>
              <a:lnSpc>
                <a:spcPct val="105000"/>
              </a:lnSpc>
              <a:spcBef>
                <a:spcPts val="200"/>
              </a:spcBef>
            </a:pPr>
            <a:r>
              <a:rPr lang="en-US" sz="2100">
                <a:solidFill>
                  <a:srgbClr val="032954"/>
                </a:solidFill>
                <a:latin typeface="Anova Bold" panose="020B0604020202020204" charset="0"/>
              </a:rPr>
              <a:t>Pipelines and pushdown you can see</a:t>
            </a:r>
            <a:endParaRPr lang="en-US" sz="2100" dirty="0">
              <a:solidFill>
                <a:srgbClr val="032954"/>
              </a:solidFill>
              <a:latin typeface="Anova Bold" panose="020B0604020202020204" charset="0"/>
            </a:endParaRPr>
          </a:p>
        </p:txBody>
      </p:sp>
      <p:sp>
        <p:nvSpPr>
          <p:cNvPr id="10" name="TextBox 9">
            <a:extLst>
              <a:ext uri="{FF2B5EF4-FFF2-40B4-BE49-F238E27FC236}">
                <a16:creationId xmlns:a16="http://schemas.microsoft.com/office/drawing/2014/main" id="{208503E5-5C8E-9D37-E9A7-201C7DFB6E1F}"/>
              </a:ext>
            </a:extLst>
          </p:cNvPr>
          <p:cNvSpPr txBox="1"/>
          <p:nvPr/>
        </p:nvSpPr>
        <p:spPr>
          <a:xfrm>
            <a:off x="6659033" y="3187700"/>
            <a:ext cx="4969933" cy="553998"/>
          </a:xfrm>
          <a:prstGeom prst="rect">
            <a:avLst/>
          </a:prstGeom>
          <a:noFill/>
        </p:spPr>
        <p:txBody>
          <a:bodyPr vert="horz" wrap="square" lIns="101600" tIns="101600" rIns="101600" bIns="101600" rtlCol="0" anchor="t">
            <a:noAutofit/>
          </a:bodyPr>
          <a:lstStyle/>
          <a:p>
            <a:pPr marL="177800" indent="-177800">
              <a:lnSpc>
                <a:spcPct val="105000"/>
              </a:lnSpc>
              <a:spcBef>
                <a:spcPts val="400"/>
              </a:spcBef>
              <a:buClr>
                <a:srgbClr val="0766D1"/>
              </a:buClr>
              <a:buSzPct val="90000"/>
              <a:buFont typeface="+mj-lt"/>
              <a:buChar char="•"/>
            </a:pPr>
            <a:r>
              <a:rPr lang="en-US" sz="1800">
                <a:solidFill>
                  <a:srgbClr val="000000"/>
                </a:solidFill>
                <a:latin typeface="Anova Light" panose="020B0604020202020204" charset="0"/>
              </a:rPr>
              <a:t>Kafka and S3 loads created, tested and watched from the same window</a:t>
            </a:r>
          </a:p>
          <a:p>
            <a:pPr marL="177800" indent="-177800">
              <a:lnSpc>
                <a:spcPct val="105000"/>
              </a:lnSpc>
              <a:spcBef>
                <a:spcPts val="400"/>
              </a:spcBef>
              <a:buClr>
                <a:srgbClr val="0766D1"/>
              </a:buClr>
              <a:buSzPct val="90000"/>
              <a:buFont typeface="+mj-lt"/>
              <a:buChar char="•"/>
            </a:pPr>
            <a:r>
              <a:rPr lang="en-US" sz="1800">
                <a:solidFill>
                  <a:srgbClr val="000000"/>
                </a:solidFill>
                <a:latin typeface="Anova Light" panose="020B0604020202020204" charset="0"/>
              </a:rPr>
              <a:t>Try a query native and through SAS, and see what was pushed down</a:t>
            </a:r>
          </a:p>
          <a:p>
            <a:pPr marL="177800" indent="-177800">
              <a:lnSpc>
                <a:spcPct val="105000"/>
              </a:lnSpc>
              <a:spcBef>
                <a:spcPts val="400"/>
              </a:spcBef>
              <a:buClr>
                <a:srgbClr val="0766D1"/>
              </a:buClr>
              <a:buSzPct val="90000"/>
              <a:buFont typeface="+mj-lt"/>
              <a:buChar char="•"/>
            </a:pPr>
            <a:r>
              <a:rPr lang="en-US" sz="1800">
                <a:solidFill>
                  <a:srgbClr val="000000"/>
                </a:solidFill>
                <a:latin typeface="Anova Light" panose="020B0604020202020204" charset="0"/>
              </a:rPr>
              <a:t>Replay a workload before and after a schema change</a:t>
            </a:r>
            <a:endParaRPr lang="en-US" sz="1800" dirty="0">
              <a:solidFill>
                <a:srgbClr val="000000"/>
              </a:solidFill>
              <a:latin typeface="Anova Light" panose="020B0604020202020204" charset="0"/>
            </a:endParaRPr>
          </a:p>
        </p:txBody>
      </p:sp>
      <p:sp>
        <p:nvSpPr>
          <p:cNvPr id="11" name="Rectangle: Rounded Corners 10">
            <a:extLst>
              <a:ext uri="{FF2B5EF4-FFF2-40B4-BE49-F238E27FC236}">
                <a16:creationId xmlns:a16="http://schemas.microsoft.com/office/drawing/2014/main" id="{CD776BF5-F35F-56FC-3295-05E4CC852B98}"/>
              </a:ext>
            </a:extLst>
          </p:cNvPr>
          <p:cNvSpPr/>
          <p:nvPr/>
        </p:nvSpPr>
        <p:spPr>
          <a:xfrm>
            <a:off x="11908367" y="2400300"/>
            <a:ext cx="5122333" cy="3175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1B380CDC-B081-EEA8-E442-69318CC8A3D9}"/>
              </a:ext>
            </a:extLst>
          </p:cNvPr>
          <p:cNvCxnSpPr/>
          <p:nvPr/>
        </p:nvCxnSpPr>
        <p:spPr>
          <a:xfrm>
            <a:off x="11984567" y="2413000"/>
            <a:ext cx="4969933" cy="0"/>
          </a:xfrm>
          <a:prstGeom prst="line">
            <a:avLst/>
          </a:prstGeom>
          <a:ln w="38100">
            <a:solidFill>
              <a:srgbClr val="0766D1"/>
            </a:solidFill>
            <a:tailEnd type="non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013FD58-B09D-3631-F0A3-736929D4479D}"/>
              </a:ext>
            </a:extLst>
          </p:cNvPr>
          <p:cNvSpPr txBox="1"/>
          <p:nvPr/>
        </p:nvSpPr>
        <p:spPr>
          <a:xfrm>
            <a:off x="11984567" y="2476500"/>
            <a:ext cx="4969933" cy="553998"/>
          </a:xfrm>
          <a:prstGeom prst="rect">
            <a:avLst/>
          </a:prstGeom>
          <a:noFill/>
        </p:spPr>
        <p:txBody>
          <a:bodyPr vert="horz" wrap="square" lIns="101600" tIns="101600" rIns="101600" bIns="101600" rtlCol="0" anchor="t">
            <a:noAutofit/>
          </a:bodyPr>
          <a:lstStyle/>
          <a:p>
            <a:pPr>
              <a:lnSpc>
                <a:spcPct val="105000"/>
              </a:lnSpc>
            </a:pPr>
            <a:r>
              <a:rPr lang="en-US" sz="1100">
                <a:solidFill>
                  <a:srgbClr val="0766D1"/>
                </a:solidFill>
                <a:latin typeface="Anova Bold" panose="020B0604020202020204" charset="0"/>
              </a:rPr>
              <a:t>DBA</a:t>
            </a:r>
          </a:p>
          <a:p>
            <a:pPr>
              <a:lnSpc>
                <a:spcPct val="105000"/>
              </a:lnSpc>
              <a:spcBef>
                <a:spcPts val="200"/>
              </a:spcBef>
            </a:pPr>
            <a:r>
              <a:rPr lang="en-US" sz="2100">
                <a:solidFill>
                  <a:srgbClr val="032954"/>
                </a:solidFill>
                <a:latin typeface="Anova Bold" panose="020B0604020202020204" charset="0"/>
              </a:rPr>
              <a:t>Operate without surprises</a:t>
            </a:r>
            <a:endParaRPr lang="en-US" sz="2100" dirty="0">
              <a:solidFill>
                <a:srgbClr val="032954"/>
              </a:solidFill>
              <a:latin typeface="Anova Bold" panose="020B0604020202020204" charset="0"/>
            </a:endParaRPr>
          </a:p>
        </p:txBody>
      </p:sp>
      <p:sp>
        <p:nvSpPr>
          <p:cNvPr id="14" name="TextBox 13">
            <a:extLst>
              <a:ext uri="{FF2B5EF4-FFF2-40B4-BE49-F238E27FC236}">
                <a16:creationId xmlns:a16="http://schemas.microsoft.com/office/drawing/2014/main" id="{174C8184-5DDF-82AD-1544-EA55357D4338}"/>
              </a:ext>
            </a:extLst>
          </p:cNvPr>
          <p:cNvSpPr txBox="1"/>
          <p:nvPr/>
        </p:nvSpPr>
        <p:spPr>
          <a:xfrm>
            <a:off x="11984567" y="3187700"/>
            <a:ext cx="4969933" cy="553998"/>
          </a:xfrm>
          <a:prstGeom prst="rect">
            <a:avLst/>
          </a:prstGeom>
          <a:noFill/>
        </p:spPr>
        <p:txBody>
          <a:bodyPr vert="horz" wrap="square" lIns="101600" tIns="101600" rIns="101600" bIns="101600" rtlCol="0" anchor="t">
            <a:noAutofit/>
          </a:bodyPr>
          <a:lstStyle/>
          <a:p>
            <a:pPr marL="177800" indent="-177800">
              <a:lnSpc>
                <a:spcPct val="105000"/>
              </a:lnSpc>
              <a:spcBef>
                <a:spcPts val="400"/>
              </a:spcBef>
              <a:buClr>
                <a:srgbClr val="0766D1"/>
              </a:buClr>
              <a:buSzPct val="90000"/>
              <a:buFont typeface="+mj-lt"/>
              <a:buChar char="•"/>
            </a:pPr>
            <a:r>
              <a:rPr lang="en-US" sz="1800">
                <a:solidFill>
                  <a:srgbClr val="000000"/>
                </a:solidFill>
                <a:latin typeface="Anova Light" panose="020B0604020202020204" charset="0"/>
              </a:rPr>
              <a:t>Cluster health, alerts and query history with the SAS source identified</a:t>
            </a:r>
          </a:p>
          <a:p>
            <a:pPr marL="177800" indent="-177800">
              <a:lnSpc>
                <a:spcPct val="105000"/>
              </a:lnSpc>
              <a:spcBef>
                <a:spcPts val="400"/>
              </a:spcBef>
              <a:buClr>
                <a:srgbClr val="0766D1"/>
              </a:buClr>
              <a:buSzPct val="90000"/>
              <a:buFont typeface="+mj-lt"/>
              <a:buChar char="•"/>
            </a:pPr>
            <a:r>
              <a:rPr lang="en-US" sz="1800">
                <a:solidFill>
                  <a:srgbClr val="000000"/>
                </a:solidFill>
                <a:latin typeface="Anova Light" panose="020B0604020202020204" charset="0"/>
              </a:rPr>
              <a:t>Who can access what, with the reason</a:t>
            </a:r>
          </a:p>
          <a:p>
            <a:pPr marL="177800" indent="-177800">
              <a:lnSpc>
                <a:spcPct val="105000"/>
              </a:lnSpc>
              <a:spcBef>
                <a:spcPts val="400"/>
              </a:spcBef>
              <a:buClr>
                <a:srgbClr val="0766D1"/>
              </a:buClr>
              <a:buSzPct val="90000"/>
              <a:buFont typeface="+mj-lt"/>
              <a:buChar char="•"/>
            </a:pPr>
            <a:r>
              <a:rPr lang="en-US" sz="1800">
                <a:solidFill>
                  <a:srgbClr val="000000"/>
                </a:solidFill>
                <a:latin typeface="Anova Light" panose="020B0604020202020204" charset="0"/>
              </a:rPr>
              <a:t>Every change previewed as SQL and confirmed, or handed over as a script</a:t>
            </a:r>
            <a:endParaRPr lang="en-US" sz="1800" dirty="0">
              <a:solidFill>
                <a:srgbClr val="000000"/>
              </a:solidFill>
              <a:latin typeface="Anova Light" panose="020B0604020202020204" charset="0"/>
            </a:endParaRPr>
          </a:p>
        </p:txBody>
      </p:sp>
      <p:sp>
        <p:nvSpPr>
          <p:cNvPr id="15" name="Rectangle: Rounded Corners 14">
            <a:extLst>
              <a:ext uri="{FF2B5EF4-FFF2-40B4-BE49-F238E27FC236}">
                <a16:creationId xmlns:a16="http://schemas.microsoft.com/office/drawing/2014/main" id="{1AA8586E-BE4A-2676-1C6C-8298BEB297FC}"/>
              </a:ext>
            </a:extLst>
          </p:cNvPr>
          <p:cNvSpPr/>
          <p:nvPr/>
        </p:nvSpPr>
        <p:spPr>
          <a:xfrm>
            <a:off x="1257300" y="5829300"/>
            <a:ext cx="15773400" cy="889000"/>
          </a:xfrm>
          <a:prstGeom prst="roundRect">
            <a:avLst>
              <a:gd name="adj" fmla="val 4000"/>
            </a:avLst>
          </a:prstGeom>
          <a:solidFill>
            <a:srgbClr val="EEF4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2E5995A-C66A-B749-7DD0-107475B571E1}"/>
              </a:ext>
            </a:extLst>
          </p:cNvPr>
          <p:cNvSpPr txBox="1"/>
          <p:nvPr/>
        </p:nvSpPr>
        <p:spPr>
          <a:xfrm>
            <a:off x="1358900" y="5829300"/>
            <a:ext cx="15570200" cy="553998"/>
          </a:xfrm>
          <a:prstGeom prst="rect">
            <a:avLst/>
          </a:prstGeom>
          <a:noFill/>
        </p:spPr>
        <p:txBody>
          <a:bodyPr vert="horz" wrap="square" lIns="127000" tIns="127000" rIns="127000" bIns="127000" rtlCol="0" anchor="ctr">
            <a:noAutofit/>
          </a:bodyPr>
          <a:lstStyle/>
          <a:p>
            <a:pPr>
              <a:lnSpc>
                <a:spcPct val="105000"/>
              </a:lnSpc>
              <a:spcBef>
                <a:spcPts val="200"/>
              </a:spcBef>
            </a:pPr>
            <a:r>
              <a:rPr lang="en-US" sz="1700">
                <a:solidFill>
                  <a:srgbClr val="032954"/>
                </a:solidFill>
                <a:latin typeface="Anova Bold" panose="020B0604020202020204" charset="0"/>
              </a:rPr>
              <a:t>Common to all three:</a:t>
            </a:r>
            <a:r>
              <a:rPr lang="en-US" sz="1700">
                <a:solidFill>
                  <a:srgbClr val="032954"/>
                </a:solidFill>
                <a:latin typeface="Anova Light" panose="020B0604020202020204" charset="0"/>
              </a:rPr>
              <a:t> the assistant is read-only, every action that changes something is confirmed in the app, and the Studio works the same inside Claude and on its own.</a:t>
            </a:r>
            <a:endParaRPr lang="en-US" sz="1700" dirty="0">
              <a:solidFill>
                <a:srgbClr val="032954"/>
              </a:solidFill>
              <a:latin typeface="Anova Light" panose="020B0604020202020204" charset="0"/>
            </a:endParaRPr>
          </a:p>
        </p:txBody>
      </p:sp>
    </p:spTree>
    <p:extLst>
      <p:ext uri="{BB962C8B-B14F-4D97-AF65-F5344CB8AC3E}">
        <p14:creationId xmlns:p14="http://schemas.microsoft.com/office/powerpoint/2010/main" val="1808533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6DDAA-3544-DA7F-5F2A-75FD7B8E37E3}"/>
              </a:ext>
            </a:extLst>
          </p:cNvPr>
          <p:cNvSpPr>
            <a:spLocks noGrp="1"/>
          </p:cNvSpPr>
          <p:nvPr>
            <p:ph type="title"/>
          </p:nvPr>
        </p:nvSpPr>
        <p:spPr>
          <a:xfrm>
            <a:off x="1257300" y="821103"/>
            <a:ext cx="15773400" cy="553998"/>
          </a:xfrm>
        </p:spPr>
        <p:txBody>
          <a:bodyPr/>
          <a:lstStyle/>
          <a:p>
            <a:r>
              <a:rPr lang="en-US" sz="4000">
                <a:solidFill>
                  <a:srgbClr val="032954"/>
                </a:solidFill>
              </a:rPr>
              <a:t>Inside Claude, or on its own</a:t>
            </a:r>
          </a:p>
        </p:txBody>
      </p:sp>
      <p:sp>
        <p:nvSpPr>
          <p:cNvPr id="3" name="Rectangle: Rounded Corners 2">
            <a:extLst>
              <a:ext uri="{FF2B5EF4-FFF2-40B4-BE49-F238E27FC236}">
                <a16:creationId xmlns:a16="http://schemas.microsoft.com/office/drawing/2014/main" id="{1CA6B578-4FFA-5729-2CD9-21757422D0F7}"/>
              </a:ext>
            </a:extLst>
          </p:cNvPr>
          <p:cNvSpPr/>
          <p:nvPr/>
        </p:nvSpPr>
        <p:spPr>
          <a:xfrm>
            <a:off x="1257300" y="2400300"/>
            <a:ext cx="7785100" cy="3302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FBD0E7FF-E42B-644A-DBA8-59B5C6221E76}"/>
              </a:ext>
            </a:extLst>
          </p:cNvPr>
          <p:cNvCxnSpPr/>
          <p:nvPr/>
        </p:nvCxnSpPr>
        <p:spPr>
          <a:xfrm>
            <a:off x="1333500" y="2413000"/>
            <a:ext cx="7632700" cy="0"/>
          </a:xfrm>
          <a:prstGeom prst="line">
            <a:avLst/>
          </a:prstGeom>
          <a:ln w="38100">
            <a:solidFill>
              <a:srgbClr val="0766D1"/>
            </a:solidFill>
            <a:tailEnd type="non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9263545-7132-C126-8B6F-B41FA5BEBBCF}"/>
              </a:ext>
            </a:extLst>
          </p:cNvPr>
          <p:cNvSpPr txBox="1"/>
          <p:nvPr/>
        </p:nvSpPr>
        <p:spPr>
          <a:xfrm>
            <a:off x="1333500" y="2476500"/>
            <a:ext cx="7632700" cy="553998"/>
          </a:xfrm>
          <a:prstGeom prst="rect">
            <a:avLst/>
          </a:prstGeom>
          <a:noFill/>
        </p:spPr>
        <p:txBody>
          <a:bodyPr vert="horz" wrap="square" lIns="101600" tIns="101600" rIns="101600" bIns="101600" rtlCol="0" anchor="t">
            <a:noAutofit/>
          </a:bodyPr>
          <a:lstStyle/>
          <a:p>
            <a:pPr>
              <a:lnSpc>
                <a:spcPct val="105000"/>
              </a:lnSpc>
            </a:pPr>
            <a:r>
              <a:rPr lang="en-US" sz="1100">
                <a:solidFill>
                  <a:srgbClr val="0766D1"/>
                </a:solidFill>
                <a:latin typeface="Anova Bold" panose="020B0604020202020204" charset="0"/>
              </a:rPr>
              <a:t>WITH CLAUDE</a:t>
            </a:r>
          </a:p>
          <a:p>
            <a:pPr>
              <a:lnSpc>
                <a:spcPct val="105000"/>
              </a:lnSpc>
              <a:spcBef>
                <a:spcPts val="200"/>
              </a:spcBef>
            </a:pPr>
            <a:r>
              <a:rPr lang="en-US" sz="2100">
                <a:solidFill>
                  <a:srgbClr val="032954"/>
                </a:solidFill>
                <a:latin typeface="Anova Bold" panose="020B0604020202020204" charset="0"/>
              </a:rPr>
              <a:t>An MCP server with apps</a:t>
            </a:r>
            <a:endParaRPr lang="en-US" sz="2100" dirty="0">
              <a:solidFill>
                <a:srgbClr val="032954"/>
              </a:solidFill>
              <a:latin typeface="Anova Bold" panose="020B0604020202020204" charset="0"/>
            </a:endParaRPr>
          </a:p>
        </p:txBody>
      </p:sp>
      <p:sp>
        <p:nvSpPr>
          <p:cNvPr id="6" name="TextBox 5">
            <a:extLst>
              <a:ext uri="{FF2B5EF4-FFF2-40B4-BE49-F238E27FC236}">
                <a16:creationId xmlns:a16="http://schemas.microsoft.com/office/drawing/2014/main" id="{B067C2C6-C248-3181-09F9-18C4D0D94106}"/>
              </a:ext>
            </a:extLst>
          </p:cNvPr>
          <p:cNvSpPr txBox="1"/>
          <p:nvPr/>
        </p:nvSpPr>
        <p:spPr>
          <a:xfrm>
            <a:off x="1333500" y="3187700"/>
            <a:ext cx="7632700" cy="553998"/>
          </a:xfrm>
          <a:prstGeom prst="rect">
            <a:avLst/>
          </a:prstGeom>
          <a:noFill/>
        </p:spPr>
        <p:txBody>
          <a:bodyPr vert="horz" wrap="square" lIns="101600" tIns="101600" rIns="101600" bIns="101600" rtlCol="0" anchor="t">
            <a:noAutofit/>
          </a:bodyPr>
          <a:lstStyle/>
          <a:p>
            <a:pPr marL="177800" indent="-177800">
              <a:lnSpc>
                <a:spcPct val="105000"/>
              </a:lnSpc>
              <a:spcBef>
                <a:spcPts val="400"/>
              </a:spcBef>
              <a:buClr>
                <a:srgbClr val="0766D1"/>
              </a:buClr>
              <a:buSzPct val="90000"/>
              <a:buFont typeface="+mj-lt"/>
              <a:buChar char="•"/>
            </a:pPr>
            <a:r>
              <a:rPr lang="en-US" sz="1700">
                <a:solidFill>
                  <a:srgbClr val="000000"/>
                </a:solidFill>
                <a:latin typeface="Anova Light" panose="020B0604020202020204" charset="0"/>
              </a:rPr>
              <a:t>Runs from Claude Code, Claude Desktop or VS Code; the Studio opens in the chat or full-window in the browser</a:t>
            </a:r>
          </a:p>
          <a:p>
            <a:pPr marL="177800" indent="-177800">
              <a:lnSpc>
                <a:spcPct val="105000"/>
              </a:lnSpc>
              <a:spcBef>
                <a:spcPts val="400"/>
              </a:spcBef>
              <a:buClr>
                <a:srgbClr val="0766D1"/>
              </a:buClr>
              <a:buSzPct val="90000"/>
              <a:buFont typeface="+mj-lt"/>
              <a:buChar char="•"/>
            </a:pPr>
            <a:r>
              <a:rPr lang="en-US" sz="1700">
                <a:solidFill>
                  <a:srgbClr val="000000"/>
                </a:solidFill>
                <a:latin typeface="Anova Light" panose="020B0604020202020204" charset="0"/>
              </a:rPr>
              <a:t>Slash commands for the workspace, a notebook, pipeline health and a table report</a:t>
            </a:r>
          </a:p>
          <a:p>
            <a:pPr marL="177800" indent="-177800">
              <a:lnSpc>
                <a:spcPct val="105000"/>
              </a:lnSpc>
              <a:spcBef>
                <a:spcPts val="400"/>
              </a:spcBef>
              <a:buClr>
                <a:srgbClr val="0766D1"/>
              </a:buClr>
              <a:buSzPct val="90000"/>
              <a:buFont typeface="+mj-lt"/>
              <a:buChar char="•"/>
            </a:pPr>
            <a:r>
              <a:rPr lang="en-US" sz="1700">
                <a:solidFill>
                  <a:srgbClr val="000000"/>
                </a:solidFill>
                <a:latin typeface="Anova Light" panose="020B0604020202020204" charset="0"/>
              </a:rPr>
              <a:t>Claude can also use the tools directly: run SQL, create and start pipelines, describe tables</a:t>
            </a:r>
          </a:p>
          <a:p>
            <a:pPr marL="177800" indent="-177800">
              <a:lnSpc>
                <a:spcPct val="105000"/>
              </a:lnSpc>
              <a:spcBef>
                <a:spcPts val="400"/>
              </a:spcBef>
              <a:buClr>
                <a:srgbClr val="0766D1"/>
              </a:buClr>
              <a:buSzPct val="90000"/>
              <a:buFont typeface="+mj-lt"/>
              <a:buChar char="•"/>
            </a:pPr>
            <a:r>
              <a:rPr lang="en-US" sz="1700">
                <a:solidFill>
                  <a:srgbClr val="000000"/>
                </a:solidFill>
                <a:latin typeface="Anova Light" panose="020B0604020202020204" charset="0"/>
              </a:rPr>
              <a:t>Restart the server in seconds after a code change, without reconnecting</a:t>
            </a:r>
            <a:endParaRPr lang="en-US" sz="1700" dirty="0">
              <a:solidFill>
                <a:srgbClr val="000000"/>
              </a:solidFill>
              <a:latin typeface="Anova Light" panose="020B0604020202020204" charset="0"/>
            </a:endParaRPr>
          </a:p>
        </p:txBody>
      </p:sp>
      <p:sp>
        <p:nvSpPr>
          <p:cNvPr id="7" name="Rectangle: Rounded Corners 6">
            <a:extLst>
              <a:ext uri="{FF2B5EF4-FFF2-40B4-BE49-F238E27FC236}">
                <a16:creationId xmlns:a16="http://schemas.microsoft.com/office/drawing/2014/main" id="{575CEA28-AB6E-14E1-2A23-2CB8A8FEB7A9}"/>
              </a:ext>
            </a:extLst>
          </p:cNvPr>
          <p:cNvSpPr/>
          <p:nvPr/>
        </p:nvSpPr>
        <p:spPr>
          <a:xfrm>
            <a:off x="9245600" y="2400300"/>
            <a:ext cx="7785100" cy="3302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F3D13509-69A5-5C39-367A-2DD84341913D}"/>
              </a:ext>
            </a:extLst>
          </p:cNvPr>
          <p:cNvCxnSpPr/>
          <p:nvPr/>
        </p:nvCxnSpPr>
        <p:spPr>
          <a:xfrm>
            <a:off x="9321800" y="2413000"/>
            <a:ext cx="7632700" cy="0"/>
          </a:xfrm>
          <a:prstGeom prst="line">
            <a:avLst/>
          </a:prstGeom>
          <a:ln w="38100">
            <a:solidFill>
              <a:srgbClr val="032954"/>
            </a:solidFill>
            <a:tailEnd type="non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16A2124-4594-1F8B-54C9-700504D5D27F}"/>
              </a:ext>
            </a:extLst>
          </p:cNvPr>
          <p:cNvSpPr txBox="1"/>
          <p:nvPr/>
        </p:nvSpPr>
        <p:spPr>
          <a:xfrm>
            <a:off x="9321800" y="2476500"/>
            <a:ext cx="7632700" cy="553998"/>
          </a:xfrm>
          <a:prstGeom prst="rect">
            <a:avLst/>
          </a:prstGeom>
          <a:noFill/>
        </p:spPr>
        <p:txBody>
          <a:bodyPr vert="horz" wrap="square" lIns="101600" tIns="101600" rIns="101600" bIns="101600" rtlCol="0" anchor="t">
            <a:noAutofit/>
          </a:bodyPr>
          <a:lstStyle/>
          <a:p>
            <a:pPr>
              <a:lnSpc>
                <a:spcPct val="105000"/>
              </a:lnSpc>
            </a:pPr>
            <a:r>
              <a:rPr lang="en-US" sz="1100">
                <a:solidFill>
                  <a:srgbClr val="032954"/>
                </a:solidFill>
                <a:latin typeface="Anova Bold" panose="020B0604020202020204" charset="0"/>
              </a:rPr>
              <a:t>WITHOUT CLAUDE</a:t>
            </a:r>
          </a:p>
          <a:p>
            <a:pPr>
              <a:lnSpc>
                <a:spcPct val="105000"/>
              </a:lnSpc>
              <a:spcBef>
                <a:spcPts val="200"/>
              </a:spcBef>
            </a:pPr>
            <a:r>
              <a:rPr lang="en-US" sz="2100">
                <a:solidFill>
                  <a:srgbClr val="032954"/>
                </a:solidFill>
                <a:latin typeface="Anova Bold" panose="020B0604020202020204" charset="0"/>
              </a:rPr>
              <a:t>A desktop app</a:t>
            </a:r>
            <a:endParaRPr lang="en-US" sz="2100" dirty="0">
              <a:solidFill>
                <a:srgbClr val="032954"/>
              </a:solidFill>
              <a:latin typeface="Anova Bold" panose="020B0604020202020204" charset="0"/>
            </a:endParaRPr>
          </a:p>
        </p:txBody>
      </p:sp>
      <p:sp>
        <p:nvSpPr>
          <p:cNvPr id="10" name="TextBox 9">
            <a:extLst>
              <a:ext uri="{FF2B5EF4-FFF2-40B4-BE49-F238E27FC236}">
                <a16:creationId xmlns:a16="http://schemas.microsoft.com/office/drawing/2014/main" id="{61B8960E-66EF-1B78-9E43-6D55F2933077}"/>
              </a:ext>
            </a:extLst>
          </p:cNvPr>
          <p:cNvSpPr txBox="1"/>
          <p:nvPr/>
        </p:nvSpPr>
        <p:spPr>
          <a:xfrm>
            <a:off x="9321800" y="3187700"/>
            <a:ext cx="7632700" cy="553998"/>
          </a:xfrm>
          <a:prstGeom prst="rect">
            <a:avLst/>
          </a:prstGeom>
          <a:noFill/>
        </p:spPr>
        <p:txBody>
          <a:bodyPr vert="horz" wrap="square" lIns="101600" tIns="101600" rIns="101600" bIns="101600" rtlCol="0" anchor="t">
            <a:noAutofit/>
          </a:bodyPr>
          <a:lstStyle/>
          <a:p>
            <a:pPr marL="177800" indent="-177800">
              <a:lnSpc>
                <a:spcPct val="105000"/>
              </a:lnSpc>
              <a:spcBef>
                <a:spcPts val="400"/>
              </a:spcBef>
              <a:buClr>
                <a:srgbClr val="0766D1"/>
              </a:buClr>
              <a:buSzPct val="90000"/>
              <a:buFont typeface="+mj-lt"/>
              <a:buChar char="•"/>
            </a:pPr>
            <a:r>
              <a:rPr lang="en-US" sz="1700">
                <a:solidFill>
                  <a:srgbClr val="000000"/>
                </a:solidFill>
                <a:latin typeface="Anova Light" panose="020B0604020202020204" charset="0"/>
              </a:rPr>
              <a:t>The same views in their own window from a desktop shortcut; one-command install on Windows</a:t>
            </a:r>
          </a:p>
          <a:p>
            <a:pPr marL="177800" indent="-177800">
              <a:lnSpc>
                <a:spcPct val="105000"/>
              </a:lnSpc>
              <a:spcBef>
                <a:spcPts val="400"/>
              </a:spcBef>
              <a:buClr>
                <a:srgbClr val="0766D1"/>
              </a:buClr>
              <a:buSzPct val="90000"/>
              <a:buFont typeface="+mj-lt"/>
              <a:buChar char="•"/>
            </a:pPr>
            <a:r>
              <a:rPr lang="en-US" sz="1700">
                <a:solidFill>
                  <a:srgbClr val="000000"/>
                </a:solidFill>
                <a:latin typeface="Anova Light" panose="020B0604020202020204" charset="0"/>
              </a:rPr>
              <a:t>Talks directly to SingleStore and SAS Viya; no Claude subscription or MCP client needed</a:t>
            </a:r>
          </a:p>
          <a:p>
            <a:pPr marL="177800" indent="-177800">
              <a:lnSpc>
                <a:spcPct val="105000"/>
              </a:lnSpc>
              <a:spcBef>
                <a:spcPts val="400"/>
              </a:spcBef>
              <a:buClr>
                <a:srgbClr val="0766D1"/>
              </a:buClr>
              <a:buSzPct val="90000"/>
              <a:buFont typeface="+mj-lt"/>
              <a:buChar char="•"/>
            </a:pPr>
            <a:r>
              <a:rPr lang="en-US" sz="1700">
                <a:solidFill>
                  <a:srgbClr val="000000"/>
                </a:solidFill>
                <a:latin typeface="Anova Light" panose="020B0604020202020204" charset="0"/>
              </a:rPr>
              <a:t>Only the chat panels need Claude; everything else works</a:t>
            </a:r>
          </a:p>
          <a:p>
            <a:pPr marL="177800" indent="-177800">
              <a:lnSpc>
                <a:spcPct val="105000"/>
              </a:lnSpc>
              <a:spcBef>
                <a:spcPts val="400"/>
              </a:spcBef>
              <a:buClr>
                <a:srgbClr val="0766D1"/>
              </a:buClr>
              <a:buSzPct val="90000"/>
              <a:buFont typeface="+mj-lt"/>
              <a:buChar char="•"/>
            </a:pPr>
            <a:r>
              <a:rPr lang="en-US" sz="1700">
                <a:solidFill>
                  <a:srgbClr val="000000"/>
                </a:solidFill>
                <a:latin typeface="Anova Light" panose="020B0604020202020204" charset="0"/>
              </a:rPr>
              <a:t>Other MCP clients get the tools with plain text results</a:t>
            </a:r>
            <a:endParaRPr lang="en-US" sz="1700" dirty="0">
              <a:solidFill>
                <a:srgbClr val="000000"/>
              </a:solidFill>
              <a:latin typeface="Anova Light" panose="020B0604020202020204" charset="0"/>
            </a:endParaRPr>
          </a:p>
        </p:txBody>
      </p:sp>
      <p:sp>
        <p:nvSpPr>
          <p:cNvPr id="11" name="Rectangle: Rounded Corners 10">
            <a:extLst>
              <a:ext uri="{FF2B5EF4-FFF2-40B4-BE49-F238E27FC236}">
                <a16:creationId xmlns:a16="http://schemas.microsoft.com/office/drawing/2014/main" id="{3A976355-3233-B235-7C20-D42B23E7D9B3}"/>
              </a:ext>
            </a:extLst>
          </p:cNvPr>
          <p:cNvSpPr/>
          <p:nvPr/>
        </p:nvSpPr>
        <p:spPr>
          <a:xfrm>
            <a:off x="1257300" y="5956300"/>
            <a:ext cx="5122333" cy="1905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4782E0B9-39D7-72FE-76E1-C94D3A772292}"/>
              </a:ext>
            </a:extLst>
          </p:cNvPr>
          <p:cNvCxnSpPr/>
          <p:nvPr/>
        </p:nvCxnSpPr>
        <p:spPr>
          <a:xfrm>
            <a:off x="1333500" y="5969000"/>
            <a:ext cx="4969933" cy="0"/>
          </a:xfrm>
          <a:prstGeom prst="line">
            <a:avLst/>
          </a:prstGeom>
          <a:ln w="38100">
            <a:solidFill>
              <a:srgbClr val="BAC0C9"/>
            </a:solidFill>
            <a:tailEnd type="non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C9307926-8D15-D53B-81FD-8ED7B9634852}"/>
              </a:ext>
            </a:extLst>
          </p:cNvPr>
          <p:cNvSpPr txBox="1"/>
          <p:nvPr/>
        </p:nvSpPr>
        <p:spPr>
          <a:xfrm>
            <a:off x="1333500" y="6032500"/>
            <a:ext cx="4969933" cy="553998"/>
          </a:xfrm>
          <a:prstGeom prst="rect">
            <a:avLst/>
          </a:prstGeom>
          <a:noFill/>
        </p:spPr>
        <p:txBody>
          <a:bodyPr vert="horz" wrap="square" lIns="101600" tIns="101600" rIns="101600" bIns="101600" rtlCol="0" anchor="t">
            <a:noAutofit/>
          </a:bodyPr>
          <a:lstStyle/>
          <a:p>
            <a:pPr>
              <a:lnSpc>
                <a:spcPct val="105000"/>
              </a:lnSpc>
              <a:spcBef>
                <a:spcPts val="200"/>
              </a:spcBef>
            </a:pPr>
            <a:r>
              <a:rPr lang="en-US" sz="1900">
                <a:solidFill>
                  <a:srgbClr val="032954"/>
                </a:solidFill>
                <a:latin typeface="Anova Bold" panose="020B0604020202020204" charset="0"/>
              </a:rPr>
              <a:t>Any SingleStore</a:t>
            </a:r>
          </a:p>
          <a:p>
            <a:pPr>
              <a:lnSpc>
                <a:spcPct val="105000"/>
              </a:lnSpc>
              <a:spcBef>
                <a:spcPts val="400"/>
              </a:spcBef>
            </a:pPr>
            <a:r>
              <a:rPr lang="en-US" sz="1700">
                <a:solidFill>
                  <a:srgbClr val="000000"/>
                </a:solidFill>
                <a:latin typeface="Anova Light" panose="020B0604020202020204" charset="0"/>
              </a:rPr>
              <a:t>Self-managed clusters and Helios alike. Passwords in the OS credential store; Entra ID and SSO sign-in supported.</a:t>
            </a:r>
            <a:endParaRPr lang="en-US" sz="1700" dirty="0">
              <a:solidFill>
                <a:srgbClr val="000000"/>
              </a:solidFill>
              <a:latin typeface="Anova Light" panose="020B0604020202020204" charset="0"/>
            </a:endParaRPr>
          </a:p>
        </p:txBody>
      </p:sp>
      <p:sp>
        <p:nvSpPr>
          <p:cNvPr id="14" name="Rectangle: Rounded Corners 13">
            <a:extLst>
              <a:ext uri="{FF2B5EF4-FFF2-40B4-BE49-F238E27FC236}">
                <a16:creationId xmlns:a16="http://schemas.microsoft.com/office/drawing/2014/main" id="{29371115-366F-99A7-0355-2AE3C0395E09}"/>
              </a:ext>
            </a:extLst>
          </p:cNvPr>
          <p:cNvSpPr/>
          <p:nvPr/>
        </p:nvSpPr>
        <p:spPr>
          <a:xfrm>
            <a:off x="6582833" y="5956300"/>
            <a:ext cx="5122333" cy="1905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B5178652-BBF9-800E-40F7-C2E21AC5691B}"/>
              </a:ext>
            </a:extLst>
          </p:cNvPr>
          <p:cNvCxnSpPr/>
          <p:nvPr/>
        </p:nvCxnSpPr>
        <p:spPr>
          <a:xfrm>
            <a:off x="6659033" y="5969000"/>
            <a:ext cx="4969934" cy="0"/>
          </a:xfrm>
          <a:prstGeom prst="line">
            <a:avLst/>
          </a:prstGeom>
          <a:ln w="38100">
            <a:solidFill>
              <a:srgbClr val="BAC0C9"/>
            </a:solidFill>
            <a:tailEnd type="non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DD360F5-E066-FF6B-D9D1-5062D8AE7831}"/>
              </a:ext>
            </a:extLst>
          </p:cNvPr>
          <p:cNvSpPr txBox="1"/>
          <p:nvPr/>
        </p:nvSpPr>
        <p:spPr>
          <a:xfrm>
            <a:off x="6659033" y="6032500"/>
            <a:ext cx="4969933" cy="553998"/>
          </a:xfrm>
          <a:prstGeom prst="rect">
            <a:avLst/>
          </a:prstGeom>
          <a:noFill/>
        </p:spPr>
        <p:txBody>
          <a:bodyPr vert="horz" wrap="square" lIns="101600" tIns="101600" rIns="101600" bIns="101600" rtlCol="0" anchor="t">
            <a:noAutofit/>
          </a:bodyPr>
          <a:lstStyle/>
          <a:p>
            <a:pPr>
              <a:lnSpc>
                <a:spcPct val="105000"/>
              </a:lnSpc>
              <a:spcBef>
                <a:spcPts val="200"/>
              </a:spcBef>
            </a:pPr>
            <a:r>
              <a:rPr lang="en-US" sz="1900">
                <a:solidFill>
                  <a:srgbClr val="032954"/>
                </a:solidFill>
                <a:latin typeface="Anova Bold" panose="020B0604020202020204" charset="0"/>
              </a:rPr>
              <a:t>Official SDKs</a:t>
            </a:r>
          </a:p>
          <a:p>
            <a:pPr>
              <a:lnSpc>
                <a:spcPct val="105000"/>
              </a:lnSpc>
              <a:spcBef>
                <a:spcPts val="400"/>
              </a:spcBef>
            </a:pPr>
            <a:r>
              <a:rPr lang="en-US" sz="1700">
                <a:solidFill>
                  <a:srgbClr val="000000"/>
                </a:solidFill>
                <a:latin typeface="Anova Light" panose="020B0604020202020204" charset="0"/>
              </a:rPr>
              <a:t>The MCP Python SDK, SingleStore's own Python client and the MCP Apps browser client. The project itself is glue.</a:t>
            </a:r>
            <a:endParaRPr lang="en-US" sz="1700" dirty="0">
              <a:solidFill>
                <a:srgbClr val="000000"/>
              </a:solidFill>
              <a:latin typeface="Anova Light" panose="020B0604020202020204" charset="0"/>
            </a:endParaRPr>
          </a:p>
        </p:txBody>
      </p:sp>
      <p:sp>
        <p:nvSpPr>
          <p:cNvPr id="17" name="Rectangle: Rounded Corners 16">
            <a:extLst>
              <a:ext uri="{FF2B5EF4-FFF2-40B4-BE49-F238E27FC236}">
                <a16:creationId xmlns:a16="http://schemas.microsoft.com/office/drawing/2014/main" id="{4BF88FF5-B969-BD96-B485-E70422D32881}"/>
              </a:ext>
            </a:extLst>
          </p:cNvPr>
          <p:cNvSpPr/>
          <p:nvPr/>
        </p:nvSpPr>
        <p:spPr>
          <a:xfrm>
            <a:off x="11908367" y="5956300"/>
            <a:ext cx="5122333" cy="1905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3A7515FC-7AC4-BD25-C483-A9CBAE4C3EF6}"/>
              </a:ext>
            </a:extLst>
          </p:cNvPr>
          <p:cNvCxnSpPr/>
          <p:nvPr/>
        </p:nvCxnSpPr>
        <p:spPr>
          <a:xfrm>
            <a:off x="11984567" y="5969000"/>
            <a:ext cx="4969933" cy="0"/>
          </a:xfrm>
          <a:prstGeom prst="line">
            <a:avLst/>
          </a:prstGeom>
          <a:ln w="38100">
            <a:solidFill>
              <a:srgbClr val="BAC0C9"/>
            </a:solidFill>
            <a:tailEnd type="non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6E20BC8-E273-C2BC-6662-BEB45215AC47}"/>
              </a:ext>
            </a:extLst>
          </p:cNvPr>
          <p:cNvSpPr txBox="1"/>
          <p:nvPr/>
        </p:nvSpPr>
        <p:spPr>
          <a:xfrm>
            <a:off x="11984567" y="6032500"/>
            <a:ext cx="4969933" cy="553998"/>
          </a:xfrm>
          <a:prstGeom prst="rect">
            <a:avLst/>
          </a:prstGeom>
          <a:noFill/>
        </p:spPr>
        <p:txBody>
          <a:bodyPr vert="horz" wrap="square" lIns="101600" tIns="101600" rIns="101600" bIns="101600" rtlCol="0" anchor="t">
            <a:noAutofit/>
          </a:bodyPr>
          <a:lstStyle/>
          <a:p>
            <a:pPr>
              <a:lnSpc>
                <a:spcPct val="105000"/>
              </a:lnSpc>
              <a:spcBef>
                <a:spcPts val="200"/>
              </a:spcBef>
            </a:pPr>
            <a:r>
              <a:rPr lang="en-US" sz="1900">
                <a:solidFill>
                  <a:srgbClr val="032954"/>
                </a:solidFill>
                <a:latin typeface="Anova Bold" panose="020B0604020202020204" charset="0"/>
              </a:rPr>
              <a:t>Open source</a:t>
            </a:r>
          </a:p>
          <a:p>
            <a:pPr>
              <a:lnSpc>
                <a:spcPct val="105000"/>
              </a:lnSpc>
              <a:spcBef>
                <a:spcPts val="400"/>
              </a:spcBef>
            </a:pPr>
            <a:r>
              <a:rPr lang="en-US" sz="1700">
                <a:solidFill>
                  <a:srgbClr val="000000"/>
                </a:solidFill>
                <a:latin typeface="Anova Light" panose="020B0604020202020204" charset="0"/>
              </a:rPr>
              <a:t>github.com/jonasliesas/singlestore-mcp-server, tests on every push. Version 0.10 added SAS.</a:t>
            </a:r>
            <a:endParaRPr lang="en-US" sz="1700" dirty="0">
              <a:solidFill>
                <a:srgbClr val="000000"/>
              </a:solidFill>
              <a:latin typeface="Anova Light" panose="020B0604020202020204" charset="0"/>
            </a:endParaRPr>
          </a:p>
        </p:txBody>
      </p:sp>
    </p:spTree>
    <p:extLst>
      <p:ext uri="{BB962C8B-B14F-4D97-AF65-F5344CB8AC3E}">
        <p14:creationId xmlns:p14="http://schemas.microsoft.com/office/powerpoint/2010/main" val="206271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60C6F-4C8A-A9BA-AB45-B24A57DDCC67}"/>
              </a:ext>
            </a:extLst>
          </p:cNvPr>
          <p:cNvSpPr>
            <a:spLocks noGrp="1"/>
          </p:cNvSpPr>
          <p:nvPr>
            <p:ph type="title"/>
          </p:nvPr>
        </p:nvSpPr>
        <p:spPr>
          <a:xfrm>
            <a:off x="1257300" y="848803"/>
            <a:ext cx="15773400" cy="498598"/>
          </a:xfrm>
        </p:spPr>
        <p:txBody>
          <a:bodyPr/>
          <a:lstStyle/>
          <a:p>
            <a:r>
              <a:rPr lang="en-US" sz="3600">
                <a:solidFill>
                  <a:srgbClr val="032954"/>
                </a:solidFill>
              </a:rPr>
              <a:t>Live demo: from a question to a result, without leaving the Studio</a:t>
            </a:r>
          </a:p>
        </p:txBody>
      </p:sp>
      <p:sp>
        <p:nvSpPr>
          <p:cNvPr id="3" name="Rectangle: Rounded Corners 2">
            <a:extLst>
              <a:ext uri="{FF2B5EF4-FFF2-40B4-BE49-F238E27FC236}">
                <a16:creationId xmlns:a16="http://schemas.microsoft.com/office/drawing/2014/main" id="{D3A12E75-737F-61C4-0CBD-348249DB70FA}"/>
              </a:ext>
            </a:extLst>
          </p:cNvPr>
          <p:cNvSpPr/>
          <p:nvPr/>
        </p:nvSpPr>
        <p:spPr>
          <a:xfrm>
            <a:off x="1257300" y="2400300"/>
            <a:ext cx="3790950" cy="3556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DDA4D7D9-ECEA-ED33-5743-E1200A1FA68A}"/>
              </a:ext>
            </a:extLst>
          </p:cNvPr>
          <p:cNvCxnSpPr/>
          <p:nvPr/>
        </p:nvCxnSpPr>
        <p:spPr>
          <a:xfrm>
            <a:off x="1333500" y="2413000"/>
            <a:ext cx="3638550" cy="0"/>
          </a:xfrm>
          <a:prstGeom prst="line">
            <a:avLst/>
          </a:prstGeom>
          <a:ln w="38100">
            <a:solidFill>
              <a:srgbClr val="0766D1"/>
            </a:solidFill>
            <a:tailEnd type="non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3B07FE7-2721-F27B-F692-190BFF662F1E}"/>
              </a:ext>
            </a:extLst>
          </p:cNvPr>
          <p:cNvSpPr txBox="1"/>
          <p:nvPr/>
        </p:nvSpPr>
        <p:spPr>
          <a:xfrm>
            <a:off x="1333500" y="2476500"/>
            <a:ext cx="3638550" cy="553998"/>
          </a:xfrm>
          <a:prstGeom prst="rect">
            <a:avLst/>
          </a:prstGeom>
          <a:noFill/>
        </p:spPr>
        <p:txBody>
          <a:bodyPr vert="horz" wrap="square" lIns="101600" tIns="101600" rIns="101600" bIns="101600" rtlCol="0" anchor="t">
            <a:noAutofit/>
          </a:bodyPr>
          <a:lstStyle/>
          <a:p>
            <a:pPr>
              <a:lnSpc>
                <a:spcPct val="105000"/>
              </a:lnSpc>
            </a:pPr>
            <a:r>
              <a:rPr lang="en-US" sz="2800">
                <a:solidFill>
                  <a:srgbClr val="0766D1"/>
                </a:solidFill>
                <a:latin typeface="Anova Bold" panose="020B0604020202020204" charset="0"/>
              </a:rPr>
              <a:t>1</a:t>
            </a:r>
          </a:p>
          <a:p>
            <a:pPr>
              <a:lnSpc>
                <a:spcPct val="105000"/>
              </a:lnSpc>
              <a:spcBef>
                <a:spcPts val="200"/>
              </a:spcBef>
            </a:pPr>
            <a:r>
              <a:rPr lang="en-US" sz="2100">
                <a:solidFill>
                  <a:srgbClr val="032954"/>
                </a:solidFill>
                <a:latin typeface="Anova Bold" panose="020B0604020202020204" charset="0"/>
              </a:rPr>
              <a:t>Ask</a:t>
            </a:r>
          </a:p>
          <a:p>
            <a:pPr>
              <a:lnSpc>
                <a:spcPct val="105000"/>
              </a:lnSpc>
              <a:spcBef>
                <a:spcPts val="400"/>
              </a:spcBef>
            </a:pPr>
            <a:r>
              <a:rPr lang="en-US" sz="1700">
                <a:solidFill>
                  <a:srgbClr val="000000"/>
                </a:solidFill>
                <a:latin typeface="Anova Light" panose="020B0604020202020204" charset="0"/>
              </a:rPr>
              <a:t>A question in plain words in the Studio's panel. Claude reads the schema and answers with SQL that uses the real table and column names.</a:t>
            </a:r>
          </a:p>
          <a:p>
            <a:pPr>
              <a:lnSpc>
                <a:spcPct val="105000"/>
              </a:lnSpc>
              <a:spcBef>
                <a:spcPts val="800"/>
              </a:spcBef>
            </a:pPr>
            <a:r>
              <a:rPr lang="en-US" sz="1600">
                <a:solidFill>
                  <a:srgbClr val="7E889A"/>
                </a:solidFill>
                <a:latin typeface="Anova Light" panose="020B0604020202020204" charset="0"/>
              </a:rPr>
              <a:t>You see: the assistant working inside the editor, read-only.</a:t>
            </a:r>
            <a:endParaRPr lang="en-US" sz="1600" dirty="0">
              <a:solidFill>
                <a:srgbClr val="7E889A"/>
              </a:solidFill>
              <a:latin typeface="Anova Light" panose="020B0604020202020204" charset="0"/>
            </a:endParaRPr>
          </a:p>
        </p:txBody>
      </p:sp>
      <p:sp>
        <p:nvSpPr>
          <p:cNvPr id="6" name="Rectangle: Rounded Corners 5">
            <a:extLst>
              <a:ext uri="{FF2B5EF4-FFF2-40B4-BE49-F238E27FC236}">
                <a16:creationId xmlns:a16="http://schemas.microsoft.com/office/drawing/2014/main" id="{CF0D3388-3F7A-E311-5A54-368225B8AD8E}"/>
              </a:ext>
            </a:extLst>
          </p:cNvPr>
          <p:cNvSpPr/>
          <p:nvPr/>
        </p:nvSpPr>
        <p:spPr>
          <a:xfrm>
            <a:off x="5251450" y="2400300"/>
            <a:ext cx="3790950" cy="3556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A967D295-8176-93FE-48F0-B43FDABB040A}"/>
              </a:ext>
            </a:extLst>
          </p:cNvPr>
          <p:cNvCxnSpPr/>
          <p:nvPr/>
        </p:nvCxnSpPr>
        <p:spPr>
          <a:xfrm>
            <a:off x="5327650" y="2413000"/>
            <a:ext cx="3638550" cy="0"/>
          </a:xfrm>
          <a:prstGeom prst="line">
            <a:avLst/>
          </a:prstGeom>
          <a:ln w="38100">
            <a:solidFill>
              <a:srgbClr val="032954"/>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EA7CC6D-C755-F96C-D7F8-364FBB3EEE46}"/>
              </a:ext>
            </a:extLst>
          </p:cNvPr>
          <p:cNvSpPr txBox="1"/>
          <p:nvPr/>
        </p:nvSpPr>
        <p:spPr>
          <a:xfrm>
            <a:off x="5327650" y="2476500"/>
            <a:ext cx="3638550" cy="553998"/>
          </a:xfrm>
          <a:prstGeom prst="rect">
            <a:avLst/>
          </a:prstGeom>
          <a:noFill/>
        </p:spPr>
        <p:txBody>
          <a:bodyPr vert="horz" wrap="square" lIns="101600" tIns="101600" rIns="101600" bIns="101600" rtlCol="0" anchor="t">
            <a:noAutofit/>
          </a:bodyPr>
          <a:lstStyle/>
          <a:p>
            <a:pPr>
              <a:lnSpc>
                <a:spcPct val="105000"/>
              </a:lnSpc>
            </a:pPr>
            <a:r>
              <a:rPr lang="en-US" sz="2800">
                <a:solidFill>
                  <a:srgbClr val="032954"/>
                </a:solidFill>
                <a:latin typeface="Anova Bold" panose="020B0604020202020204" charset="0"/>
              </a:rPr>
              <a:t>2</a:t>
            </a:r>
          </a:p>
          <a:p>
            <a:pPr>
              <a:lnSpc>
                <a:spcPct val="105000"/>
              </a:lnSpc>
              <a:spcBef>
                <a:spcPts val="200"/>
              </a:spcBef>
            </a:pPr>
            <a:r>
              <a:rPr lang="en-US" sz="2100">
                <a:solidFill>
                  <a:srgbClr val="032954"/>
                </a:solidFill>
                <a:latin typeface="Anova Bold" panose="020B0604020202020204" charset="0"/>
              </a:rPr>
              <a:t>Run</a:t>
            </a:r>
          </a:p>
          <a:p>
            <a:pPr>
              <a:lnSpc>
                <a:spcPct val="105000"/>
              </a:lnSpc>
              <a:spcBef>
                <a:spcPts val="400"/>
              </a:spcBef>
            </a:pPr>
            <a:r>
              <a:rPr lang="en-US" sz="1700">
                <a:solidFill>
                  <a:srgbClr val="000000"/>
                </a:solidFill>
                <a:latin typeface="Anova Light" panose="020B0604020202020204" charset="0"/>
              </a:rPr>
              <a:t>Insert the SQL and run it in SingleStore. Then switch Run as to PROC SQL and run the same query through SAS Viya.</a:t>
            </a:r>
          </a:p>
          <a:p>
            <a:pPr>
              <a:lnSpc>
                <a:spcPct val="105000"/>
              </a:lnSpc>
              <a:spcBef>
                <a:spcPts val="800"/>
              </a:spcBef>
            </a:pPr>
            <a:r>
              <a:rPr lang="en-US" sz="1600">
                <a:solidFill>
                  <a:srgbClr val="7E889A"/>
                </a:solidFill>
                <a:latin typeface="Anova Light" panose="020B0604020202020204" charset="0"/>
              </a:rPr>
              <a:t>You see: result, SAS log and what was pushed down.</a:t>
            </a:r>
            <a:endParaRPr lang="en-US" sz="1600" dirty="0">
              <a:solidFill>
                <a:srgbClr val="7E889A"/>
              </a:solidFill>
              <a:latin typeface="Anova Light" panose="020B0604020202020204" charset="0"/>
            </a:endParaRPr>
          </a:p>
        </p:txBody>
      </p:sp>
      <p:sp>
        <p:nvSpPr>
          <p:cNvPr id="9" name="Rectangle: Rounded Corners 8">
            <a:extLst>
              <a:ext uri="{FF2B5EF4-FFF2-40B4-BE49-F238E27FC236}">
                <a16:creationId xmlns:a16="http://schemas.microsoft.com/office/drawing/2014/main" id="{A6419295-9607-4D7E-B909-2BBD67DCE739}"/>
              </a:ext>
            </a:extLst>
          </p:cNvPr>
          <p:cNvSpPr/>
          <p:nvPr/>
        </p:nvSpPr>
        <p:spPr>
          <a:xfrm>
            <a:off x="9245600" y="2400300"/>
            <a:ext cx="3790950" cy="3556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28A85020-B938-4B3D-79E8-9E075A57CA7E}"/>
              </a:ext>
            </a:extLst>
          </p:cNvPr>
          <p:cNvCxnSpPr/>
          <p:nvPr/>
        </p:nvCxnSpPr>
        <p:spPr>
          <a:xfrm>
            <a:off x="9321800" y="2413000"/>
            <a:ext cx="3638550" cy="0"/>
          </a:xfrm>
          <a:prstGeom prst="line">
            <a:avLst/>
          </a:prstGeom>
          <a:ln w="38100">
            <a:solidFill>
              <a:srgbClr val="4398F9"/>
            </a:solidFill>
            <a:tailEnd type="non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14EB77F-709E-9070-4515-9EFAC78CF4DC}"/>
              </a:ext>
            </a:extLst>
          </p:cNvPr>
          <p:cNvSpPr txBox="1"/>
          <p:nvPr/>
        </p:nvSpPr>
        <p:spPr>
          <a:xfrm>
            <a:off x="9321800" y="2476500"/>
            <a:ext cx="3638550" cy="553998"/>
          </a:xfrm>
          <a:prstGeom prst="rect">
            <a:avLst/>
          </a:prstGeom>
          <a:noFill/>
        </p:spPr>
        <p:txBody>
          <a:bodyPr vert="horz" wrap="square" lIns="101600" tIns="101600" rIns="101600" bIns="101600" rtlCol="0" anchor="t">
            <a:noAutofit/>
          </a:bodyPr>
          <a:lstStyle/>
          <a:p>
            <a:pPr>
              <a:lnSpc>
                <a:spcPct val="105000"/>
              </a:lnSpc>
            </a:pPr>
            <a:r>
              <a:rPr lang="en-US" sz="2800">
                <a:solidFill>
                  <a:srgbClr val="4398F9"/>
                </a:solidFill>
                <a:latin typeface="Anova Bold" panose="020B0604020202020204" charset="0"/>
              </a:rPr>
              <a:t>3</a:t>
            </a:r>
          </a:p>
          <a:p>
            <a:pPr>
              <a:lnSpc>
                <a:spcPct val="105000"/>
              </a:lnSpc>
              <a:spcBef>
                <a:spcPts val="200"/>
              </a:spcBef>
            </a:pPr>
            <a:r>
              <a:rPr lang="en-US" sz="2100">
                <a:solidFill>
                  <a:srgbClr val="032954"/>
                </a:solidFill>
                <a:latin typeface="Anova Bold" panose="020B0604020202020204" charset="0"/>
              </a:rPr>
              <a:t>Explore</a:t>
            </a:r>
          </a:p>
          <a:p>
            <a:pPr>
              <a:lnSpc>
                <a:spcPct val="105000"/>
              </a:lnSpc>
              <a:spcBef>
                <a:spcPts val="400"/>
              </a:spcBef>
            </a:pPr>
            <a:r>
              <a:rPr lang="en-US" sz="1700">
                <a:solidFill>
                  <a:srgbClr val="000000"/>
                </a:solidFill>
                <a:latin typeface="Anova Light" panose="020B0604020202020204" charset="0"/>
              </a:rPr>
              <a:t>Take the result into a notebook: a Python chart in the next cell, or a SAS cell reading the table through the S2 library.</a:t>
            </a:r>
          </a:p>
          <a:p>
            <a:pPr>
              <a:lnSpc>
                <a:spcPct val="105000"/>
              </a:lnSpc>
              <a:spcBef>
                <a:spcPts val="800"/>
              </a:spcBef>
            </a:pPr>
            <a:r>
              <a:rPr lang="en-US" sz="1600">
                <a:solidFill>
                  <a:srgbClr val="7E889A"/>
                </a:solidFill>
                <a:latin typeface="Anova Light" panose="020B0604020202020204" charset="0"/>
              </a:rPr>
              <a:t>You see: the data stays in the database.</a:t>
            </a:r>
            <a:endParaRPr lang="en-US" sz="1600" dirty="0">
              <a:solidFill>
                <a:srgbClr val="7E889A"/>
              </a:solidFill>
              <a:latin typeface="Anova Light" panose="020B0604020202020204" charset="0"/>
            </a:endParaRPr>
          </a:p>
        </p:txBody>
      </p:sp>
      <p:sp>
        <p:nvSpPr>
          <p:cNvPr id="12" name="Rectangle: Rounded Corners 11">
            <a:extLst>
              <a:ext uri="{FF2B5EF4-FFF2-40B4-BE49-F238E27FC236}">
                <a16:creationId xmlns:a16="http://schemas.microsoft.com/office/drawing/2014/main" id="{4357820F-7838-2DC2-32A4-32D351EFD4E0}"/>
              </a:ext>
            </a:extLst>
          </p:cNvPr>
          <p:cNvSpPr/>
          <p:nvPr/>
        </p:nvSpPr>
        <p:spPr>
          <a:xfrm>
            <a:off x="13239750" y="2400300"/>
            <a:ext cx="3790950" cy="3556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B716559B-A990-63BA-2642-678FE381AB9B}"/>
              </a:ext>
            </a:extLst>
          </p:cNvPr>
          <p:cNvCxnSpPr/>
          <p:nvPr/>
        </p:nvCxnSpPr>
        <p:spPr>
          <a:xfrm>
            <a:off x="13315950" y="2413000"/>
            <a:ext cx="3638550" cy="0"/>
          </a:xfrm>
          <a:prstGeom prst="line">
            <a:avLst/>
          </a:prstGeom>
          <a:ln w="38100">
            <a:solidFill>
              <a:srgbClr val="BAC0C9"/>
            </a:solidFill>
            <a:tailEnd type="non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EB3D82E-8025-378D-030B-24C9CA1A09EB}"/>
              </a:ext>
            </a:extLst>
          </p:cNvPr>
          <p:cNvSpPr txBox="1"/>
          <p:nvPr/>
        </p:nvSpPr>
        <p:spPr>
          <a:xfrm>
            <a:off x="13315950" y="2476500"/>
            <a:ext cx="3638550" cy="553998"/>
          </a:xfrm>
          <a:prstGeom prst="rect">
            <a:avLst/>
          </a:prstGeom>
          <a:noFill/>
        </p:spPr>
        <p:txBody>
          <a:bodyPr vert="horz" wrap="square" lIns="101600" tIns="101600" rIns="101600" bIns="101600" rtlCol="0" anchor="t">
            <a:noAutofit/>
          </a:bodyPr>
          <a:lstStyle/>
          <a:p>
            <a:pPr>
              <a:lnSpc>
                <a:spcPct val="105000"/>
              </a:lnSpc>
            </a:pPr>
            <a:r>
              <a:rPr lang="en-US" sz="2800">
                <a:solidFill>
                  <a:srgbClr val="0766D1"/>
                </a:solidFill>
                <a:latin typeface="Anova Bold" panose="020B0604020202020204" charset="0"/>
              </a:rPr>
              <a:t>4</a:t>
            </a:r>
          </a:p>
          <a:p>
            <a:pPr>
              <a:lnSpc>
                <a:spcPct val="105000"/>
              </a:lnSpc>
              <a:spcBef>
                <a:spcPts val="200"/>
              </a:spcBef>
            </a:pPr>
            <a:r>
              <a:rPr lang="en-US" sz="2100">
                <a:solidFill>
                  <a:srgbClr val="032954"/>
                </a:solidFill>
                <a:latin typeface="Anova Bold" panose="020B0604020202020204" charset="0"/>
              </a:rPr>
              <a:t>Operate</a:t>
            </a:r>
          </a:p>
          <a:p>
            <a:pPr>
              <a:lnSpc>
                <a:spcPct val="105000"/>
              </a:lnSpc>
              <a:spcBef>
                <a:spcPts val="400"/>
              </a:spcBef>
            </a:pPr>
            <a:r>
              <a:rPr lang="en-US" sz="1700">
                <a:solidFill>
                  <a:srgbClr val="000000"/>
                </a:solidFill>
                <a:latin typeface="Anova Light" panose="020B0604020202020204" charset="0"/>
              </a:rPr>
              <a:t>Open Pipelines and Cluster: the load that fed the table, the batches behind it, and what the query cost the nodes.</a:t>
            </a:r>
          </a:p>
          <a:p>
            <a:pPr>
              <a:lnSpc>
                <a:spcPct val="105000"/>
              </a:lnSpc>
              <a:spcBef>
                <a:spcPts val="800"/>
              </a:spcBef>
            </a:pPr>
            <a:r>
              <a:rPr lang="en-US" sz="1600">
                <a:solidFill>
                  <a:srgbClr val="7E889A"/>
                </a:solidFill>
                <a:latin typeface="Anova Light" panose="020B0604020202020204" charset="0"/>
              </a:rPr>
              <a:t>You see: the whole platform from one rail.</a:t>
            </a:r>
            <a:endParaRPr lang="en-US" sz="1600" dirty="0">
              <a:solidFill>
                <a:srgbClr val="7E889A"/>
              </a:solidFill>
              <a:latin typeface="Anova Light" panose="020B0604020202020204" charset="0"/>
            </a:endParaRPr>
          </a:p>
        </p:txBody>
      </p:sp>
      <p:sp>
        <p:nvSpPr>
          <p:cNvPr id="15" name="Rectangle: Rounded Corners 14">
            <a:extLst>
              <a:ext uri="{FF2B5EF4-FFF2-40B4-BE49-F238E27FC236}">
                <a16:creationId xmlns:a16="http://schemas.microsoft.com/office/drawing/2014/main" id="{63489EC3-CCC7-6E00-CBBA-F93D7E26EAEB}"/>
              </a:ext>
            </a:extLst>
          </p:cNvPr>
          <p:cNvSpPr/>
          <p:nvPr/>
        </p:nvSpPr>
        <p:spPr>
          <a:xfrm>
            <a:off x="1257300" y="6210300"/>
            <a:ext cx="15773400" cy="889000"/>
          </a:xfrm>
          <a:prstGeom prst="roundRect">
            <a:avLst>
              <a:gd name="adj" fmla="val 4000"/>
            </a:avLst>
          </a:prstGeom>
          <a:solidFill>
            <a:srgbClr val="EEF4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8204519-F222-49DE-60F4-0B0F4D8C3CC6}"/>
              </a:ext>
            </a:extLst>
          </p:cNvPr>
          <p:cNvSpPr txBox="1"/>
          <p:nvPr/>
        </p:nvSpPr>
        <p:spPr>
          <a:xfrm>
            <a:off x="1358900" y="6210300"/>
            <a:ext cx="15570200" cy="553998"/>
          </a:xfrm>
          <a:prstGeom prst="rect">
            <a:avLst/>
          </a:prstGeom>
          <a:noFill/>
        </p:spPr>
        <p:txBody>
          <a:bodyPr vert="horz" wrap="square" lIns="127000" tIns="127000" rIns="127000" bIns="127000" rtlCol="0" anchor="ctr">
            <a:noAutofit/>
          </a:bodyPr>
          <a:lstStyle/>
          <a:p>
            <a:pPr>
              <a:lnSpc>
                <a:spcPct val="105000"/>
              </a:lnSpc>
              <a:spcBef>
                <a:spcPts val="200"/>
              </a:spcBef>
            </a:pPr>
            <a:r>
              <a:rPr lang="en-US" sz="1700">
                <a:solidFill>
                  <a:srgbClr val="032954"/>
                </a:solidFill>
                <a:latin typeface="Anova Bold" panose="020B0604020202020204" charset="0"/>
              </a:rPr>
              <a:t>Same four steps, whatever the data.</a:t>
            </a:r>
            <a:r>
              <a:rPr lang="en-US" sz="1700">
                <a:solidFill>
                  <a:srgbClr val="032954"/>
                </a:solidFill>
                <a:latin typeface="Anova Light" panose="020B0604020202020204" charset="0"/>
              </a:rPr>
              <a:t> The dataset and the story are chosen closer to the event; the path from ask to operate is what the Studio is for.</a:t>
            </a:r>
            <a:endParaRPr lang="en-US" sz="1700" dirty="0">
              <a:solidFill>
                <a:srgbClr val="032954"/>
              </a:solidFill>
              <a:latin typeface="Anova Light" panose="020B0604020202020204" charset="0"/>
            </a:endParaRPr>
          </a:p>
        </p:txBody>
      </p:sp>
    </p:spTree>
    <p:extLst>
      <p:ext uri="{BB962C8B-B14F-4D97-AF65-F5344CB8AC3E}">
        <p14:creationId xmlns:p14="http://schemas.microsoft.com/office/powerpoint/2010/main" val="2140984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8943B-4F24-1E5E-A737-F59118748EB0}"/>
              </a:ext>
            </a:extLst>
          </p:cNvPr>
          <p:cNvSpPr>
            <a:spLocks noGrp="1"/>
          </p:cNvSpPr>
          <p:nvPr>
            <p:ph type="title"/>
          </p:nvPr>
        </p:nvSpPr>
        <p:spPr>
          <a:xfrm>
            <a:off x="1257300" y="821103"/>
            <a:ext cx="15773400" cy="553998"/>
          </a:xfrm>
        </p:spPr>
        <p:txBody>
          <a:bodyPr/>
          <a:lstStyle/>
          <a:p>
            <a:r>
              <a:rPr lang="en-US" sz="4000">
                <a:solidFill>
                  <a:srgbClr val="032954"/>
                </a:solidFill>
              </a:rPr>
              <a:t>Three things to remember</a:t>
            </a:r>
          </a:p>
        </p:txBody>
      </p:sp>
      <p:sp>
        <p:nvSpPr>
          <p:cNvPr id="3" name="Rectangle: Rounded Corners 2">
            <a:extLst>
              <a:ext uri="{FF2B5EF4-FFF2-40B4-BE49-F238E27FC236}">
                <a16:creationId xmlns:a16="http://schemas.microsoft.com/office/drawing/2014/main" id="{AF00D033-A364-C6C4-C030-F66704A71AEE}"/>
              </a:ext>
            </a:extLst>
          </p:cNvPr>
          <p:cNvSpPr/>
          <p:nvPr/>
        </p:nvSpPr>
        <p:spPr>
          <a:xfrm>
            <a:off x="1257300" y="2400300"/>
            <a:ext cx="5122333" cy="3302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A6DE9413-3536-7833-4D8A-E2127C8E6558}"/>
              </a:ext>
            </a:extLst>
          </p:cNvPr>
          <p:cNvCxnSpPr/>
          <p:nvPr/>
        </p:nvCxnSpPr>
        <p:spPr>
          <a:xfrm>
            <a:off x="1333500" y="2413000"/>
            <a:ext cx="4969933" cy="0"/>
          </a:xfrm>
          <a:prstGeom prst="line">
            <a:avLst/>
          </a:prstGeom>
          <a:ln w="38100">
            <a:solidFill>
              <a:srgbClr val="0766D1"/>
            </a:solidFill>
            <a:tailEnd type="non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23612EE-30AE-873F-4439-764CCD77A12A}"/>
              </a:ext>
            </a:extLst>
          </p:cNvPr>
          <p:cNvSpPr txBox="1"/>
          <p:nvPr/>
        </p:nvSpPr>
        <p:spPr>
          <a:xfrm>
            <a:off x="1333500" y="2476500"/>
            <a:ext cx="4969933" cy="553998"/>
          </a:xfrm>
          <a:prstGeom prst="rect">
            <a:avLst/>
          </a:prstGeom>
          <a:noFill/>
        </p:spPr>
        <p:txBody>
          <a:bodyPr vert="horz" wrap="square" lIns="101600" tIns="101600" rIns="101600" bIns="101600" rtlCol="0" anchor="t">
            <a:noAutofit/>
          </a:bodyPr>
          <a:lstStyle/>
          <a:p>
            <a:pPr>
              <a:lnSpc>
                <a:spcPct val="105000"/>
              </a:lnSpc>
            </a:pPr>
            <a:r>
              <a:rPr lang="en-US" sz="2800">
                <a:solidFill>
                  <a:srgbClr val="0766D1"/>
                </a:solidFill>
                <a:latin typeface="Anova Bold" panose="020B0604020202020204" charset="0"/>
              </a:rPr>
              <a:t>1</a:t>
            </a:r>
          </a:p>
          <a:p>
            <a:pPr>
              <a:lnSpc>
                <a:spcPct val="105000"/>
              </a:lnSpc>
              <a:spcBef>
                <a:spcPts val="200"/>
              </a:spcBef>
            </a:pPr>
            <a:r>
              <a:rPr lang="en-US" sz="2300">
                <a:solidFill>
                  <a:srgbClr val="032954"/>
                </a:solidFill>
                <a:latin typeface="Anova Bold" panose="020B0604020202020204" charset="0"/>
              </a:rPr>
              <a:t>AI belongs where you work</a:t>
            </a:r>
          </a:p>
          <a:p>
            <a:pPr>
              <a:lnSpc>
                <a:spcPct val="105000"/>
              </a:lnSpc>
              <a:spcBef>
                <a:spcPts val="400"/>
              </a:spcBef>
            </a:pPr>
            <a:r>
              <a:rPr lang="en-US" sz="1900">
                <a:solidFill>
                  <a:srgbClr val="000000"/>
                </a:solidFill>
                <a:latin typeface="Anova Light" panose="020B0604020202020204" charset="0"/>
              </a:rPr>
              <a:t>The Model Context Protocol brings an assistant into your SQL editor and notebook, with read-only access to SAS Viya and SAS SpeedyStore. It helps without taking over.</a:t>
            </a:r>
            <a:endParaRPr lang="en-US" sz="1900" dirty="0">
              <a:solidFill>
                <a:srgbClr val="000000"/>
              </a:solidFill>
              <a:latin typeface="Anova Light" panose="020B0604020202020204" charset="0"/>
            </a:endParaRPr>
          </a:p>
        </p:txBody>
      </p:sp>
      <p:sp>
        <p:nvSpPr>
          <p:cNvPr id="6" name="Rectangle: Rounded Corners 5">
            <a:extLst>
              <a:ext uri="{FF2B5EF4-FFF2-40B4-BE49-F238E27FC236}">
                <a16:creationId xmlns:a16="http://schemas.microsoft.com/office/drawing/2014/main" id="{BD7A5521-6370-5DA3-93BB-F973C507172E}"/>
              </a:ext>
            </a:extLst>
          </p:cNvPr>
          <p:cNvSpPr/>
          <p:nvPr/>
        </p:nvSpPr>
        <p:spPr>
          <a:xfrm>
            <a:off x="6582833" y="2400300"/>
            <a:ext cx="5122333" cy="3302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05CD2A77-D1D9-F9FF-EBAC-207D704A9E74}"/>
              </a:ext>
            </a:extLst>
          </p:cNvPr>
          <p:cNvCxnSpPr/>
          <p:nvPr/>
        </p:nvCxnSpPr>
        <p:spPr>
          <a:xfrm>
            <a:off x="6659033" y="2413000"/>
            <a:ext cx="4969934" cy="0"/>
          </a:xfrm>
          <a:prstGeom prst="line">
            <a:avLst/>
          </a:prstGeom>
          <a:ln w="38100">
            <a:solidFill>
              <a:srgbClr val="032954"/>
            </a:solidFill>
            <a:tailEnd type="non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D030679F-90AA-3A44-3C5E-ED4DC955B535}"/>
              </a:ext>
            </a:extLst>
          </p:cNvPr>
          <p:cNvSpPr txBox="1"/>
          <p:nvPr/>
        </p:nvSpPr>
        <p:spPr>
          <a:xfrm>
            <a:off x="6659033" y="2476500"/>
            <a:ext cx="4969933" cy="553998"/>
          </a:xfrm>
          <a:prstGeom prst="rect">
            <a:avLst/>
          </a:prstGeom>
          <a:noFill/>
        </p:spPr>
        <p:txBody>
          <a:bodyPr vert="horz" wrap="square" lIns="101600" tIns="101600" rIns="101600" bIns="101600" rtlCol="0" anchor="t">
            <a:noAutofit/>
          </a:bodyPr>
          <a:lstStyle/>
          <a:p>
            <a:pPr>
              <a:lnSpc>
                <a:spcPct val="105000"/>
              </a:lnSpc>
            </a:pPr>
            <a:r>
              <a:rPr lang="en-US" sz="2800">
                <a:solidFill>
                  <a:srgbClr val="032954"/>
                </a:solidFill>
                <a:latin typeface="Anova Bold" panose="020B0604020202020204" charset="0"/>
              </a:rPr>
              <a:t>2</a:t>
            </a:r>
          </a:p>
          <a:p>
            <a:pPr>
              <a:lnSpc>
                <a:spcPct val="105000"/>
              </a:lnSpc>
              <a:spcBef>
                <a:spcPts val="200"/>
              </a:spcBef>
            </a:pPr>
            <a:r>
              <a:rPr lang="en-US" sz="2300">
                <a:solidFill>
                  <a:srgbClr val="032954"/>
                </a:solidFill>
                <a:latin typeface="Anova Bold" panose="020B0604020202020204" charset="0"/>
              </a:rPr>
              <a:t>Everything for SAS SpeedyStore in one place</a:t>
            </a:r>
          </a:p>
          <a:p>
            <a:pPr>
              <a:lnSpc>
                <a:spcPct val="105000"/>
              </a:lnSpc>
              <a:spcBef>
                <a:spcPts val="400"/>
              </a:spcBef>
            </a:pPr>
            <a:r>
              <a:rPr lang="en-US" sz="1900">
                <a:solidFill>
                  <a:srgbClr val="000000"/>
                </a:solidFill>
                <a:latin typeface="Anova Light" panose="020B0604020202020204" charset="0"/>
              </a:rPr>
              <a:t>Write and run SQL, work in notebooks, explore schemas, load data with pipelines and watch the cluster, with SAS Viya and CAS tables reachable from the same workspace.</a:t>
            </a:r>
            <a:endParaRPr lang="en-US" sz="1900" dirty="0">
              <a:solidFill>
                <a:srgbClr val="000000"/>
              </a:solidFill>
              <a:latin typeface="Anova Light" panose="020B0604020202020204" charset="0"/>
            </a:endParaRPr>
          </a:p>
        </p:txBody>
      </p:sp>
      <p:sp>
        <p:nvSpPr>
          <p:cNvPr id="9" name="Rectangle: Rounded Corners 8">
            <a:extLst>
              <a:ext uri="{FF2B5EF4-FFF2-40B4-BE49-F238E27FC236}">
                <a16:creationId xmlns:a16="http://schemas.microsoft.com/office/drawing/2014/main" id="{98C9340A-871E-34B9-FD9E-6A42B0683344}"/>
              </a:ext>
            </a:extLst>
          </p:cNvPr>
          <p:cNvSpPr/>
          <p:nvPr/>
        </p:nvSpPr>
        <p:spPr>
          <a:xfrm>
            <a:off x="11908367" y="2400300"/>
            <a:ext cx="5122333" cy="3302000"/>
          </a:xfrm>
          <a:prstGeom prst="roundRect">
            <a:avLst>
              <a:gd name="adj" fmla="val 4000"/>
            </a:avLst>
          </a:prstGeom>
          <a:solidFill>
            <a:srgbClr val="FFFFFF"/>
          </a:solidFill>
          <a:ln w="9525">
            <a:solidFill>
              <a:srgbClr val="BAC0C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14186728-51F2-7CF7-E542-F846DE1E903E}"/>
              </a:ext>
            </a:extLst>
          </p:cNvPr>
          <p:cNvCxnSpPr/>
          <p:nvPr/>
        </p:nvCxnSpPr>
        <p:spPr>
          <a:xfrm>
            <a:off x="11984567" y="2413000"/>
            <a:ext cx="4969933" cy="0"/>
          </a:xfrm>
          <a:prstGeom prst="line">
            <a:avLst/>
          </a:prstGeom>
          <a:ln w="38100">
            <a:solidFill>
              <a:srgbClr val="4398F9"/>
            </a:solidFill>
            <a:tailEnd type="non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6B65B0F-3362-5927-75A8-72650C448F11}"/>
              </a:ext>
            </a:extLst>
          </p:cNvPr>
          <p:cNvSpPr txBox="1"/>
          <p:nvPr/>
        </p:nvSpPr>
        <p:spPr>
          <a:xfrm>
            <a:off x="11984567" y="2476500"/>
            <a:ext cx="4969933" cy="553998"/>
          </a:xfrm>
          <a:prstGeom prst="rect">
            <a:avLst/>
          </a:prstGeom>
          <a:noFill/>
        </p:spPr>
        <p:txBody>
          <a:bodyPr vert="horz" wrap="square" lIns="101600" tIns="101600" rIns="101600" bIns="101600" rtlCol="0" anchor="t">
            <a:noAutofit/>
          </a:bodyPr>
          <a:lstStyle/>
          <a:p>
            <a:pPr>
              <a:lnSpc>
                <a:spcPct val="105000"/>
              </a:lnSpc>
            </a:pPr>
            <a:r>
              <a:rPr lang="en-US" sz="2800">
                <a:solidFill>
                  <a:srgbClr val="4398F9"/>
                </a:solidFill>
                <a:latin typeface="Anova Bold" panose="020B0604020202020204" charset="0"/>
              </a:rPr>
              <a:t>3</a:t>
            </a:r>
          </a:p>
          <a:p>
            <a:pPr>
              <a:lnSpc>
                <a:spcPct val="105000"/>
              </a:lnSpc>
              <a:spcBef>
                <a:spcPts val="200"/>
              </a:spcBef>
            </a:pPr>
            <a:r>
              <a:rPr lang="en-US" sz="2300">
                <a:solidFill>
                  <a:srgbClr val="032954"/>
                </a:solidFill>
                <a:latin typeface="Anova Bold" panose="020B0604020202020204" charset="0"/>
              </a:rPr>
              <a:t>You can start right away</a:t>
            </a:r>
          </a:p>
          <a:p>
            <a:pPr>
              <a:lnSpc>
                <a:spcPct val="105000"/>
              </a:lnSpc>
              <a:spcBef>
                <a:spcPts val="400"/>
              </a:spcBef>
            </a:pPr>
            <a:r>
              <a:rPr lang="en-US" sz="1900">
                <a:solidFill>
                  <a:srgbClr val="000000"/>
                </a:solidFill>
                <a:latin typeface="Anova Light" panose="020B0604020202020204" charset="0"/>
              </a:rPr>
              <a:t>The server behind the Studio is open source, works with self-managed and cloud SingleStore, and runs from Claude Code, Claude Desktop, VS Code or as a desktop app.</a:t>
            </a:r>
            <a:endParaRPr lang="en-US" sz="1900" dirty="0">
              <a:solidFill>
                <a:srgbClr val="000000"/>
              </a:solidFill>
              <a:latin typeface="Anova Light" panose="020B0604020202020204" charset="0"/>
            </a:endParaRPr>
          </a:p>
        </p:txBody>
      </p:sp>
    </p:spTree>
    <p:extLst>
      <p:ext uri="{BB962C8B-B14F-4D97-AF65-F5344CB8AC3E}">
        <p14:creationId xmlns:p14="http://schemas.microsoft.com/office/powerpoint/2010/main" val="3607437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18FAB-3D5A-8624-F5B6-EFFFFAA66827}"/>
              </a:ext>
            </a:extLst>
          </p:cNvPr>
          <p:cNvSpPr>
            <a:spLocks noGrp="1"/>
          </p:cNvSpPr>
          <p:nvPr>
            <p:ph type="title"/>
          </p:nvPr>
        </p:nvSpPr>
        <p:spPr>
          <a:xfrm>
            <a:off x="1252432" y="4589502"/>
            <a:ext cx="13063133" cy="1107996"/>
          </a:xfrm>
        </p:spPr>
        <p:txBody>
          <a:bodyPr/>
          <a:lstStyle/>
          <a:p>
            <a:r>
              <a:rPr lang="en-US" sz="6000"/>
              <a:t>Talk to your data platform</a:t>
            </a:r>
          </a:p>
        </p:txBody>
      </p:sp>
      <p:sp>
        <p:nvSpPr>
          <p:cNvPr id="3" name="Text Placeholder 2">
            <a:extLst>
              <a:ext uri="{FF2B5EF4-FFF2-40B4-BE49-F238E27FC236}">
                <a16:creationId xmlns:a16="http://schemas.microsoft.com/office/drawing/2014/main" id="{2A22DCD8-A982-9EB4-DE48-B81CACB18ABB}"/>
              </a:ext>
            </a:extLst>
          </p:cNvPr>
          <p:cNvSpPr>
            <a:spLocks noGrp="1"/>
          </p:cNvSpPr>
          <p:nvPr>
            <p:ph type="body" sz="quarter" idx="11"/>
          </p:nvPr>
        </p:nvSpPr>
        <p:spPr/>
        <p:txBody>
          <a:bodyPr/>
          <a:lstStyle/>
          <a:p>
            <a:r>
              <a:rPr lang="en-US"/>
              <a:t>github.com/jonasliesas/singlestore-mcp-server</a:t>
            </a:r>
          </a:p>
        </p:txBody>
      </p:sp>
    </p:spTree>
    <p:extLst>
      <p:ext uri="{BB962C8B-B14F-4D97-AF65-F5344CB8AC3E}">
        <p14:creationId xmlns:p14="http://schemas.microsoft.com/office/powerpoint/2010/main" val="1672001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1_2020-TEMPLATE-EXTERNAL" val="pdtUH84H"/>
  <p:tag name="ARTICULATE_DESIGN_ID_SAS-EXTERNAL-16X9-2023" val="CJxW6PTk"/>
  <p:tag name="ARTICULATE_DESIGN_ID_1_NDA" val="5KPCLKMf"/>
  <p:tag name="ARTICULATE_DESIGN_ID_1_SAS-EXTERNAL-16X9-2023" val="OvZPFYIY"/>
  <p:tag name="ARTICULATE_DESIGN_ID_SAS - EXTERNAL - 16X9 - 2023" val="iju6vBOG"/>
  <p:tag name="ARTICULATE_DESIGN_ID_SAS - EXTERNAL" val="IZ9bNYet"/>
  <p:tag name="ARTICULATE_DESIGN_ID_SAS - EXTERNAL - NDA" val="RR4fBfJW"/>
  <p:tag name="ARTICULATE_SLIDE_THUMBNAIL_REFRESH" val="1"/>
  <p:tag name="ARTICULATE_DESIGN_ID_CUSTOM DESIGN" val="WASRYxhz"/>
  <p:tag name="ARTICULATE_SLIDE_COUNT" val="12"/>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AS - EXTERNAL">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smtClean="0">
            <a:solidFill>
              <a:schemeClr val="tx1"/>
            </a:solidFill>
          </a:defRPr>
        </a:defPPr>
      </a:lstStyle>
    </a:txDef>
  </a:objectDefaults>
  <a:extraClrSchemeLst/>
  <a:extLst>
    <a:ext uri="{05A4C25C-085E-4340-85A3-A5531E510DB2}">
      <thm15:themeFamily xmlns:thm15="http://schemas.microsoft.com/office/thememl/2012/main" name="EXTERNAL_Template.potx" id="{CFA25634-811F-4F16-8A4B-C586189B209A}" vid="{2CB0AE9F-0DE9-4D05-9312-E5954EA5056B}"/>
    </a:ext>
  </a:extLst>
</a:theme>
</file>

<file path=ppt/theme/theme2.xml><?xml version="1.0" encoding="utf-8"?>
<a:theme xmlns:a="http://schemas.openxmlformats.org/drawingml/2006/main" name="SAS - EXTERNAL - NDA">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smtClean="0">
            <a:solidFill>
              <a:schemeClr val="tx1"/>
            </a:solidFill>
          </a:defRPr>
        </a:defPPr>
      </a:lstStyle>
    </a:txDef>
  </a:objectDefaults>
  <a:extraClrSchemeLst/>
  <a:extLst>
    <a:ext uri="{05A4C25C-085E-4340-85A3-A5531E510DB2}">
      <thm15:themeFamily xmlns:thm15="http://schemas.microsoft.com/office/thememl/2012/main" name="EXTERNAL_Template.potx" id="{CFA25634-811F-4F16-8A4B-C586189B209A}" vid="{D086B00A-9DDF-4BDB-9663-664C12842A9B}"/>
    </a:ext>
  </a:extLst>
</a:theme>
</file>

<file path=ppt/theme/theme3.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52B48C136D414EB12EC6609A2B4A69" ma:contentTypeVersion="8" ma:contentTypeDescription="Create a new document." ma:contentTypeScope="" ma:versionID="2e7a1e4abb333ba512cf18d28f7f8ecc">
  <xsd:schema xmlns:xsd="http://www.w3.org/2001/XMLSchema" xmlns:xs="http://www.w3.org/2001/XMLSchema" xmlns:p="http://schemas.microsoft.com/office/2006/metadata/properties" xmlns:ns1="http://schemas.microsoft.com/sharepoint/v3" xmlns:ns2="d21cdafc-5a3a-425e-9674-4fb06b514c0e" xmlns:ns3="6e647c50-2143-4825-9865-d236e7692e65" targetNamespace="http://schemas.microsoft.com/office/2006/metadata/properties" ma:root="true" ma:fieldsID="1cb95563b7c991e6356f6b6a60898c3b" ns1:_="" ns2:_="" ns3:_="">
    <xsd:import namespace="http://schemas.microsoft.com/sharepoint/v3"/>
    <xsd:import namespace="d21cdafc-5a3a-425e-9674-4fb06b514c0e"/>
    <xsd:import namespace="6e647c50-2143-4825-9865-d236e7692e6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21cdafc-5a3a-425e-9674-4fb06b514c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e647c50-2143-4825-9865-d236e7692e6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2BE8416-DA23-4920-B2B6-CC929819514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21cdafc-5a3a-425e-9674-4fb06b514c0e"/>
    <ds:schemaRef ds:uri="6e647c50-2143-4825-9865-d236e7692e6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2663518-7548-4643-8219-608BFF0DFA0C}">
  <ds:schemaRefs>
    <ds:schemaRef ds:uri="http://purl.org/dc/terms/"/>
    <ds:schemaRef ds:uri="http://schemas.openxmlformats.org/package/2006/metadata/core-properties"/>
    <ds:schemaRef ds:uri="d21cdafc-5a3a-425e-9674-4fb06b514c0e"/>
    <ds:schemaRef ds:uri="http://schemas.microsoft.com/office/2006/documentManagement/types"/>
    <ds:schemaRef ds:uri="http://schemas.microsoft.com/office/infopath/2007/PartnerControls"/>
    <ds:schemaRef ds:uri="http://purl.org/dc/elements/1.1/"/>
    <ds:schemaRef ds:uri="http://schemas.microsoft.com/office/2006/metadata/properties"/>
    <ds:schemaRef ds:uri="6e647c50-2143-4825-9865-d236e7692e65"/>
    <ds:schemaRef ds:uri="http://www.w3.org/XML/1998/namespace"/>
    <ds:schemaRef ds:uri="http://purl.org/dc/dcmitype/"/>
    <ds:schemaRef ds:uri="http://schemas.microsoft.com/sharepoint/v3"/>
  </ds:schemaRefs>
</ds:datastoreItem>
</file>

<file path=customXml/itemProps3.xml><?xml version="1.0" encoding="utf-8"?>
<ds:datastoreItem xmlns:ds="http://schemas.openxmlformats.org/officeDocument/2006/customXml" ds:itemID="{E3E925E4-5239-4639-A029-07B3CFD6A3F1}">
  <ds:schemaRefs>
    <ds:schemaRef ds:uri="http://schemas.microsoft.com/sharepoint/v3/contenttype/forms"/>
  </ds:schemaRefs>
</ds:datastoreItem>
</file>

<file path=docMetadata/LabelInfo.xml><?xml version="1.0" encoding="utf-8"?>
<clbl:labelList xmlns:clbl="http://schemas.microsoft.com/office/2020/mipLabelMetadata">
  <clbl:label id="{e1c8c91a-c872-4000-818b-3383c70fafcf}" enabled="1" method="Privileged" siteId="{b1c14d5c-3625-45b3-a430-9552373a0c2f}" removed="0"/>
</clbl:labelList>
</file>

<file path=docProps/app.xml><?xml version="1.0" encoding="utf-8"?>
<Properties xmlns="http://schemas.openxmlformats.org/officeDocument/2006/extended-properties" xmlns:vt="http://schemas.openxmlformats.org/officeDocument/2006/docPropsVTypes">
  <Template>EXTERNAL_Template</Template>
  <TotalTime>0</TotalTime>
  <Words>2489</Words>
  <Application>Microsoft Office PowerPoint</Application>
  <PresentationFormat>Custom</PresentationFormat>
  <Paragraphs>213</Paragraphs>
  <Slides>13</Slides>
  <Notes>13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Anova Bold</vt:lpstr>
      <vt:lpstr>Consolas</vt:lpstr>
      <vt:lpstr>Calibri</vt:lpstr>
      <vt:lpstr>Anova Light</vt:lpstr>
      <vt:lpstr>SAS - EXTERNAL</vt:lpstr>
      <vt:lpstr>SAS - EXTERNAL - NDA</vt:lpstr>
      <vt:lpstr>SAS SpeedyStore Studio</vt:lpstr>
      <vt:lpstr>Five windows for one job</vt:lpstr>
      <vt:lpstr>One workspace, with the assistant inside it</vt:lpstr>
      <vt:lpstr>A SQL editor that knows your schema and your SAS</vt:lpstr>
      <vt:lpstr>A notebook where the data stays in the database</vt:lpstr>
      <vt:lpstr>Claude helps where you work, and you stay in control</vt:lpstr>
      <vt:lpstr>Operate the cluster from the same rail</vt:lpstr>
      <vt:lpstr>SAS is a source, a language and a file system in the Studio</vt:lpstr>
      <vt:lpstr>What changes for the people who use it</vt:lpstr>
      <vt:lpstr>Inside Claude, or on its own</vt:lpstr>
      <vt:lpstr>Live demo: from a question to a result, without leaving the Studio</vt:lpstr>
      <vt:lpstr>Three things to remember</vt:lpstr>
      <vt:lpstr>Talk to your data platform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Jonas Lie-Nielsen</dc:creator>
  <cp:lastModifiedBy>Jonas Lie-Nielsen</cp:lastModifiedBy>
  <cp:revision>2</cp:revision>
  <dcterms:created xsi:type="dcterms:W3CDTF">2026-08-27T13:43:59Z</dcterms:created>
  <dcterms:modified xsi:type="dcterms:W3CDTF">2026-10-23T23:32:47Z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451006F2-8E20-4D4E-B05C-4B5D02827FD6</vt:lpwstr>
  </property>
  <property fmtid="{D5CDD505-2E9C-101B-9397-08002B2CF9AE}" pid="3" name="ArticulatePath">
    <vt:lpwstr>2020-Template-External</vt:lpwstr>
  </property>
  <property fmtid="{D5CDD505-2E9C-101B-9397-08002B2CF9AE}" pid="4" name="ContentTypeId">
    <vt:lpwstr>0x0101008252B48C136D414EB12EC6609A2B4A69</vt:lpwstr>
  </property>
</Properties>
</file>